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E4F84-253B-4008-A611-16DB8FC4E78C}" type="datetimeFigureOut">
              <a:rPr lang="en-GB" smtClean="0"/>
              <a:t>25/07/2016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56F410-0EBF-4095-A11B-EE7706260B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1436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E4F84-253B-4008-A611-16DB8FC4E78C}" type="datetimeFigureOut">
              <a:rPr lang="en-GB" smtClean="0"/>
              <a:t>25/07/2016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6F410-0EBF-4095-A11B-EE7706260B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408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502783"/>
          </a:xfrm>
        </p:spPr>
        <p:txBody>
          <a:bodyPr/>
          <a:lstStyle/>
          <a:p>
            <a:r>
              <a:rPr lang="en-GB" sz="2800" dirty="0">
                <a:solidFill>
                  <a:srgbClr val="4C4C4C"/>
                </a:solidFill>
                <a:latin typeface="GE Inspira"/>
                <a:cs typeface="GE Inspira"/>
              </a:rPr>
              <a:t>R166 – Included in scope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422031" y="774002"/>
          <a:ext cx="8189406" cy="548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9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681">
                <a:tc>
                  <a:txBody>
                    <a:bodyPr/>
                    <a:lstStyle/>
                    <a:p>
                      <a:pPr rtl="0"/>
                      <a:r>
                        <a:rPr lang="en-GB" sz="1200" b="0" i="0" u="none" strike="noStrike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A - Composites Development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</a:rPr>
                        <a:t>Background development for</a:t>
                      </a:r>
                      <a:r>
                        <a:rPr lang="en-GB" sz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</a:rPr>
                        <a:t> new &amp; improved materials as well as future technology for tensile armour and carcass optimisation / replacement.  The background development work will be at the IR&amp;D level and will be coordinated by the project technical lead.</a:t>
                      </a:r>
                      <a:endParaRPr lang="en-GB" sz="1200" dirty="0">
                        <a:solidFill>
                          <a:srgbClr val="4C4C4C"/>
                        </a:solidFill>
                        <a:latin typeface="GE Inspira" panose="020F0603030400020203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681">
                <a:tc>
                  <a:txBody>
                    <a:bodyPr/>
                    <a:lstStyle/>
                    <a:p>
                      <a:pPr rtl="0"/>
                      <a:r>
                        <a:rPr lang="en-GB" sz="1200" b="0" i="0" u="none" strike="noStrike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B – Composite Pressure Armour Development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CPA development and qualification.  Once the development is complete, the bonded pressure armour will be qualified using a combination of design, analysis of performance, material and subcomponent testing, and finally full scale prototype testing and field trials (Libra to be launch customer – see below).   This element of the program will ensure compliance with API &amp; DNV recommended practice as well as all internal </a:t>
                      </a:r>
                      <a:r>
                        <a:rPr lang="en-US" sz="1200" kern="1200" baseline="0" dirty="0" err="1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Wellstream</a:t>
                      </a:r>
                      <a:r>
                        <a:rPr lang="en-US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 design and manufacturing guidelines.  The CPA technology will also be added to the </a:t>
                      </a:r>
                      <a:r>
                        <a:rPr lang="en-US" sz="1200" kern="1200" baseline="0" dirty="0" err="1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Wellstream</a:t>
                      </a:r>
                      <a:r>
                        <a:rPr lang="en-US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 product line through this element of the program (NPI)</a:t>
                      </a:r>
                      <a:endParaRPr lang="en-GB" sz="1200" kern="1200" baseline="0" dirty="0">
                        <a:solidFill>
                          <a:srgbClr val="4C4C4C"/>
                        </a:solidFill>
                        <a:latin typeface="GE Inspira" panose="020F060303040002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681">
                <a:tc>
                  <a:txBody>
                    <a:bodyPr/>
                    <a:lstStyle/>
                    <a:p>
                      <a:pPr rtl="0"/>
                      <a:r>
                        <a:rPr lang="en-GB" sz="1200" b="0" i="0" u="none" strike="noStrike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C – Module 1_CAPEX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GB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The first module for the compact modular manufacturing line for the composite pressure armour.  Key elements: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A self-contained &amp; automated tape placement prototype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The prototype machine will form the basis for a full manufacturing line design</a:t>
                      </a:r>
                    </a:p>
                    <a:p>
                      <a:pPr marL="171450" lvl="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GB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The prototype machine will be able to produce all of the required qualification prototype pipes for the R166 CPA program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681">
                <a:tc>
                  <a:txBody>
                    <a:bodyPr/>
                    <a:lstStyle/>
                    <a:p>
                      <a:pPr rtl="0"/>
                      <a:r>
                        <a:rPr lang="en-GB" sz="1200" b="0" i="0" u="none" strike="noStrike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D - Libra FEED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pt-BR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Concept Engineering (CE) / FEED study for Libra specific FHC risers design, per Libra Pilot general specifications – The study is to be carried out for both conventional and composite </a:t>
                      </a:r>
                      <a:r>
                        <a:rPr lang="en-US" altLang="pt-BR" sz="1200" kern="1200" baseline="0" dirty="0" err="1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flexibles</a:t>
                      </a:r>
                      <a:r>
                        <a:rPr lang="en-US" altLang="pt-BR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 and will form the basis of the full scale qualification / verification program.</a:t>
                      </a:r>
                      <a:endParaRPr lang="en-US" sz="1200" kern="1200" baseline="0" dirty="0">
                        <a:solidFill>
                          <a:srgbClr val="4C4C4C"/>
                        </a:solidFill>
                        <a:latin typeface="GE Inspira" panose="020F060303040002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681">
                <a:tc>
                  <a:txBody>
                    <a:bodyPr/>
                    <a:lstStyle/>
                    <a:p>
                      <a:r>
                        <a:rPr lang="it-IT" sz="1200" b="0" i="0" u="none" strike="noStrike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E - Libra – </a:t>
                      </a:r>
                      <a:r>
                        <a:rPr lang="it-IT" sz="1200" b="0" i="0" u="none" strike="noStrike" kern="1200" baseline="0" dirty="0" err="1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Qualification</a:t>
                      </a:r>
                      <a:endParaRPr lang="it-IT" sz="1200" b="0" i="0" u="none" strike="noStrike" kern="1200" baseline="0" dirty="0">
                        <a:solidFill>
                          <a:srgbClr val="4C4C4C"/>
                        </a:solidFill>
                        <a:latin typeface="GE Inspira" panose="020F0603030400020203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pt-BR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Detailed engineering, Testing and Qualification / verification of composite and selected  conventional flexible pipe to reach TRL5,  then TRL7 via DIP(*) test, to enable delivery of FHC risers within Libra timeline.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681">
                <a:tc>
                  <a:txBody>
                    <a:bodyPr/>
                    <a:lstStyle/>
                    <a:p>
                      <a:r>
                        <a:rPr lang="en-GB" sz="1200" b="0" i="0" u="none" strike="noStrike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F – RPSEA Phase 2b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RPSEA Phase </a:t>
                      </a:r>
                      <a:r>
                        <a:rPr lang="en-GB" sz="1200" kern="1200" baseline="0" dirty="0" err="1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2b</a:t>
                      </a:r>
                      <a:r>
                        <a:rPr lang="en-GB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 funding awarded to GE.  GRC Niskayuna will facilitate a full scale dynamic fatigue test as well as an API mid-scale thermal cycle test on the bonded composite product in 2016.  These tests will help accelerate the overall program by validating several technical assumptions.  O&amp;G </a:t>
                      </a:r>
                      <a:r>
                        <a:rPr lang="en-GB" sz="1200" kern="1200" baseline="0" dirty="0" err="1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Ncl</a:t>
                      </a:r>
                      <a:r>
                        <a:rPr lang="en-GB" sz="1200" kern="1200" baseline="0" dirty="0">
                          <a:solidFill>
                            <a:srgbClr val="4C4C4C"/>
                          </a:solidFill>
                          <a:latin typeface="GE Inspira" panose="020F0603030400020203" pitchFamily="34" charset="0"/>
                          <a:ea typeface="+mn-ea"/>
                          <a:cs typeface="+mn-cs"/>
                        </a:rPr>
                        <a:t> will supply test pipes using existing prototype manufacturing equipment.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661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lide" ma:contentTypeID="0x010100A22E315B1F3C42B49A0E90D2F9AB5AB10058567A426063A64E9AE57B58D48063B4" ma:contentTypeVersion="0" ma:contentTypeDescription="Microsoft PowerPoint Slide" ma:contentTypeScope="" ma:versionID="06bc36440b9737931049e87a496d032a">
  <xsd:schema xmlns:xsd="http://www.w3.org/2001/XMLSchema" xmlns:xs="http://www.w3.org/2001/XMLSchema" xmlns:p="http://schemas.microsoft.com/office/2006/metadata/properties" xmlns:ns2="http://schemas.microsoft.com/sharepoint/v3" targetNamespace="http://schemas.microsoft.com/office/2006/metadata/properties" ma:root="true" ma:fieldsID="7932dd516c28b5387fecb8332d8cbe95" ns2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2:Presentation" minOccurs="0"/>
                <xsd:element ref="ns2:Slide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resentation" ma:index="1" nillable="true" ma:displayName="Presentation" ma:internalName="Presentation">
      <xsd:simpleType>
        <xsd:restriction base="dms:Text"/>
      </xsd:simpleType>
    </xsd:element>
    <xsd:element name="SlideDescription" ma:index="2" nillable="true" ma:displayName="Description" ma:internalName="SlideDescript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/>
        <xsd:element ref="dc:title" minOccurs="0" maxOccurs="1" ma:index="0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esentation xmlns="http://schemas.microsoft.com/sharepoint/v3">R166 Composites Development Program - Stakeholder Review</Presentation>
    <SlideDescription xmlns="http://schemas.microsoft.com/sharepoint/v3">R166 – Included in scope</SlideDescription>
  </documentManagement>
</p:properties>
</file>

<file path=customXml/itemProps1.xml><?xml version="1.0" encoding="utf-8"?>
<ds:datastoreItem xmlns:ds="http://schemas.openxmlformats.org/officeDocument/2006/customXml" ds:itemID="{02D16ED6-7B33-4DE0-AE79-D619C3B1760D}"/>
</file>

<file path=customXml/itemProps2.xml><?xml version="1.0" encoding="utf-8"?>
<ds:datastoreItem xmlns:ds="http://schemas.openxmlformats.org/officeDocument/2006/customXml" ds:itemID="{93E09F1E-178B-4F76-9521-9ADDAEEA1123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10481</TotalTime>
  <Words>375</Words>
  <Application>Microsoft Office PowerPoint</Application>
  <PresentationFormat>On-screen Show (4:3)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 Inspira</vt:lpstr>
      <vt:lpstr>Office Theme</vt:lpstr>
      <vt:lpstr>R166 – Included in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R166 Composites Development Program - Stakeholder Review July</dc:title>
  <dc:creator>Latto, James (GE Oil &amp; Gas)</dc:creator>
  <dc:description>R166 – Included in scope</dc:description>
  <cp:lastModifiedBy>Latto, James (GE Oil &amp; Gas)</cp:lastModifiedBy>
  <cp:revision>41</cp:revision>
  <dcterms:created xsi:type="dcterms:W3CDTF">2016-06-14T07:14:47Z</dcterms:created>
  <dcterms:modified xsi:type="dcterms:W3CDTF">2016-07-25T10:27:32Z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0x010100A22E315B1F3C42B49A0E90D2F9AB5AB10058567A426063A64E9AE57B58D48063B4</vt:lpwstr>
  </property>
  <property fmtid="{D5CDD505-2E9C-101B-9397-08002B2CF9AE}" pid="3" name="WBS">
    <vt:lpwstr/>
  </property>
  <property fmtid="{D5CDD505-2E9C-101B-9397-08002B2CF9AE}" pid="4" name="ContentType">
    <vt:lpwstr>Slide</vt:lpwstr>
  </property>
  <property fmtid="{D5CDD505-2E9C-101B-9397-08002B2CF9AE}" pid="5" name="Presentation">
    <vt:lpwstr>R166 Composites Development Program - Stakeholder Review July</vt:lpwstr>
  </property>
  <property fmtid="{D5CDD505-2E9C-101B-9397-08002B2CF9AE}" pid="6" name="SlideDescription">
    <vt:lpwstr>R166 – Included in scope</vt:lpwstr>
  </property>
  <property fmtid="{D5CDD505-2E9C-101B-9397-08002B2CF9AE}" pid="7" name="Order">
    <vt:r8>900</vt:r8>
  </property>
</Properties>
</file>