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89" autoAdjust="0"/>
    <p:restoredTop sz="94660"/>
  </p:normalViewPr>
  <p:slideViewPr>
    <p:cSldViewPr snapToGrid="0">
      <p:cViewPr varScale="1">
        <p:scale>
          <a:sx n="119" d="100"/>
          <a:sy n="119" d="100"/>
        </p:scale>
        <p:origin x="104" y="3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64601-5926-48A9-9252-0896931BE3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76A3A38-CB01-4845-B6D7-0FB612968F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D4A17F-F539-452A-8EAD-50D4345B7011}"/>
              </a:ext>
            </a:extLst>
          </p:cNvPr>
          <p:cNvSpPr>
            <a:spLocks noGrp="1"/>
          </p:cNvSpPr>
          <p:nvPr>
            <p:ph type="dt" sz="half" idx="10"/>
          </p:nvPr>
        </p:nvSpPr>
        <p:spPr/>
        <p:txBody>
          <a:bodyPr/>
          <a:lstStyle/>
          <a:p>
            <a:fld id="{E0B9CFA9-7D70-477C-BA57-A6C6B52E75DF}" type="datetimeFigureOut">
              <a:rPr lang="en-US" smtClean="0"/>
              <a:t>9/26/2017</a:t>
            </a:fld>
            <a:endParaRPr lang="en-US"/>
          </a:p>
        </p:txBody>
      </p:sp>
      <p:sp>
        <p:nvSpPr>
          <p:cNvPr id="5" name="Footer Placeholder 4">
            <a:extLst>
              <a:ext uri="{FF2B5EF4-FFF2-40B4-BE49-F238E27FC236}">
                <a16:creationId xmlns:a16="http://schemas.microsoft.com/office/drawing/2014/main" id="{45F2B9D9-583C-4C6D-A7FE-509ED2984E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82F343-2921-4A05-B590-F83E559049AD}"/>
              </a:ext>
            </a:extLst>
          </p:cNvPr>
          <p:cNvSpPr>
            <a:spLocks noGrp="1"/>
          </p:cNvSpPr>
          <p:nvPr>
            <p:ph type="sldNum" sz="quarter" idx="12"/>
          </p:nvPr>
        </p:nvSpPr>
        <p:spPr/>
        <p:txBody>
          <a:bodyPr/>
          <a:lstStyle/>
          <a:p>
            <a:fld id="{D56F69F9-2CE6-41DB-82FF-39F64931EBE9}" type="slidenum">
              <a:rPr lang="en-US" smtClean="0"/>
              <a:t>‹#›</a:t>
            </a:fld>
            <a:endParaRPr lang="en-US"/>
          </a:p>
        </p:txBody>
      </p:sp>
    </p:spTree>
    <p:extLst>
      <p:ext uri="{BB962C8B-B14F-4D97-AF65-F5344CB8AC3E}">
        <p14:creationId xmlns:p14="http://schemas.microsoft.com/office/powerpoint/2010/main" val="450241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39A05-2742-4561-B230-801CA77C29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197E87-391A-4F16-9BAC-15EC9DCC1B7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DE25FE-31D2-49EF-9401-BFFF96451915}"/>
              </a:ext>
            </a:extLst>
          </p:cNvPr>
          <p:cNvSpPr>
            <a:spLocks noGrp="1"/>
          </p:cNvSpPr>
          <p:nvPr>
            <p:ph type="dt" sz="half" idx="10"/>
          </p:nvPr>
        </p:nvSpPr>
        <p:spPr/>
        <p:txBody>
          <a:bodyPr/>
          <a:lstStyle/>
          <a:p>
            <a:fld id="{E0B9CFA9-7D70-477C-BA57-A6C6B52E75DF}" type="datetimeFigureOut">
              <a:rPr lang="en-US" smtClean="0"/>
              <a:t>9/26/2017</a:t>
            </a:fld>
            <a:endParaRPr lang="en-US"/>
          </a:p>
        </p:txBody>
      </p:sp>
      <p:sp>
        <p:nvSpPr>
          <p:cNvPr id="5" name="Footer Placeholder 4">
            <a:extLst>
              <a:ext uri="{FF2B5EF4-FFF2-40B4-BE49-F238E27FC236}">
                <a16:creationId xmlns:a16="http://schemas.microsoft.com/office/drawing/2014/main" id="{4C38F8BA-73C7-48C2-8619-26201034A4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7BF54B-6262-4A71-8E49-576CD5B2A0B6}"/>
              </a:ext>
            </a:extLst>
          </p:cNvPr>
          <p:cNvSpPr>
            <a:spLocks noGrp="1"/>
          </p:cNvSpPr>
          <p:nvPr>
            <p:ph type="sldNum" sz="quarter" idx="12"/>
          </p:nvPr>
        </p:nvSpPr>
        <p:spPr/>
        <p:txBody>
          <a:bodyPr/>
          <a:lstStyle/>
          <a:p>
            <a:fld id="{D56F69F9-2CE6-41DB-82FF-39F64931EBE9}" type="slidenum">
              <a:rPr lang="en-US" smtClean="0"/>
              <a:t>‹#›</a:t>
            </a:fld>
            <a:endParaRPr lang="en-US"/>
          </a:p>
        </p:txBody>
      </p:sp>
    </p:spTree>
    <p:extLst>
      <p:ext uri="{BB962C8B-B14F-4D97-AF65-F5344CB8AC3E}">
        <p14:creationId xmlns:p14="http://schemas.microsoft.com/office/powerpoint/2010/main" val="1376248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864E5-B426-4DF5-A602-867374CA70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2F36F3B-364E-4ECB-A457-D77AD6871C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816CC50-2FA9-444C-B87F-661606BB7C69}"/>
              </a:ext>
            </a:extLst>
          </p:cNvPr>
          <p:cNvSpPr>
            <a:spLocks noGrp="1"/>
          </p:cNvSpPr>
          <p:nvPr>
            <p:ph type="dt" sz="half" idx="10"/>
          </p:nvPr>
        </p:nvSpPr>
        <p:spPr/>
        <p:txBody>
          <a:bodyPr/>
          <a:lstStyle/>
          <a:p>
            <a:fld id="{E0B9CFA9-7D70-477C-BA57-A6C6B52E75DF}" type="datetimeFigureOut">
              <a:rPr lang="en-US" smtClean="0"/>
              <a:t>9/26/2017</a:t>
            </a:fld>
            <a:endParaRPr lang="en-US"/>
          </a:p>
        </p:txBody>
      </p:sp>
      <p:sp>
        <p:nvSpPr>
          <p:cNvPr id="5" name="Footer Placeholder 4">
            <a:extLst>
              <a:ext uri="{FF2B5EF4-FFF2-40B4-BE49-F238E27FC236}">
                <a16:creationId xmlns:a16="http://schemas.microsoft.com/office/drawing/2014/main" id="{EBDCBCA0-AFDC-462A-9275-CA8BDAEEAF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B07D12-7B3B-4493-90E8-B91629058BBC}"/>
              </a:ext>
            </a:extLst>
          </p:cNvPr>
          <p:cNvSpPr>
            <a:spLocks noGrp="1"/>
          </p:cNvSpPr>
          <p:nvPr>
            <p:ph type="sldNum" sz="quarter" idx="12"/>
          </p:nvPr>
        </p:nvSpPr>
        <p:spPr/>
        <p:txBody>
          <a:bodyPr/>
          <a:lstStyle/>
          <a:p>
            <a:fld id="{D56F69F9-2CE6-41DB-82FF-39F64931EBE9}" type="slidenum">
              <a:rPr lang="en-US" smtClean="0"/>
              <a:t>‹#›</a:t>
            </a:fld>
            <a:endParaRPr lang="en-US"/>
          </a:p>
        </p:txBody>
      </p:sp>
    </p:spTree>
    <p:extLst>
      <p:ext uri="{BB962C8B-B14F-4D97-AF65-F5344CB8AC3E}">
        <p14:creationId xmlns:p14="http://schemas.microsoft.com/office/powerpoint/2010/main" val="4375582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9D887-24ED-4EE9-9948-CED3081E56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63504F-C33D-4AE6-A29D-4ACECCE52FF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4D93866-664A-4306-8412-E94020075FD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0BBCD9-E3A6-4CCF-A20C-81E06FDCCFB3}"/>
              </a:ext>
            </a:extLst>
          </p:cNvPr>
          <p:cNvSpPr>
            <a:spLocks noGrp="1"/>
          </p:cNvSpPr>
          <p:nvPr>
            <p:ph type="dt" sz="half" idx="10"/>
          </p:nvPr>
        </p:nvSpPr>
        <p:spPr/>
        <p:txBody>
          <a:bodyPr/>
          <a:lstStyle/>
          <a:p>
            <a:fld id="{E0B9CFA9-7D70-477C-BA57-A6C6B52E75DF}" type="datetimeFigureOut">
              <a:rPr lang="en-US" smtClean="0"/>
              <a:t>9/26/2017</a:t>
            </a:fld>
            <a:endParaRPr lang="en-US"/>
          </a:p>
        </p:txBody>
      </p:sp>
      <p:sp>
        <p:nvSpPr>
          <p:cNvPr id="6" name="Footer Placeholder 5">
            <a:extLst>
              <a:ext uri="{FF2B5EF4-FFF2-40B4-BE49-F238E27FC236}">
                <a16:creationId xmlns:a16="http://schemas.microsoft.com/office/drawing/2014/main" id="{8757624D-28E2-42CD-B1B3-444E30A7E7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B179A5-FF01-4941-8824-72A47AD2D720}"/>
              </a:ext>
            </a:extLst>
          </p:cNvPr>
          <p:cNvSpPr>
            <a:spLocks noGrp="1"/>
          </p:cNvSpPr>
          <p:nvPr>
            <p:ph type="sldNum" sz="quarter" idx="12"/>
          </p:nvPr>
        </p:nvSpPr>
        <p:spPr/>
        <p:txBody>
          <a:bodyPr/>
          <a:lstStyle/>
          <a:p>
            <a:fld id="{D56F69F9-2CE6-41DB-82FF-39F64931EBE9}" type="slidenum">
              <a:rPr lang="en-US" smtClean="0"/>
              <a:t>‹#›</a:t>
            </a:fld>
            <a:endParaRPr lang="en-US"/>
          </a:p>
        </p:txBody>
      </p:sp>
    </p:spTree>
    <p:extLst>
      <p:ext uri="{BB962C8B-B14F-4D97-AF65-F5344CB8AC3E}">
        <p14:creationId xmlns:p14="http://schemas.microsoft.com/office/powerpoint/2010/main" val="2032089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1BC89-4E45-4296-91C1-0102A82DF37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918E243-7011-4D9A-A83D-6185C049CD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895D7CD-8026-415F-AAC4-A3A463EE97F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395EB8B-219D-402D-AB0C-FC22B7CFB6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AA10557-69FC-4C37-9267-0DF95C0A172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EDD521-889F-4DCB-9057-83A2F3F6953B}"/>
              </a:ext>
            </a:extLst>
          </p:cNvPr>
          <p:cNvSpPr>
            <a:spLocks noGrp="1"/>
          </p:cNvSpPr>
          <p:nvPr>
            <p:ph type="dt" sz="half" idx="10"/>
          </p:nvPr>
        </p:nvSpPr>
        <p:spPr/>
        <p:txBody>
          <a:bodyPr/>
          <a:lstStyle/>
          <a:p>
            <a:fld id="{E0B9CFA9-7D70-477C-BA57-A6C6B52E75DF}" type="datetimeFigureOut">
              <a:rPr lang="en-US" smtClean="0"/>
              <a:t>9/26/2017</a:t>
            </a:fld>
            <a:endParaRPr lang="en-US"/>
          </a:p>
        </p:txBody>
      </p:sp>
      <p:sp>
        <p:nvSpPr>
          <p:cNvPr id="8" name="Footer Placeholder 7">
            <a:extLst>
              <a:ext uri="{FF2B5EF4-FFF2-40B4-BE49-F238E27FC236}">
                <a16:creationId xmlns:a16="http://schemas.microsoft.com/office/drawing/2014/main" id="{B60E200A-3943-491A-BE8D-04BD5ECC59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B1CCA56-8A1F-4D88-8D95-A790CC611EFF}"/>
              </a:ext>
            </a:extLst>
          </p:cNvPr>
          <p:cNvSpPr>
            <a:spLocks noGrp="1"/>
          </p:cNvSpPr>
          <p:nvPr>
            <p:ph type="sldNum" sz="quarter" idx="12"/>
          </p:nvPr>
        </p:nvSpPr>
        <p:spPr/>
        <p:txBody>
          <a:bodyPr/>
          <a:lstStyle/>
          <a:p>
            <a:fld id="{D56F69F9-2CE6-41DB-82FF-39F64931EBE9}" type="slidenum">
              <a:rPr lang="en-US" smtClean="0"/>
              <a:t>‹#›</a:t>
            </a:fld>
            <a:endParaRPr lang="en-US"/>
          </a:p>
        </p:txBody>
      </p:sp>
    </p:spTree>
    <p:extLst>
      <p:ext uri="{BB962C8B-B14F-4D97-AF65-F5344CB8AC3E}">
        <p14:creationId xmlns:p14="http://schemas.microsoft.com/office/powerpoint/2010/main" val="1278958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DD191-815C-4AF7-B97C-5AC3348852B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F327B77-53BD-4817-A48D-CAEC31739461}"/>
              </a:ext>
            </a:extLst>
          </p:cNvPr>
          <p:cNvSpPr>
            <a:spLocks noGrp="1"/>
          </p:cNvSpPr>
          <p:nvPr>
            <p:ph type="dt" sz="half" idx="10"/>
          </p:nvPr>
        </p:nvSpPr>
        <p:spPr/>
        <p:txBody>
          <a:bodyPr/>
          <a:lstStyle/>
          <a:p>
            <a:fld id="{E0B9CFA9-7D70-477C-BA57-A6C6B52E75DF}" type="datetimeFigureOut">
              <a:rPr lang="en-US" smtClean="0"/>
              <a:t>9/26/2017</a:t>
            </a:fld>
            <a:endParaRPr lang="en-US"/>
          </a:p>
        </p:txBody>
      </p:sp>
      <p:sp>
        <p:nvSpPr>
          <p:cNvPr id="4" name="Footer Placeholder 3">
            <a:extLst>
              <a:ext uri="{FF2B5EF4-FFF2-40B4-BE49-F238E27FC236}">
                <a16:creationId xmlns:a16="http://schemas.microsoft.com/office/drawing/2014/main" id="{50F6BBEF-A66A-4BB9-BA75-584D5DEB56F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1B8937F-366D-4459-90F7-DA5F56F30281}"/>
              </a:ext>
            </a:extLst>
          </p:cNvPr>
          <p:cNvSpPr>
            <a:spLocks noGrp="1"/>
          </p:cNvSpPr>
          <p:nvPr>
            <p:ph type="sldNum" sz="quarter" idx="12"/>
          </p:nvPr>
        </p:nvSpPr>
        <p:spPr/>
        <p:txBody>
          <a:bodyPr/>
          <a:lstStyle/>
          <a:p>
            <a:fld id="{D56F69F9-2CE6-41DB-82FF-39F64931EBE9}" type="slidenum">
              <a:rPr lang="en-US" smtClean="0"/>
              <a:t>‹#›</a:t>
            </a:fld>
            <a:endParaRPr lang="en-US"/>
          </a:p>
        </p:txBody>
      </p:sp>
    </p:spTree>
    <p:extLst>
      <p:ext uri="{BB962C8B-B14F-4D97-AF65-F5344CB8AC3E}">
        <p14:creationId xmlns:p14="http://schemas.microsoft.com/office/powerpoint/2010/main" val="2335011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E450E3-2163-42D0-B610-522476C3104E}"/>
              </a:ext>
            </a:extLst>
          </p:cNvPr>
          <p:cNvSpPr>
            <a:spLocks noGrp="1"/>
          </p:cNvSpPr>
          <p:nvPr>
            <p:ph type="dt" sz="half" idx="10"/>
          </p:nvPr>
        </p:nvSpPr>
        <p:spPr/>
        <p:txBody>
          <a:bodyPr/>
          <a:lstStyle/>
          <a:p>
            <a:fld id="{E0B9CFA9-7D70-477C-BA57-A6C6B52E75DF}" type="datetimeFigureOut">
              <a:rPr lang="en-US" smtClean="0"/>
              <a:t>9/26/2017</a:t>
            </a:fld>
            <a:endParaRPr lang="en-US"/>
          </a:p>
        </p:txBody>
      </p:sp>
      <p:sp>
        <p:nvSpPr>
          <p:cNvPr id="3" name="Footer Placeholder 2">
            <a:extLst>
              <a:ext uri="{FF2B5EF4-FFF2-40B4-BE49-F238E27FC236}">
                <a16:creationId xmlns:a16="http://schemas.microsoft.com/office/drawing/2014/main" id="{7636CA13-5F21-42D2-9C73-0568F645A73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B33EEB-9857-441E-A476-0CF324FE9993}"/>
              </a:ext>
            </a:extLst>
          </p:cNvPr>
          <p:cNvSpPr>
            <a:spLocks noGrp="1"/>
          </p:cNvSpPr>
          <p:nvPr>
            <p:ph type="sldNum" sz="quarter" idx="12"/>
          </p:nvPr>
        </p:nvSpPr>
        <p:spPr/>
        <p:txBody>
          <a:bodyPr/>
          <a:lstStyle/>
          <a:p>
            <a:fld id="{D56F69F9-2CE6-41DB-82FF-39F64931EBE9}" type="slidenum">
              <a:rPr lang="en-US" smtClean="0"/>
              <a:t>‹#›</a:t>
            </a:fld>
            <a:endParaRPr lang="en-US"/>
          </a:p>
        </p:txBody>
      </p:sp>
    </p:spTree>
    <p:extLst>
      <p:ext uri="{BB962C8B-B14F-4D97-AF65-F5344CB8AC3E}">
        <p14:creationId xmlns:p14="http://schemas.microsoft.com/office/powerpoint/2010/main" val="1840072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2CF7F-DAF9-4656-B7DA-3253F43822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6A59E41-6D89-4946-A342-ABE524C1C0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A4DE96C-4B57-416D-8F80-4331127D51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64AE35B-B5FE-4BCF-970F-40F41CF62574}"/>
              </a:ext>
            </a:extLst>
          </p:cNvPr>
          <p:cNvSpPr>
            <a:spLocks noGrp="1"/>
          </p:cNvSpPr>
          <p:nvPr>
            <p:ph type="dt" sz="half" idx="10"/>
          </p:nvPr>
        </p:nvSpPr>
        <p:spPr/>
        <p:txBody>
          <a:bodyPr/>
          <a:lstStyle/>
          <a:p>
            <a:fld id="{E0B9CFA9-7D70-477C-BA57-A6C6B52E75DF}" type="datetimeFigureOut">
              <a:rPr lang="en-US" smtClean="0"/>
              <a:t>9/26/2017</a:t>
            </a:fld>
            <a:endParaRPr lang="en-US"/>
          </a:p>
        </p:txBody>
      </p:sp>
      <p:sp>
        <p:nvSpPr>
          <p:cNvPr id="6" name="Footer Placeholder 5">
            <a:extLst>
              <a:ext uri="{FF2B5EF4-FFF2-40B4-BE49-F238E27FC236}">
                <a16:creationId xmlns:a16="http://schemas.microsoft.com/office/drawing/2014/main" id="{D0B4E775-5A55-426A-BD89-DEFE38DE9A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67316F-26CE-487D-97DF-8F7DB3F0D842}"/>
              </a:ext>
            </a:extLst>
          </p:cNvPr>
          <p:cNvSpPr>
            <a:spLocks noGrp="1"/>
          </p:cNvSpPr>
          <p:nvPr>
            <p:ph type="sldNum" sz="quarter" idx="12"/>
          </p:nvPr>
        </p:nvSpPr>
        <p:spPr/>
        <p:txBody>
          <a:bodyPr/>
          <a:lstStyle/>
          <a:p>
            <a:fld id="{D56F69F9-2CE6-41DB-82FF-39F64931EBE9}" type="slidenum">
              <a:rPr lang="en-US" smtClean="0"/>
              <a:t>‹#›</a:t>
            </a:fld>
            <a:endParaRPr lang="en-US"/>
          </a:p>
        </p:txBody>
      </p:sp>
    </p:spTree>
    <p:extLst>
      <p:ext uri="{BB962C8B-B14F-4D97-AF65-F5344CB8AC3E}">
        <p14:creationId xmlns:p14="http://schemas.microsoft.com/office/powerpoint/2010/main" val="895081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DEB58-1FE6-483B-AA30-15B8892506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249DE03-5134-483C-B7AA-9881EB9A70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7F34E7A-A6FF-4C0A-9042-5552C7B1A8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D53AE53-B1B2-4327-BE24-D672FBF057B9}"/>
              </a:ext>
            </a:extLst>
          </p:cNvPr>
          <p:cNvSpPr>
            <a:spLocks noGrp="1"/>
          </p:cNvSpPr>
          <p:nvPr>
            <p:ph type="dt" sz="half" idx="10"/>
          </p:nvPr>
        </p:nvSpPr>
        <p:spPr/>
        <p:txBody>
          <a:bodyPr/>
          <a:lstStyle/>
          <a:p>
            <a:fld id="{E0B9CFA9-7D70-477C-BA57-A6C6B52E75DF}" type="datetimeFigureOut">
              <a:rPr lang="en-US" smtClean="0"/>
              <a:t>9/26/2017</a:t>
            </a:fld>
            <a:endParaRPr lang="en-US"/>
          </a:p>
        </p:txBody>
      </p:sp>
      <p:sp>
        <p:nvSpPr>
          <p:cNvPr id="6" name="Footer Placeholder 5">
            <a:extLst>
              <a:ext uri="{FF2B5EF4-FFF2-40B4-BE49-F238E27FC236}">
                <a16:creationId xmlns:a16="http://schemas.microsoft.com/office/drawing/2014/main" id="{08BA1EB1-6759-4ED2-8137-43738AB034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A89C18-318C-4394-AB94-05672E47694B}"/>
              </a:ext>
            </a:extLst>
          </p:cNvPr>
          <p:cNvSpPr>
            <a:spLocks noGrp="1"/>
          </p:cNvSpPr>
          <p:nvPr>
            <p:ph type="sldNum" sz="quarter" idx="12"/>
          </p:nvPr>
        </p:nvSpPr>
        <p:spPr/>
        <p:txBody>
          <a:bodyPr/>
          <a:lstStyle/>
          <a:p>
            <a:fld id="{D56F69F9-2CE6-41DB-82FF-39F64931EBE9}" type="slidenum">
              <a:rPr lang="en-US" smtClean="0"/>
              <a:t>‹#›</a:t>
            </a:fld>
            <a:endParaRPr lang="en-US"/>
          </a:p>
        </p:txBody>
      </p:sp>
    </p:spTree>
    <p:extLst>
      <p:ext uri="{BB962C8B-B14F-4D97-AF65-F5344CB8AC3E}">
        <p14:creationId xmlns:p14="http://schemas.microsoft.com/office/powerpoint/2010/main" val="1561321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BE9FA-B261-4BB7-9D84-5B863A3571A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ADA571C-5324-42CA-A870-D1BA413E8A9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C9639D-C473-4686-A624-86203470EF5A}"/>
              </a:ext>
            </a:extLst>
          </p:cNvPr>
          <p:cNvSpPr>
            <a:spLocks noGrp="1"/>
          </p:cNvSpPr>
          <p:nvPr>
            <p:ph type="dt" sz="half" idx="10"/>
          </p:nvPr>
        </p:nvSpPr>
        <p:spPr/>
        <p:txBody>
          <a:bodyPr/>
          <a:lstStyle/>
          <a:p>
            <a:fld id="{E0B9CFA9-7D70-477C-BA57-A6C6B52E75DF}" type="datetimeFigureOut">
              <a:rPr lang="en-US" smtClean="0"/>
              <a:t>9/26/2017</a:t>
            </a:fld>
            <a:endParaRPr lang="en-US"/>
          </a:p>
        </p:txBody>
      </p:sp>
      <p:sp>
        <p:nvSpPr>
          <p:cNvPr id="5" name="Footer Placeholder 4">
            <a:extLst>
              <a:ext uri="{FF2B5EF4-FFF2-40B4-BE49-F238E27FC236}">
                <a16:creationId xmlns:a16="http://schemas.microsoft.com/office/drawing/2014/main" id="{36C28DA4-C320-46C8-A4F9-ABF677B955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08D652-AE9A-48BA-B906-091CDC816B8B}"/>
              </a:ext>
            </a:extLst>
          </p:cNvPr>
          <p:cNvSpPr>
            <a:spLocks noGrp="1"/>
          </p:cNvSpPr>
          <p:nvPr>
            <p:ph type="sldNum" sz="quarter" idx="12"/>
          </p:nvPr>
        </p:nvSpPr>
        <p:spPr/>
        <p:txBody>
          <a:bodyPr/>
          <a:lstStyle/>
          <a:p>
            <a:fld id="{D56F69F9-2CE6-41DB-82FF-39F64931EBE9}" type="slidenum">
              <a:rPr lang="en-US" smtClean="0"/>
              <a:t>‹#›</a:t>
            </a:fld>
            <a:endParaRPr lang="en-US"/>
          </a:p>
        </p:txBody>
      </p:sp>
    </p:spTree>
    <p:extLst>
      <p:ext uri="{BB962C8B-B14F-4D97-AF65-F5344CB8AC3E}">
        <p14:creationId xmlns:p14="http://schemas.microsoft.com/office/powerpoint/2010/main" val="2918435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562AE5-3DFE-41C5-B166-2FE504D92CD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BB30F50-5765-40DB-A41A-EE06E9B268F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D8D809-208B-457E-B8B7-5436522B8654}"/>
              </a:ext>
            </a:extLst>
          </p:cNvPr>
          <p:cNvSpPr>
            <a:spLocks noGrp="1"/>
          </p:cNvSpPr>
          <p:nvPr>
            <p:ph type="dt" sz="half" idx="10"/>
          </p:nvPr>
        </p:nvSpPr>
        <p:spPr/>
        <p:txBody>
          <a:bodyPr/>
          <a:lstStyle/>
          <a:p>
            <a:fld id="{E0B9CFA9-7D70-477C-BA57-A6C6B52E75DF}" type="datetimeFigureOut">
              <a:rPr lang="en-US" smtClean="0"/>
              <a:t>9/26/2017</a:t>
            </a:fld>
            <a:endParaRPr lang="en-US"/>
          </a:p>
        </p:txBody>
      </p:sp>
      <p:sp>
        <p:nvSpPr>
          <p:cNvPr id="5" name="Footer Placeholder 4">
            <a:extLst>
              <a:ext uri="{FF2B5EF4-FFF2-40B4-BE49-F238E27FC236}">
                <a16:creationId xmlns:a16="http://schemas.microsoft.com/office/drawing/2014/main" id="{3AD39791-BC5D-488B-BAC3-086604CA4E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13B779-22C1-49E5-BCAB-36F1198D0858}"/>
              </a:ext>
            </a:extLst>
          </p:cNvPr>
          <p:cNvSpPr>
            <a:spLocks noGrp="1"/>
          </p:cNvSpPr>
          <p:nvPr>
            <p:ph type="sldNum" sz="quarter" idx="12"/>
          </p:nvPr>
        </p:nvSpPr>
        <p:spPr/>
        <p:txBody>
          <a:bodyPr/>
          <a:lstStyle/>
          <a:p>
            <a:fld id="{D56F69F9-2CE6-41DB-82FF-39F64931EBE9}" type="slidenum">
              <a:rPr lang="en-US" smtClean="0"/>
              <a:t>‹#›</a:t>
            </a:fld>
            <a:endParaRPr lang="en-US"/>
          </a:p>
        </p:txBody>
      </p:sp>
    </p:spTree>
    <p:extLst>
      <p:ext uri="{BB962C8B-B14F-4D97-AF65-F5344CB8AC3E}">
        <p14:creationId xmlns:p14="http://schemas.microsoft.com/office/powerpoint/2010/main" val="3121452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6644D1-C4B6-4D20-8D44-DC6A66B254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12DB8F5-16BB-4F71-AAC0-B13FB9A23C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E57787-9DAE-472F-87C1-6E32167DEE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B9CFA9-7D70-477C-BA57-A6C6B52E75DF}" type="datetimeFigureOut">
              <a:rPr lang="en-US" smtClean="0"/>
              <a:t>9/26/2017</a:t>
            </a:fld>
            <a:endParaRPr lang="en-US"/>
          </a:p>
        </p:txBody>
      </p:sp>
      <p:sp>
        <p:nvSpPr>
          <p:cNvPr id="5" name="Footer Placeholder 4">
            <a:extLst>
              <a:ext uri="{FF2B5EF4-FFF2-40B4-BE49-F238E27FC236}">
                <a16:creationId xmlns:a16="http://schemas.microsoft.com/office/drawing/2014/main" id="{8870C119-3426-434F-B954-BD65389EB6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4096678-E04B-4060-A217-F5FAD6EE28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6F69F9-2CE6-41DB-82FF-39F64931EBE9}" type="slidenum">
              <a:rPr lang="en-US" smtClean="0"/>
              <a:t>‹#›</a:t>
            </a:fld>
            <a:endParaRPr lang="en-US"/>
          </a:p>
        </p:txBody>
      </p:sp>
    </p:spTree>
    <p:extLst>
      <p:ext uri="{BB962C8B-B14F-4D97-AF65-F5344CB8AC3E}">
        <p14:creationId xmlns:p14="http://schemas.microsoft.com/office/powerpoint/2010/main" val="24458610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9559AA-DB9D-4561-983D-642CE63ACC19}"/>
              </a:ext>
            </a:extLst>
          </p:cNvPr>
          <p:cNvSpPr>
            <a:spLocks noGrp="1"/>
          </p:cNvSpPr>
          <p:nvPr>
            <p:ph type="title"/>
          </p:nvPr>
        </p:nvSpPr>
        <p:spPr/>
        <p:txBody>
          <a:bodyPr/>
          <a:lstStyle/>
          <a:p>
            <a:r>
              <a:rPr lang="en-GB" dirty="0"/>
              <a:t>Validated market size and product/service business case</a:t>
            </a:r>
            <a:endParaRPr lang="en-US" dirty="0"/>
          </a:p>
        </p:txBody>
      </p:sp>
      <p:sp>
        <p:nvSpPr>
          <p:cNvPr id="5" name="Content Placeholder 4">
            <a:extLst>
              <a:ext uri="{FF2B5EF4-FFF2-40B4-BE49-F238E27FC236}">
                <a16:creationId xmlns:a16="http://schemas.microsoft.com/office/drawing/2014/main" id="{85740939-3EF2-4D04-B491-591800612D21}"/>
              </a:ext>
            </a:extLst>
          </p:cNvPr>
          <p:cNvSpPr>
            <a:spLocks noGrp="1"/>
          </p:cNvSpPr>
          <p:nvPr>
            <p:ph sz="half" idx="1"/>
          </p:nvPr>
        </p:nvSpPr>
        <p:spPr/>
        <p:txBody>
          <a:bodyPr/>
          <a:lstStyle/>
          <a:p>
            <a:endParaRPr lang="en-US"/>
          </a:p>
        </p:txBody>
      </p:sp>
      <p:sp>
        <p:nvSpPr>
          <p:cNvPr id="6" name="Content Placeholder 5">
            <a:extLst>
              <a:ext uri="{FF2B5EF4-FFF2-40B4-BE49-F238E27FC236}">
                <a16:creationId xmlns:a16="http://schemas.microsoft.com/office/drawing/2014/main" id="{4CBC9CAE-8C17-4293-A701-51D6779AC78A}"/>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3933001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9559AA-DB9D-4561-983D-642CE63ACC19}"/>
              </a:ext>
            </a:extLst>
          </p:cNvPr>
          <p:cNvSpPr>
            <a:spLocks noGrp="1"/>
          </p:cNvSpPr>
          <p:nvPr>
            <p:ph type="title"/>
          </p:nvPr>
        </p:nvSpPr>
        <p:spPr/>
        <p:txBody>
          <a:bodyPr/>
          <a:lstStyle/>
          <a:p>
            <a:r>
              <a:rPr lang="en-GB" dirty="0"/>
              <a:t>Validated technical assumptions – product options</a:t>
            </a:r>
            <a:endParaRPr lang="en-US" dirty="0"/>
          </a:p>
        </p:txBody>
      </p:sp>
      <p:sp>
        <p:nvSpPr>
          <p:cNvPr id="5" name="Content Placeholder 4">
            <a:extLst>
              <a:ext uri="{FF2B5EF4-FFF2-40B4-BE49-F238E27FC236}">
                <a16:creationId xmlns:a16="http://schemas.microsoft.com/office/drawing/2014/main" id="{85740939-3EF2-4D04-B491-591800612D21}"/>
              </a:ext>
            </a:extLst>
          </p:cNvPr>
          <p:cNvSpPr>
            <a:spLocks noGrp="1"/>
          </p:cNvSpPr>
          <p:nvPr>
            <p:ph sz="half" idx="1"/>
          </p:nvPr>
        </p:nvSpPr>
        <p:spPr/>
        <p:txBody>
          <a:bodyPr/>
          <a:lstStyle/>
          <a:p>
            <a:endParaRPr lang="en-US"/>
          </a:p>
        </p:txBody>
      </p:sp>
      <p:sp>
        <p:nvSpPr>
          <p:cNvPr id="6" name="Content Placeholder 5">
            <a:extLst>
              <a:ext uri="{FF2B5EF4-FFF2-40B4-BE49-F238E27FC236}">
                <a16:creationId xmlns:a16="http://schemas.microsoft.com/office/drawing/2014/main" id="{4CBC9CAE-8C17-4293-A701-51D6779AC78A}"/>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1453176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9559AA-DB9D-4561-983D-642CE63ACC19}"/>
              </a:ext>
            </a:extLst>
          </p:cNvPr>
          <p:cNvSpPr>
            <a:spLocks noGrp="1"/>
          </p:cNvSpPr>
          <p:nvPr>
            <p:ph type="title"/>
          </p:nvPr>
        </p:nvSpPr>
        <p:spPr>
          <a:xfrm>
            <a:off x="838200" y="365125"/>
            <a:ext cx="10515600" cy="2297155"/>
          </a:xfrm>
        </p:spPr>
        <p:txBody>
          <a:bodyPr>
            <a:normAutofit fontScale="90000"/>
          </a:bodyPr>
          <a:lstStyle/>
          <a:p>
            <a:r>
              <a:rPr lang="en-GB" dirty="0"/>
              <a:t>Conclude evaluation of design alternatives, down-select, and complete the product conceptual design that fulfils or has line-of-sight to fulfilling the PRD/PTS requirements.</a:t>
            </a:r>
            <a:endParaRPr lang="en-US" dirty="0"/>
          </a:p>
        </p:txBody>
      </p:sp>
      <p:sp>
        <p:nvSpPr>
          <p:cNvPr id="5" name="Content Placeholder 4">
            <a:extLst>
              <a:ext uri="{FF2B5EF4-FFF2-40B4-BE49-F238E27FC236}">
                <a16:creationId xmlns:a16="http://schemas.microsoft.com/office/drawing/2014/main" id="{85740939-3EF2-4D04-B491-591800612D21}"/>
              </a:ext>
            </a:extLst>
          </p:cNvPr>
          <p:cNvSpPr>
            <a:spLocks noGrp="1"/>
          </p:cNvSpPr>
          <p:nvPr>
            <p:ph sz="half" idx="1"/>
          </p:nvPr>
        </p:nvSpPr>
        <p:spPr>
          <a:xfrm>
            <a:off x="838200" y="2662279"/>
            <a:ext cx="5181600" cy="3514683"/>
          </a:xfrm>
        </p:spPr>
        <p:txBody>
          <a:bodyPr/>
          <a:lstStyle/>
          <a:p>
            <a:r>
              <a:rPr lang="en-GB" dirty="0"/>
              <a:t>Pipe Designs</a:t>
            </a:r>
            <a:endParaRPr lang="en-US" dirty="0"/>
          </a:p>
        </p:txBody>
      </p:sp>
      <p:sp>
        <p:nvSpPr>
          <p:cNvPr id="6" name="Content Placeholder 5">
            <a:extLst>
              <a:ext uri="{FF2B5EF4-FFF2-40B4-BE49-F238E27FC236}">
                <a16:creationId xmlns:a16="http://schemas.microsoft.com/office/drawing/2014/main" id="{4CBC9CAE-8C17-4293-A701-51D6779AC78A}"/>
              </a:ext>
            </a:extLst>
          </p:cNvPr>
          <p:cNvSpPr>
            <a:spLocks noGrp="1"/>
          </p:cNvSpPr>
          <p:nvPr>
            <p:ph sz="half" idx="2"/>
          </p:nvPr>
        </p:nvSpPr>
        <p:spPr>
          <a:xfrm>
            <a:off x="6172200" y="2662279"/>
            <a:ext cx="5181600" cy="3514684"/>
          </a:xfrm>
        </p:spPr>
        <p:txBody>
          <a:bodyPr/>
          <a:lstStyle/>
          <a:p>
            <a:endParaRPr lang="en-US" dirty="0"/>
          </a:p>
        </p:txBody>
      </p:sp>
    </p:spTree>
    <p:extLst>
      <p:ext uri="{BB962C8B-B14F-4D97-AF65-F5344CB8AC3E}">
        <p14:creationId xmlns:p14="http://schemas.microsoft.com/office/powerpoint/2010/main" val="3757648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9559AA-DB9D-4561-983D-642CE63ACC19}"/>
              </a:ext>
            </a:extLst>
          </p:cNvPr>
          <p:cNvSpPr>
            <a:spLocks noGrp="1"/>
          </p:cNvSpPr>
          <p:nvPr>
            <p:ph type="title"/>
          </p:nvPr>
        </p:nvSpPr>
        <p:spPr>
          <a:xfrm>
            <a:off x="838200" y="365125"/>
            <a:ext cx="10515600" cy="2297155"/>
          </a:xfrm>
        </p:spPr>
        <p:txBody>
          <a:bodyPr>
            <a:normAutofit fontScale="90000"/>
          </a:bodyPr>
          <a:lstStyle/>
          <a:p>
            <a:r>
              <a:rPr lang="en-GB" dirty="0"/>
              <a:t>Finalize, approve, and freeze PRD/PTS (prior to conducting TG 3 review) complete program (Commercial and Technical) risk assessments and put in place plans to retire risks.</a:t>
            </a:r>
            <a:endParaRPr lang="en-US" dirty="0"/>
          </a:p>
        </p:txBody>
      </p:sp>
      <p:sp>
        <p:nvSpPr>
          <p:cNvPr id="5" name="Content Placeholder 4">
            <a:extLst>
              <a:ext uri="{FF2B5EF4-FFF2-40B4-BE49-F238E27FC236}">
                <a16:creationId xmlns:a16="http://schemas.microsoft.com/office/drawing/2014/main" id="{85740939-3EF2-4D04-B491-591800612D21}"/>
              </a:ext>
            </a:extLst>
          </p:cNvPr>
          <p:cNvSpPr>
            <a:spLocks noGrp="1"/>
          </p:cNvSpPr>
          <p:nvPr>
            <p:ph sz="half" idx="1"/>
          </p:nvPr>
        </p:nvSpPr>
        <p:spPr>
          <a:xfrm>
            <a:off x="838200" y="2662279"/>
            <a:ext cx="5181600" cy="3514683"/>
          </a:xfrm>
        </p:spPr>
        <p:txBody>
          <a:bodyPr/>
          <a:lstStyle/>
          <a:p>
            <a:r>
              <a:rPr lang="en-GB" dirty="0"/>
              <a:t>Commercial Risks</a:t>
            </a:r>
            <a:endParaRPr lang="en-US" dirty="0"/>
          </a:p>
        </p:txBody>
      </p:sp>
      <p:sp>
        <p:nvSpPr>
          <p:cNvPr id="6" name="Content Placeholder 5">
            <a:extLst>
              <a:ext uri="{FF2B5EF4-FFF2-40B4-BE49-F238E27FC236}">
                <a16:creationId xmlns:a16="http://schemas.microsoft.com/office/drawing/2014/main" id="{4CBC9CAE-8C17-4293-A701-51D6779AC78A}"/>
              </a:ext>
            </a:extLst>
          </p:cNvPr>
          <p:cNvSpPr>
            <a:spLocks noGrp="1"/>
          </p:cNvSpPr>
          <p:nvPr>
            <p:ph sz="half" idx="2"/>
          </p:nvPr>
        </p:nvSpPr>
        <p:spPr>
          <a:xfrm>
            <a:off x="6172200" y="2662279"/>
            <a:ext cx="5181600" cy="3514684"/>
          </a:xfrm>
        </p:spPr>
        <p:txBody>
          <a:bodyPr/>
          <a:lstStyle/>
          <a:p>
            <a:r>
              <a:rPr lang="en-GB" dirty="0"/>
              <a:t>Technical Risks</a:t>
            </a:r>
            <a:endParaRPr lang="en-US" dirty="0"/>
          </a:p>
        </p:txBody>
      </p:sp>
    </p:spTree>
    <p:extLst>
      <p:ext uri="{BB962C8B-B14F-4D97-AF65-F5344CB8AC3E}">
        <p14:creationId xmlns:p14="http://schemas.microsoft.com/office/powerpoint/2010/main" val="2044185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9559AA-DB9D-4561-983D-642CE63ACC19}"/>
              </a:ext>
            </a:extLst>
          </p:cNvPr>
          <p:cNvSpPr>
            <a:spLocks noGrp="1"/>
          </p:cNvSpPr>
          <p:nvPr>
            <p:ph type="title"/>
          </p:nvPr>
        </p:nvSpPr>
        <p:spPr>
          <a:xfrm>
            <a:off x="838200" y="365125"/>
            <a:ext cx="10515600" cy="2232418"/>
          </a:xfrm>
        </p:spPr>
        <p:txBody>
          <a:bodyPr>
            <a:normAutofit fontScale="90000"/>
          </a:bodyPr>
          <a:lstStyle/>
          <a:p>
            <a:r>
              <a:rPr lang="en-GB" dirty="0"/>
              <a:t>Confirm all new technologies to be incorporated into the NPI product development have been developed, tested, and approved to apply to the NPI program.</a:t>
            </a:r>
            <a:endParaRPr lang="en-US" dirty="0"/>
          </a:p>
        </p:txBody>
      </p:sp>
      <p:sp>
        <p:nvSpPr>
          <p:cNvPr id="5" name="Content Placeholder 4">
            <a:extLst>
              <a:ext uri="{FF2B5EF4-FFF2-40B4-BE49-F238E27FC236}">
                <a16:creationId xmlns:a16="http://schemas.microsoft.com/office/drawing/2014/main" id="{85740939-3EF2-4D04-B491-591800612D21}"/>
              </a:ext>
            </a:extLst>
          </p:cNvPr>
          <p:cNvSpPr>
            <a:spLocks noGrp="1"/>
          </p:cNvSpPr>
          <p:nvPr>
            <p:ph sz="half" idx="1"/>
          </p:nvPr>
        </p:nvSpPr>
        <p:spPr/>
        <p:txBody>
          <a:bodyPr/>
          <a:lstStyle/>
          <a:p>
            <a:endParaRPr lang="en-US"/>
          </a:p>
        </p:txBody>
      </p:sp>
      <p:sp>
        <p:nvSpPr>
          <p:cNvPr id="6" name="Content Placeholder 5">
            <a:extLst>
              <a:ext uri="{FF2B5EF4-FFF2-40B4-BE49-F238E27FC236}">
                <a16:creationId xmlns:a16="http://schemas.microsoft.com/office/drawing/2014/main" id="{4CBC9CAE-8C17-4293-A701-51D6779AC78A}"/>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156343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9559AA-DB9D-4561-983D-642CE63ACC19}"/>
              </a:ext>
            </a:extLst>
          </p:cNvPr>
          <p:cNvSpPr>
            <a:spLocks noGrp="1"/>
          </p:cNvSpPr>
          <p:nvPr>
            <p:ph type="title"/>
          </p:nvPr>
        </p:nvSpPr>
        <p:spPr/>
        <p:txBody>
          <a:bodyPr>
            <a:normAutofit fontScale="90000"/>
          </a:bodyPr>
          <a:lstStyle/>
          <a:p>
            <a:r>
              <a:rPr lang="en-GB" dirty="0"/>
              <a:t>Initiate the Product Safety risk assessment, identify the scope of safety review, conduct and complete the Preliminary Hazard Assessment.</a:t>
            </a:r>
            <a:endParaRPr lang="en-US" dirty="0"/>
          </a:p>
        </p:txBody>
      </p:sp>
      <p:sp>
        <p:nvSpPr>
          <p:cNvPr id="5" name="Content Placeholder 4">
            <a:extLst>
              <a:ext uri="{FF2B5EF4-FFF2-40B4-BE49-F238E27FC236}">
                <a16:creationId xmlns:a16="http://schemas.microsoft.com/office/drawing/2014/main" id="{85740939-3EF2-4D04-B491-591800612D21}"/>
              </a:ext>
            </a:extLst>
          </p:cNvPr>
          <p:cNvSpPr>
            <a:spLocks noGrp="1"/>
          </p:cNvSpPr>
          <p:nvPr>
            <p:ph sz="half" idx="1"/>
          </p:nvPr>
        </p:nvSpPr>
        <p:spPr/>
        <p:txBody>
          <a:bodyPr/>
          <a:lstStyle/>
          <a:p>
            <a:endParaRPr lang="en-US"/>
          </a:p>
        </p:txBody>
      </p:sp>
      <p:sp>
        <p:nvSpPr>
          <p:cNvPr id="6" name="Content Placeholder 5">
            <a:extLst>
              <a:ext uri="{FF2B5EF4-FFF2-40B4-BE49-F238E27FC236}">
                <a16:creationId xmlns:a16="http://schemas.microsoft.com/office/drawing/2014/main" id="{4CBC9CAE-8C17-4293-A701-51D6779AC78A}"/>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1590039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9559AA-DB9D-4561-983D-642CE63ACC19}"/>
              </a:ext>
            </a:extLst>
          </p:cNvPr>
          <p:cNvSpPr>
            <a:spLocks noGrp="1"/>
          </p:cNvSpPr>
          <p:nvPr>
            <p:ph type="title"/>
          </p:nvPr>
        </p:nvSpPr>
        <p:spPr/>
        <p:txBody>
          <a:bodyPr>
            <a:normAutofit/>
          </a:bodyPr>
          <a:lstStyle/>
          <a:p>
            <a:r>
              <a:rPr lang="en-GB" dirty="0"/>
              <a:t>Assess the applicable TR&amp;S and EHS regulatory environment.</a:t>
            </a:r>
            <a:endParaRPr lang="en-US" dirty="0"/>
          </a:p>
        </p:txBody>
      </p:sp>
      <p:sp>
        <p:nvSpPr>
          <p:cNvPr id="5" name="Content Placeholder 4">
            <a:extLst>
              <a:ext uri="{FF2B5EF4-FFF2-40B4-BE49-F238E27FC236}">
                <a16:creationId xmlns:a16="http://schemas.microsoft.com/office/drawing/2014/main" id="{85740939-3EF2-4D04-B491-591800612D21}"/>
              </a:ext>
            </a:extLst>
          </p:cNvPr>
          <p:cNvSpPr>
            <a:spLocks noGrp="1"/>
          </p:cNvSpPr>
          <p:nvPr>
            <p:ph sz="half" idx="1"/>
          </p:nvPr>
        </p:nvSpPr>
        <p:spPr/>
        <p:txBody>
          <a:bodyPr/>
          <a:lstStyle/>
          <a:p>
            <a:endParaRPr lang="en-US"/>
          </a:p>
        </p:txBody>
      </p:sp>
      <p:sp>
        <p:nvSpPr>
          <p:cNvPr id="6" name="Content Placeholder 5">
            <a:extLst>
              <a:ext uri="{FF2B5EF4-FFF2-40B4-BE49-F238E27FC236}">
                <a16:creationId xmlns:a16="http://schemas.microsoft.com/office/drawing/2014/main" id="{4CBC9CAE-8C17-4293-A701-51D6779AC78A}"/>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1238389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9559AA-DB9D-4561-983D-642CE63ACC19}"/>
              </a:ext>
            </a:extLst>
          </p:cNvPr>
          <p:cNvSpPr>
            <a:spLocks noGrp="1"/>
          </p:cNvSpPr>
          <p:nvPr>
            <p:ph type="title"/>
          </p:nvPr>
        </p:nvSpPr>
        <p:spPr/>
        <p:txBody>
          <a:bodyPr>
            <a:normAutofit fontScale="90000"/>
          </a:bodyPr>
          <a:lstStyle/>
          <a:p>
            <a:r>
              <a:rPr lang="en-GB" dirty="0"/>
              <a:t>Complete program schedule and associated budget through Tollgate 8 and organize for successful program execution.</a:t>
            </a:r>
            <a:endParaRPr lang="en-US" dirty="0"/>
          </a:p>
        </p:txBody>
      </p:sp>
      <p:sp>
        <p:nvSpPr>
          <p:cNvPr id="5" name="Content Placeholder 4">
            <a:extLst>
              <a:ext uri="{FF2B5EF4-FFF2-40B4-BE49-F238E27FC236}">
                <a16:creationId xmlns:a16="http://schemas.microsoft.com/office/drawing/2014/main" id="{85740939-3EF2-4D04-B491-591800612D21}"/>
              </a:ext>
            </a:extLst>
          </p:cNvPr>
          <p:cNvSpPr>
            <a:spLocks noGrp="1"/>
          </p:cNvSpPr>
          <p:nvPr>
            <p:ph sz="half" idx="1"/>
          </p:nvPr>
        </p:nvSpPr>
        <p:spPr/>
        <p:txBody>
          <a:bodyPr/>
          <a:lstStyle/>
          <a:p>
            <a:endParaRPr lang="en-US"/>
          </a:p>
        </p:txBody>
      </p:sp>
      <p:sp>
        <p:nvSpPr>
          <p:cNvPr id="6" name="Content Placeholder 5">
            <a:extLst>
              <a:ext uri="{FF2B5EF4-FFF2-40B4-BE49-F238E27FC236}">
                <a16:creationId xmlns:a16="http://schemas.microsoft.com/office/drawing/2014/main" id="{4CBC9CAE-8C17-4293-A701-51D6779AC78A}"/>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900864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9559AA-DB9D-4561-983D-642CE63ACC19}"/>
              </a:ext>
            </a:extLst>
          </p:cNvPr>
          <p:cNvSpPr>
            <a:spLocks noGrp="1"/>
          </p:cNvSpPr>
          <p:nvPr>
            <p:ph type="title"/>
          </p:nvPr>
        </p:nvSpPr>
        <p:spPr/>
        <p:txBody>
          <a:bodyPr>
            <a:normAutofit fontScale="90000"/>
          </a:bodyPr>
          <a:lstStyle/>
          <a:p>
            <a:r>
              <a:rPr lang="en-GB" dirty="0"/>
              <a:t>Obtain organizational execution commitment and readiness to support the achievement of the program execution plan with required resource levels and resource availability.</a:t>
            </a:r>
            <a:endParaRPr lang="en-US" dirty="0"/>
          </a:p>
        </p:txBody>
      </p:sp>
      <p:sp>
        <p:nvSpPr>
          <p:cNvPr id="5" name="Content Placeholder 4">
            <a:extLst>
              <a:ext uri="{FF2B5EF4-FFF2-40B4-BE49-F238E27FC236}">
                <a16:creationId xmlns:a16="http://schemas.microsoft.com/office/drawing/2014/main" id="{85740939-3EF2-4D04-B491-591800612D21}"/>
              </a:ext>
            </a:extLst>
          </p:cNvPr>
          <p:cNvSpPr>
            <a:spLocks noGrp="1"/>
          </p:cNvSpPr>
          <p:nvPr>
            <p:ph sz="half" idx="1"/>
          </p:nvPr>
        </p:nvSpPr>
        <p:spPr/>
        <p:txBody>
          <a:bodyPr/>
          <a:lstStyle/>
          <a:p>
            <a:endParaRPr lang="en-US"/>
          </a:p>
        </p:txBody>
      </p:sp>
      <p:sp>
        <p:nvSpPr>
          <p:cNvPr id="6" name="Content Placeholder 5">
            <a:extLst>
              <a:ext uri="{FF2B5EF4-FFF2-40B4-BE49-F238E27FC236}">
                <a16:creationId xmlns:a16="http://schemas.microsoft.com/office/drawing/2014/main" id="{4CBC9CAE-8C17-4293-A701-51D6779AC78A}"/>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3522780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9559AA-DB9D-4561-983D-642CE63ACC19}"/>
              </a:ext>
            </a:extLst>
          </p:cNvPr>
          <p:cNvSpPr>
            <a:spLocks noGrp="1"/>
          </p:cNvSpPr>
          <p:nvPr>
            <p:ph type="title"/>
          </p:nvPr>
        </p:nvSpPr>
        <p:spPr/>
        <p:txBody>
          <a:bodyPr>
            <a:normAutofit fontScale="90000"/>
          </a:bodyPr>
          <a:lstStyle/>
          <a:p>
            <a:r>
              <a:rPr lang="en-GB" dirty="0"/>
              <a:t>Identify critical suppliers and components, manufacturing and sourcing constraints, manufacturing and logistics capability analysis for the product concept design.</a:t>
            </a:r>
            <a:endParaRPr lang="en-US" dirty="0"/>
          </a:p>
        </p:txBody>
      </p:sp>
      <p:sp>
        <p:nvSpPr>
          <p:cNvPr id="5" name="Content Placeholder 4">
            <a:extLst>
              <a:ext uri="{FF2B5EF4-FFF2-40B4-BE49-F238E27FC236}">
                <a16:creationId xmlns:a16="http://schemas.microsoft.com/office/drawing/2014/main" id="{85740939-3EF2-4D04-B491-591800612D21}"/>
              </a:ext>
            </a:extLst>
          </p:cNvPr>
          <p:cNvSpPr>
            <a:spLocks noGrp="1"/>
          </p:cNvSpPr>
          <p:nvPr>
            <p:ph sz="half" idx="1"/>
          </p:nvPr>
        </p:nvSpPr>
        <p:spPr/>
        <p:txBody>
          <a:bodyPr/>
          <a:lstStyle/>
          <a:p>
            <a:endParaRPr lang="en-US" dirty="0"/>
          </a:p>
        </p:txBody>
      </p:sp>
      <p:sp>
        <p:nvSpPr>
          <p:cNvPr id="6" name="Content Placeholder 5">
            <a:extLst>
              <a:ext uri="{FF2B5EF4-FFF2-40B4-BE49-F238E27FC236}">
                <a16:creationId xmlns:a16="http://schemas.microsoft.com/office/drawing/2014/main" id="{4CBC9CAE-8C17-4293-A701-51D6779AC78A}"/>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1280803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9559AA-DB9D-4561-983D-642CE63ACC19}"/>
              </a:ext>
            </a:extLst>
          </p:cNvPr>
          <p:cNvSpPr>
            <a:spLocks noGrp="1"/>
          </p:cNvSpPr>
          <p:nvPr>
            <p:ph type="title"/>
          </p:nvPr>
        </p:nvSpPr>
        <p:spPr/>
        <p:txBody>
          <a:bodyPr>
            <a:normAutofit fontScale="90000"/>
          </a:bodyPr>
          <a:lstStyle/>
          <a:p>
            <a:r>
              <a:rPr lang="en-GB" dirty="0"/>
              <a:t>Update business case and initial commercialization plan, including channel strategy.</a:t>
            </a:r>
            <a:endParaRPr lang="en-US" dirty="0"/>
          </a:p>
        </p:txBody>
      </p:sp>
      <p:sp>
        <p:nvSpPr>
          <p:cNvPr id="5" name="Content Placeholder 4">
            <a:extLst>
              <a:ext uri="{FF2B5EF4-FFF2-40B4-BE49-F238E27FC236}">
                <a16:creationId xmlns:a16="http://schemas.microsoft.com/office/drawing/2014/main" id="{85740939-3EF2-4D04-B491-591800612D21}"/>
              </a:ext>
            </a:extLst>
          </p:cNvPr>
          <p:cNvSpPr>
            <a:spLocks noGrp="1"/>
          </p:cNvSpPr>
          <p:nvPr>
            <p:ph sz="half" idx="1"/>
          </p:nvPr>
        </p:nvSpPr>
        <p:spPr/>
        <p:txBody>
          <a:bodyPr/>
          <a:lstStyle/>
          <a:p>
            <a:endParaRPr lang="en-US" dirty="0"/>
          </a:p>
        </p:txBody>
      </p:sp>
      <p:sp>
        <p:nvSpPr>
          <p:cNvPr id="6" name="Content Placeholder 5">
            <a:extLst>
              <a:ext uri="{FF2B5EF4-FFF2-40B4-BE49-F238E27FC236}">
                <a16:creationId xmlns:a16="http://schemas.microsoft.com/office/drawing/2014/main" id="{4CBC9CAE-8C17-4293-A701-51D6779AC78A}"/>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33580970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284BF05-AECA-4E73-AED8-8C4CC0FF279C}"/>
              </a:ext>
            </a:extLst>
          </p:cNvPr>
          <p:cNvSpPr>
            <a:spLocks noGrp="1"/>
          </p:cNvSpPr>
          <p:nvPr>
            <p:ph type="title"/>
          </p:nvPr>
        </p:nvSpPr>
        <p:spPr/>
        <p:txBody>
          <a:bodyPr/>
          <a:lstStyle/>
          <a:p>
            <a:r>
              <a:rPr lang="en-GB" dirty="0"/>
              <a:t>TG 3 Review deliverables</a:t>
            </a:r>
            <a:endParaRPr lang="en-US" dirty="0"/>
          </a:p>
        </p:txBody>
      </p:sp>
      <p:sp>
        <p:nvSpPr>
          <p:cNvPr id="6" name="Content Placeholder 5">
            <a:extLst>
              <a:ext uri="{FF2B5EF4-FFF2-40B4-BE49-F238E27FC236}">
                <a16:creationId xmlns:a16="http://schemas.microsoft.com/office/drawing/2014/main" id="{71813CE1-856B-4307-A1E2-B4B26FB41B7B}"/>
              </a:ext>
            </a:extLst>
          </p:cNvPr>
          <p:cNvSpPr>
            <a:spLocks noGrp="1"/>
          </p:cNvSpPr>
          <p:nvPr>
            <p:ph idx="1"/>
          </p:nvPr>
        </p:nvSpPr>
        <p:spPr/>
        <p:txBody>
          <a:bodyPr>
            <a:normAutofit fontScale="62500" lnSpcReduction="20000"/>
          </a:bodyPr>
          <a:lstStyle/>
          <a:p>
            <a:r>
              <a:rPr lang="en-GB" dirty="0"/>
              <a:t>Conduct and complete the </a:t>
            </a:r>
            <a:r>
              <a:rPr lang="en-GB" dirty="0" err="1"/>
              <a:t>HazOp</a:t>
            </a:r>
            <a:r>
              <a:rPr lang="en-GB" dirty="0"/>
              <a:t> safety review.</a:t>
            </a:r>
          </a:p>
          <a:p>
            <a:r>
              <a:rPr lang="en-GB" dirty="0"/>
              <a:t>An assessment of the operability of the recommended product in relation to customer and regulatory requirements (including deliverables to assure TR&amp;S compliance) per OGQ-0109 – Technical Regulations &amp; Standards.</a:t>
            </a:r>
          </a:p>
          <a:p>
            <a:r>
              <a:rPr lang="en-GB" dirty="0"/>
              <a:t>First-pass manufacturing and sourcing assessment of conceptual product design.</a:t>
            </a:r>
          </a:p>
          <a:p>
            <a:r>
              <a:rPr lang="en-GB" dirty="0"/>
              <a:t>Updated product and service business case, product strategy, MGPP, incremental sales plan/CM/unit forecast by Region, NPV assessment.</a:t>
            </a:r>
          </a:p>
          <a:p>
            <a:r>
              <a:rPr lang="en-GB" dirty="0"/>
              <a:t> Finalized Intellectual property strategy at configuration/system/components level to ensure that primary value of the NPI will be secured through appropriate IP protection.</a:t>
            </a:r>
          </a:p>
          <a:p>
            <a:r>
              <a:rPr lang="en-GB" dirty="0"/>
              <a:t>Sign-off by the business IP attorney that the patent search methodology and resultant word search strings used to research 3rd  party patent infringement are consistent with patent infringement policies and have yielded results sufficient to assess program patent infringement risk, as determined by Legal.</a:t>
            </a:r>
          </a:p>
          <a:p>
            <a:r>
              <a:rPr lang="en-GB" dirty="0"/>
              <a:t>A communications landscape assessment used to begin construction of the strategic communications plan.</a:t>
            </a:r>
          </a:p>
          <a:p>
            <a:r>
              <a:rPr lang="en-GB" dirty="0"/>
              <a:t>Issue </a:t>
            </a:r>
            <a:r>
              <a:rPr lang="en-GB" dirty="0" err="1"/>
              <a:t>ATQi</a:t>
            </a:r>
            <a:r>
              <a:rPr lang="en-GB" dirty="0"/>
              <a:t> (if applicable, see paragraph 3.9.5).</a:t>
            </a:r>
          </a:p>
        </p:txBody>
      </p:sp>
    </p:spTree>
    <p:extLst>
      <p:ext uri="{BB962C8B-B14F-4D97-AF65-F5344CB8AC3E}">
        <p14:creationId xmlns:p14="http://schemas.microsoft.com/office/powerpoint/2010/main" val="32292560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284BF05-AECA-4E73-AED8-8C4CC0FF279C}"/>
              </a:ext>
            </a:extLst>
          </p:cNvPr>
          <p:cNvSpPr>
            <a:spLocks noGrp="1"/>
          </p:cNvSpPr>
          <p:nvPr>
            <p:ph type="title"/>
          </p:nvPr>
        </p:nvSpPr>
        <p:spPr/>
        <p:txBody>
          <a:bodyPr/>
          <a:lstStyle/>
          <a:p>
            <a:r>
              <a:rPr lang="en-GB" dirty="0"/>
              <a:t>Activities Authorized by Approval of Tollgate 3</a:t>
            </a:r>
            <a:endParaRPr lang="en-US" dirty="0"/>
          </a:p>
        </p:txBody>
      </p:sp>
      <p:sp>
        <p:nvSpPr>
          <p:cNvPr id="6" name="Content Placeholder 5">
            <a:extLst>
              <a:ext uri="{FF2B5EF4-FFF2-40B4-BE49-F238E27FC236}">
                <a16:creationId xmlns:a16="http://schemas.microsoft.com/office/drawing/2014/main" id="{71813CE1-856B-4307-A1E2-B4B26FB41B7B}"/>
              </a:ext>
            </a:extLst>
          </p:cNvPr>
          <p:cNvSpPr>
            <a:spLocks noGrp="1"/>
          </p:cNvSpPr>
          <p:nvPr>
            <p:ph idx="1"/>
          </p:nvPr>
        </p:nvSpPr>
        <p:spPr/>
        <p:txBody>
          <a:bodyPr>
            <a:normAutofit/>
          </a:bodyPr>
          <a:lstStyle/>
          <a:p>
            <a:r>
              <a:rPr lang="en-GB" dirty="0"/>
              <a:t>Commitment of resources and funding to start preliminary design phase.</a:t>
            </a:r>
          </a:p>
          <a:p>
            <a:r>
              <a:rPr lang="en-GB" dirty="0"/>
              <a:t>Each cross-functional organization shall execute their respective detailed executable program schedule activities through TG 4.</a:t>
            </a:r>
          </a:p>
          <a:p>
            <a:r>
              <a:rPr lang="en-GB" dirty="0"/>
              <a:t>Execute detail Program Schedule activities through TG 4.</a:t>
            </a:r>
          </a:p>
          <a:p>
            <a:r>
              <a:rPr lang="en-GB" dirty="0"/>
              <a:t>Release of long-lead material procurement for production and testing.</a:t>
            </a:r>
          </a:p>
          <a:p>
            <a:r>
              <a:rPr lang="en-GB" dirty="0"/>
              <a:t>Release of investment funding for plant and equipment to support product introduction and testing.</a:t>
            </a:r>
            <a:endParaRPr lang="en-US" dirty="0"/>
          </a:p>
        </p:txBody>
      </p:sp>
    </p:spTree>
    <p:extLst>
      <p:ext uri="{BB962C8B-B14F-4D97-AF65-F5344CB8AC3E}">
        <p14:creationId xmlns:p14="http://schemas.microsoft.com/office/powerpoint/2010/main" val="32119423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1015</TotalTime>
  <Words>464</Words>
  <Application>Microsoft Office PowerPoint</Application>
  <PresentationFormat>Widescreen</PresentationFormat>
  <Paragraphs>29</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Validated market size and product/service business case</vt:lpstr>
      <vt:lpstr>Validated technical assumptions – product options</vt:lpstr>
      <vt:lpstr>Conclude evaluation of design alternatives, down-select, and complete the product conceptual design that fulfils or has line-of-sight to fulfilling the PRD/PTS requirements.</vt:lpstr>
      <vt:lpstr>Finalize, approve, and freeze PRD/PTS (prior to conducting TG 3 review) complete program (Commercial and Technical) risk assessments and put in place plans to retire risks.</vt:lpstr>
      <vt:lpstr>Confirm all new technologies to be incorporated into the NPI product development have been developed, tested, and approved to apply to the NPI program.</vt:lpstr>
      <vt:lpstr>Initiate the Product Safety risk assessment, identify the scope of safety review, conduct and complete the Preliminary Hazard Assessment.</vt:lpstr>
      <vt:lpstr>Assess the applicable TR&amp;S and EHS regulatory environment.</vt:lpstr>
      <vt:lpstr>Complete program schedule and associated budget through Tollgate 8 and organize for successful program execution.</vt:lpstr>
      <vt:lpstr>Obtain organizational execution commitment and readiness to support the achievement of the program execution plan with required resource levels and resource availability.</vt:lpstr>
      <vt:lpstr>Identify critical suppliers and components, manufacturing and sourcing constraints, manufacturing and logistics capability analysis for the product concept design.</vt:lpstr>
      <vt:lpstr>Update business case and initial commercialization plan, including channel strategy.</vt:lpstr>
      <vt:lpstr>TG 3 Review deliverables</vt:lpstr>
      <vt:lpstr>Activities Authorized by Approval of Tollgate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Validated market size and product/service business case</dc:title>
  <dc:creator>Latto, James (BHGE)</dc:creator>
  <cp:lastModifiedBy>Latto, James (BHGE)</cp:lastModifiedBy>
  <cp:revision>2</cp:revision>
  <dcterms:created xsi:type="dcterms:W3CDTF">2017-09-26T15:41:00Z</dcterms:created>
  <dcterms:modified xsi:type="dcterms:W3CDTF">2017-09-27T08:36:27Z</dcterms:modified>
</cp:coreProperties>
</file>