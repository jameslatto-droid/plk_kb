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4" r:id="rId3"/>
    <p:sldId id="293" r:id="rId4"/>
    <p:sldId id="271" r:id="rId5"/>
    <p:sldId id="257" r:id="rId6"/>
    <p:sldId id="277" r:id="rId7"/>
    <p:sldId id="281" r:id="rId8"/>
    <p:sldId id="268" r:id="rId9"/>
    <p:sldId id="294" r:id="rId10"/>
    <p:sldId id="262" r:id="rId11"/>
    <p:sldId id="263" r:id="rId12"/>
    <p:sldId id="266" r:id="rId13"/>
    <p:sldId id="297" r:id="rId14"/>
    <p:sldId id="299" r:id="rId15"/>
    <p:sldId id="283" r:id="rId16"/>
    <p:sldId id="272" r:id="rId17"/>
    <p:sldId id="292" r:id="rId18"/>
    <p:sldId id="285" r:id="rId19"/>
    <p:sldId id="290" r:id="rId20"/>
    <p:sldId id="302" r:id="rId21"/>
    <p:sldId id="301" r:id="rId22"/>
    <p:sldId id="303" r:id="rId23"/>
    <p:sldId id="306" r:id="rId24"/>
    <p:sldId id="304" r:id="rId25"/>
    <p:sldId id="307" r:id="rId26"/>
    <p:sldId id="310" r:id="rId27"/>
  </p:sldIdLst>
  <p:sldSz cx="9144000" cy="6858000" type="screen4x3"/>
  <p:notesSz cx="6858000" cy="9144000"/>
  <p:custDataLst>
    <p:tags r:id="rId30"/>
  </p:custData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31"/>
    <a:srgbClr val="D60093"/>
    <a:srgbClr val="256EB9"/>
    <a:srgbClr val="00AEC6"/>
    <a:srgbClr val="009900"/>
    <a:srgbClr val="FF7C80"/>
    <a:srgbClr val="9FEB43"/>
    <a:srgbClr val="FFFF99"/>
    <a:srgbClr val="CCFF9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napToObjects="1">
      <p:cViewPr varScale="1">
        <p:scale>
          <a:sx n="97" d="100"/>
          <a:sy n="97" d="100"/>
        </p:scale>
        <p:origin x="-114" y="-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-37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BC17B63A-D33D-47C3-8674-19507A487A5D}" type="datetimeFigureOut">
              <a:rPr lang="sv-SE"/>
              <a:pPr>
                <a:defRPr/>
              </a:pPr>
              <a:t>2016-07-29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4CD8B51B-8C9E-42E5-9DC7-3414AA90BA9E}" type="slidenum">
              <a:rPr lang="sv-SE"/>
              <a:pPr>
                <a:defRPr/>
              </a:pPr>
              <a:t>‹Nr.›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2950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D4F3A608-8794-42E9-A208-4D47537B111C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9762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5D5794C3-B1A9-4C06-9B4A-663AF598134E}" type="slidenum">
              <a:rPr lang="en-GB" sz="1200" smtClean="0"/>
              <a:pPr/>
              <a:t>1</a:t>
            </a:fld>
            <a:endParaRPr lang="en-GB" sz="120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89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B1695A28-EE75-4478-A4B9-20153D6A8F0D}" type="slidenum">
              <a:rPr lang="en-GB" sz="1200" smtClean="0"/>
              <a:pPr/>
              <a:t>2</a:t>
            </a:fld>
            <a:endParaRPr lang="en-GB" sz="120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11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51A9B496-D5DB-4D62-92CC-CE69ABAAB113}" type="slidenum">
              <a:rPr lang="en-GB" sz="1200" smtClean="0"/>
              <a:pPr/>
              <a:t>3</a:t>
            </a:fld>
            <a:endParaRPr lang="en-GB" sz="120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717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DCE3A27-163C-43F7-AACD-332AD6DA9B25}" type="slidenum">
              <a:rPr lang="en-GB" sz="1200" smtClean="0"/>
              <a:pPr/>
              <a:t>4</a:t>
            </a:fld>
            <a:endParaRPr lang="en-GB" sz="120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814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C91819C-288E-47DA-8EA7-A23220D5E8A4}" type="slidenum">
              <a:rPr lang="en-GB" sz="1200" smtClean="0"/>
              <a:pPr/>
              <a:t>5</a:t>
            </a:fld>
            <a:endParaRPr lang="en-GB" sz="120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081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DC597196-6F55-45AC-B086-9ABB82E4D872}" type="slidenum">
              <a:rPr lang="en-GB" sz="1200" smtClean="0"/>
              <a:pPr/>
              <a:t>6</a:t>
            </a:fld>
            <a:endParaRPr lang="en-GB" sz="120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917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E2983D8-32A0-456E-A1EA-C799FAC5923B}" type="slidenum">
              <a:rPr lang="en-GB" sz="1200" smtClean="0"/>
              <a:pPr/>
              <a:t>7</a:t>
            </a:fld>
            <a:endParaRPr lang="en-GB" sz="12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371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5AEA12C9-1550-457D-A49B-304857686472}" type="slidenum">
              <a:rPr lang="en-GB" sz="1200" smtClean="0"/>
              <a:pPr/>
              <a:t>8</a:t>
            </a:fld>
            <a:endParaRPr lang="en-GB" sz="120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499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53D75A2-7E15-4E89-B52F-C9007FE0710E}" type="slidenum">
              <a:rPr lang="en-GB" sz="1200" smtClean="0"/>
              <a:pPr/>
              <a:t>9</a:t>
            </a:fld>
            <a:endParaRPr lang="en-GB" sz="12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30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6F8DEF61-E882-4ED0-A0CA-0A368B4315C1}" type="slidenum">
              <a:rPr lang="en-GB" sz="1200" smtClean="0"/>
              <a:pPr/>
              <a:t>10</a:t>
            </a:fld>
            <a:endParaRPr lang="en-GB" sz="120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769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5D2B5425-4D69-4FA1-AED1-C3112BA67BF9}" type="slidenum">
              <a:rPr lang="en-GB" sz="1200" smtClean="0"/>
              <a:pPr/>
              <a:t>11</a:t>
            </a:fld>
            <a:endParaRPr lang="en-GB" sz="120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471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F7AA10BE-8D32-4D0E-924C-24FDFED50C52}" type="slidenum">
              <a:rPr lang="en-GB" sz="1200" smtClean="0"/>
              <a:pPr/>
              <a:t>12</a:t>
            </a:fld>
            <a:endParaRPr lang="en-GB" sz="1200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334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48721EAC-E899-456A-AC6D-392D798385D7}" type="slidenum">
              <a:rPr lang="en-GB" sz="1200" smtClean="0"/>
              <a:pPr/>
              <a:t>13</a:t>
            </a:fld>
            <a:endParaRPr lang="en-GB" sz="12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1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0839341D-9B7B-4271-8DF5-995E6F2F06E4}" type="slidenum">
              <a:rPr lang="en-GB" sz="1200" smtClean="0"/>
              <a:pPr/>
              <a:t>14</a:t>
            </a:fld>
            <a:endParaRPr lang="en-GB" sz="120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707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3B1D63AB-829A-4AA4-8810-199994AFECB4}" type="slidenum">
              <a:rPr lang="en-GB" sz="1200" smtClean="0"/>
              <a:pPr/>
              <a:t>15</a:t>
            </a:fld>
            <a:endParaRPr lang="en-GB" sz="120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48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7D546B2F-AC30-41DD-9E4D-0DD532FBA114}" type="slidenum">
              <a:rPr lang="en-GB" sz="1200" smtClean="0"/>
              <a:pPr/>
              <a:t>16</a:t>
            </a:fld>
            <a:endParaRPr lang="en-GB" sz="1200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28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D546376F-28B7-492A-ADE8-993EDCCD992F}" type="slidenum">
              <a:rPr lang="en-GB" sz="1200" smtClean="0"/>
              <a:pPr/>
              <a:t>17</a:t>
            </a:fld>
            <a:endParaRPr lang="en-GB" sz="120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071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323B6B8A-A9B0-44FF-A083-B388C6C32E89}" type="slidenum">
              <a:rPr lang="en-GB" sz="1200" smtClean="0"/>
              <a:pPr/>
              <a:t>18</a:t>
            </a:fld>
            <a:endParaRPr lang="en-GB" sz="1200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74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A41775C5-65C2-431C-A702-3058E5381C4D}" type="slidenum">
              <a:rPr lang="en-GB" sz="1200" smtClean="0"/>
              <a:pPr/>
              <a:t>19</a:t>
            </a:fld>
            <a:endParaRPr lang="en-GB" sz="120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867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8EBF0592-531C-4434-9519-248691807200}" type="slidenum">
              <a:rPr lang="en-GB" sz="1200" smtClean="0"/>
              <a:pPr/>
              <a:t>20</a:t>
            </a:fld>
            <a:endParaRPr lang="en-GB" sz="1200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8329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768C02B9-C2CC-41E8-B198-D6470945DF1B}" type="slidenum">
              <a:rPr lang="en-GB" sz="1200" smtClean="0"/>
              <a:pPr/>
              <a:t>21</a:t>
            </a:fld>
            <a:endParaRPr lang="en-GB" sz="120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099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17EEA5C2-F730-46C6-88EE-CCC09FA397C6}" type="slidenum">
              <a:rPr lang="en-GB" sz="1200" smtClean="0"/>
              <a:pPr/>
              <a:t>22</a:t>
            </a:fld>
            <a:endParaRPr lang="en-GB" sz="120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6272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3A71A761-3AB1-4959-B7FC-5A8BDA29AB36}" type="slidenum">
              <a:rPr lang="en-GB" sz="1200" smtClean="0"/>
              <a:pPr/>
              <a:t>23</a:t>
            </a:fld>
            <a:endParaRPr lang="en-GB" sz="1200" smtClean="0"/>
          </a:p>
        </p:txBody>
      </p:sp>
      <p:sp>
        <p:nvSpPr>
          <p:cNvPr id="522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2853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0F917C65-D6D1-4F74-A3ED-A72557C439A3}" type="slidenum">
              <a:rPr lang="en-GB" sz="1200" smtClean="0"/>
              <a:pPr/>
              <a:t>24</a:t>
            </a:fld>
            <a:endParaRPr lang="en-GB" sz="120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295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F3AEB2BF-A594-42BD-808B-2A5D0732FBAC}" type="slidenum">
              <a:rPr lang="en-GB" sz="1200" smtClean="0"/>
              <a:pPr/>
              <a:t>25</a:t>
            </a:fld>
            <a:endParaRPr lang="en-GB" sz="1200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608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8E5AB608-58D8-47D5-9D00-F83A278E4ED7}" type="slidenum">
              <a:rPr lang="en-GB" sz="1200" smtClean="0"/>
              <a:pPr/>
              <a:t>26</a:t>
            </a:fld>
            <a:endParaRPr lang="en-GB" sz="1200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218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D34FA-D7A8-45BA-8FC5-0671656A65DC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18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52CB0-ED00-40EC-BE13-D3FA48105736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95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8902B-D537-4036-BE9A-D4B8302D5C1C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00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5CD44-D4CB-407F-9141-4FB52B4257C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7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96ECB-33F9-41F5-B9E0-01B989A27E87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4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B733E-BEEA-4DF4-BCF4-D081317B0C30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2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42BA4-C32F-4E8F-8E4F-147204A2D731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59832" y="6525344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661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CB5D3D-BF22-4116-860E-E188648E202C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v-SE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19082-5CFF-4683-8420-74830798AED2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20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F9613-8F54-42AA-92DC-9BAB03E037BD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31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49B59-2156-4503-9EB5-24B4E0252392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4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fld id="{424776F8-3A26-4639-9BB0-CDBAEFD6CF82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71"/>
          <p:cNvSpPr>
            <a:spLocks noChangeArrowheads="1"/>
          </p:cNvSpPr>
          <p:nvPr/>
        </p:nvSpPr>
        <p:spPr bwMode="auto">
          <a:xfrm>
            <a:off x="3317875" y="1052736"/>
            <a:ext cx="4782517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lr>
                <a:schemeClr val="bg1"/>
              </a:buClr>
              <a:buSzPct val="25000"/>
            </a:pPr>
            <a:r>
              <a:rPr lang="en-US" sz="2000" b="1" dirty="0">
                <a:solidFill>
                  <a:srgbClr val="00AEC6"/>
                </a:solidFill>
              </a:rPr>
              <a:t>Pre-study program</a:t>
            </a:r>
            <a:endParaRPr lang="en-US" sz="2900" b="1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Clr>
                <a:schemeClr val="bg1"/>
              </a:buClr>
              <a:buSzPct val="25000"/>
            </a:pPr>
            <a:r>
              <a:rPr lang="en-US" sz="1100" dirty="0"/>
              <a:t>You are (most likely) planning to participate in the business simulation Celemi </a:t>
            </a:r>
            <a:r>
              <a:rPr lang="en-US" sz="1100" dirty="0" err="1"/>
              <a:t>Enterprise</a:t>
            </a:r>
            <a:r>
              <a:rPr lang="en-US" sz="1100" baseline="30000" dirty="0" err="1"/>
              <a:t>TM</a:t>
            </a:r>
            <a:r>
              <a:rPr lang="en-US" sz="1100" dirty="0"/>
              <a:t>. You will be a member of the management team of </a:t>
            </a:r>
            <a:r>
              <a:rPr lang="en-US" sz="1100" dirty="0" smtClean="0"/>
              <a:t/>
            </a:r>
            <a:br>
              <a:rPr lang="en-US" sz="1100" dirty="0" smtClean="0"/>
            </a:br>
            <a:r>
              <a:rPr lang="en-US" sz="1100" dirty="0" smtClean="0"/>
              <a:t>one </a:t>
            </a:r>
            <a:r>
              <a:rPr lang="en-US" sz="1100" dirty="0"/>
              <a:t>of the competing companies. Your challenge is to create long term stakeholder value in tough competition against at least three other companies.</a:t>
            </a:r>
          </a:p>
          <a:p>
            <a:pPr>
              <a:spcAft>
                <a:spcPts val="800"/>
              </a:spcAft>
              <a:buClr>
                <a:schemeClr val="bg1"/>
              </a:buClr>
              <a:buSzPct val="25000"/>
            </a:pPr>
            <a:r>
              <a:rPr lang="en-US" sz="1100" dirty="0"/>
              <a:t>The purpose of this </a:t>
            </a:r>
            <a:r>
              <a:rPr lang="en-US" sz="1100" b="1" dirty="0"/>
              <a:t>Pre-study program</a:t>
            </a:r>
            <a:r>
              <a:rPr lang="en-US" sz="1100" dirty="0"/>
              <a:t> is to let you be better prepared for the actual simulation. As a result you will not only be better equipped to make the right decisions, you will also need less time to get up to speed.</a:t>
            </a:r>
            <a:endParaRPr lang="en-US" sz="1400" b="1" dirty="0"/>
          </a:p>
          <a:p>
            <a:pPr>
              <a:spcAft>
                <a:spcPts val="800"/>
              </a:spcAft>
            </a:pPr>
            <a:r>
              <a:rPr lang="en-US" sz="1100" dirty="0"/>
              <a:t>We will walk you through the basics, step by step: What is it about? How does it work? How do you win the battle for customers…?</a:t>
            </a:r>
          </a:p>
          <a:p>
            <a:pPr>
              <a:spcAft>
                <a:spcPts val="800"/>
              </a:spcAft>
            </a:pPr>
            <a:r>
              <a:rPr lang="en-US" sz="1100" dirty="0"/>
              <a:t>You will find an overview of the content when you click </a:t>
            </a:r>
            <a:r>
              <a:rPr lang="en-US" sz="1100" b="1" i="1" dirty="0"/>
              <a:t>“Next</a:t>
            </a:r>
            <a:r>
              <a:rPr lang="en-US" sz="1100" b="1" dirty="0"/>
              <a:t>”</a:t>
            </a:r>
            <a:r>
              <a:rPr lang="en-US" sz="1100" dirty="0"/>
              <a:t> below</a:t>
            </a:r>
            <a:r>
              <a:rPr lang="en-US" sz="11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221" name="AutoShape 17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68344" y="6215033"/>
            <a:ext cx="1008062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pic>
        <p:nvPicPr>
          <p:cNvPr id="2052" name="Picture 169" descr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464" r="1178" b="392"/>
          <a:stretch>
            <a:fillRect/>
          </a:stretch>
        </p:blipFill>
        <p:spPr bwMode="auto">
          <a:xfrm>
            <a:off x="0" y="0"/>
            <a:ext cx="27447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875" y="188640"/>
            <a:ext cx="4965700" cy="439112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59832" y="6525344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416300" y="876300"/>
            <a:ext cx="4965700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ts val="800"/>
              </a:spcAft>
              <a:buClr>
                <a:schemeClr val="bg1"/>
              </a:buClr>
              <a:buSzPct val="25000"/>
              <a:tabLst>
                <a:tab pos="287338" algn="l"/>
              </a:tabLst>
            </a:pPr>
            <a:r>
              <a:rPr lang="en-US" sz="2000" b="1" dirty="0">
                <a:solidFill>
                  <a:schemeClr val="bg1"/>
                </a:solidFill>
              </a:rPr>
              <a:t>A guided tour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br>
              <a:rPr lang="en-US" sz="1400" b="1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rgbClr val="00AEC6"/>
                </a:solidFill>
              </a:rPr>
              <a:t>About 15 minutes.</a:t>
            </a:r>
            <a:br>
              <a:rPr lang="en-US" sz="1200" dirty="0">
                <a:solidFill>
                  <a:srgbClr val="00AEC6"/>
                </a:solidFill>
              </a:rPr>
            </a:br>
            <a:endParaRPr lang="en-US" sz="1400" b="1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Clr>
                <a:schemeClr val="bg1"/>
              </a:buClr>
              <a:buSzPct val="25000"/>
              <a:tabLst>
                <a:tab pos="287338" algn="l"/>
              </a:tabLst>
            </a:pPr>
            <a:r>
              <a:rPr lang="en-US" sz="1200" b="1" dirty="0">
                <a:solidFill>
                  <a:srgbClr val="00AEC6"/>
                </a:solidFill>
              </a:rPr>
              <a:t>CONTENTS:</a:t>
            </a:r>
            <a:endParaRPr lang="en-US" sz="1400" b="1" dirty="0">
              <a:solidFill>
                <a:srgbClr val="00AEC6"/>
              </a:solidFill>
            </a:endParaRPr>
          </a:p>
          <a:p>
            <a:pPr marL="307975" lvl="1" indent="-306388">
              <a:lnSpc>
                <a:spcPct val="110000"/>
              </a:lnSpc>
              <a:spcAft>
                <a:spcPts val="800"/>
              </a:spcAft>
              <a:buFont typeface="Arial" pitchFamily="34" charset="0"/>
              <a:buNone/>
              <a:tabLst>
                <a:tab pos="287338" algn="l"/>
              </a:tabLst>
            </a:pPr>
            <a:r>
              <a:rPr lang="en-US" sz="1300" b="1" dirty="0">
                <a:solidFill>
                  <a:srgbClr val="00AEC6"/>
                </a:solidFill>
              </a:rPr>
              <a:t>1. 	In a nutshell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What the simulation is all about. The key elements when competing for customers.</a:t>
            </a:r>
          </a:p>
          <a:p>
            <a:pPr marL="307975" lvl="1" indent="-306388">
              <a:lnSpc>
                <a:spcPct val="110000"/>
              </a:lnSpc>
              <a:spcAft>
                <a:spcPts val="800"/>
              </a:spcAft>
              <a:buFont typeface="Arial" pitchFamily="34" charset="0"/>
              <a:buNone/>
              <a:tabLst>
                <a:tab pos="287338" algn="l"/>
              </a:tabLst>
            </a:pPr>
            <a:r>
              <a:rPr lang="en-US" sz="1300" b="1" dirty="0">
                <a:solidFill>
                  <a:srgbClr val="00AEC6"/>
                </a:solidFill>
              </a:rPr>
              <a:t>2. 	Customer segments</a:t>
            </a:r>
            <a:r>
              <a:rPr lang="en-US" sz="1300" b="1" dirty="0"/>
              <a:t/>
            </a:r>
            <a:br>
              <a:rPr lang="en-US" sz="1300" b="1" dirty="0"/>
            </a:br>
            <a:r>
              <a:rPr lang="en-US" sz="1100" dirty="0"/>
              <a:t>What the customers have in common and what makes them different. </a:t>
            </a:r>
          </a:p>
          <a:p>
            <a:pPr marL="307975" lvl="1" indent="-306388">
              <a:lnSpc>
                <a:spcPct val="110000"/>
              </a:lnSpc>
              <a:spcAft>
                <a:spcPts val="800"/>
              </a:spcAft>
              <a:buFont typeface="Arial" pitchFamily="34" charset="0"/>
              <a:buNone/>
              <a:tabLst>
                <a:tab pos="287338" algn="l"/>
              </a:tabLst>
            </a:pPr>
            <a:r>
              <a:rPr lang="en-US" sz="1300" b="1" dirty="0">
                <a:solidFill>
                  <a:srgbClr val="00AEC6"/>
                </a:solidFill>
              </a:rPr>
              <a:t>3. 	Customer </a:t>
            </a:r>
            <a:r>
              <a:rPr lang="en-US" sz="1300" b="1" dirty="0" err="1">
                <a:solidFill>
                  <a:srgbClr val="00AEC6"/>
                </a:solidFill>
              </a:rPr>
              <a:t>behaviour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 What makes the customer choose one supplier before another?</a:t>
            </a:r>
          </a:p>
          <a:p>
            <a:pPr marL="307975" lvl="1" indent="-306388">
              <a:lnSpc>
                <a:spcPct val="110000"/>
              </a:lnSpc>
              <a:spcAft>
                <a:spcPts val="800"/>
              </a:spcAft>
              <a:tabLst>
                <a:tab pos="287338" algn="l"/>
              </a:tabLst>
            </a:pPr>
            <a:r>
              <a:rPr lang="en-US" sz="1300" b="1" dirty="0">
                <a:solidFill>
                  <a:srgbClr val="00AEC6"/>
                </a:solidFill>
              </a:rPr>
              <a:t>4. 	Running the simulation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An overview of the decisions you will make each simulation year.</a:t>
            </a:r>
          </a:p>
          <a:p>
            <a:pPr marL="307975" lvl="1" indent="-306388">
              <a:lnSpc>
                <a:spcPct val="110000"/>
              </a:lnSpc>
              <a:spcAft>
                <a:spcPts val="800"/>
              </a:spcAft>
              <a:tabLst>
                <a:tab pos="287338" algn="l"/>
              </a:tabLst>
            </a:pPr>
            <a:r>
              <a:rPr lang="en-US" sz="1300" b="1" dirty="0">
                <a:solidFill>
                  <a:srgbClr val="00AEC6"/>
                </a:solidFill>
              </a:rPr>
              <a:t>5. 	Prepare for the real thing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A few things to ponder before you meet your team to run the actual simulation.</a:t>
            </a:r>
          </a:p>
          <a:p>
            <a:pPr marL="307975" lvl="1" indent="-306388">
              <a:lnSpc>
                <a:spcPct val="110000"/>
              </a:lnSpc>
              <a:spcAft>
                <a:spcPts val="800"/>
              </a:spcAft>
              <a:tabLst>
                <a:tab pos="287338" algn="l"/>
              </a:tabLst>
            </a:pPr>
            <a:endParaRPr lang="en-US" sz="500" dirty="0"/>
          </a:p>
          <a:p>
            <a:pPr>
              <a:spcAft>
                <a:spcPts val="800"/>
              </a:spcAft>
              <a:tabLst>
                <a:tab pos="287338" algn="l"/>
              </a:tabLst>
            </a:pPr>
            <a:r>
              <a:rPr lang="en-US" sz="1100" dirty="0"/>
              <a:t>To start, click </a:t>
            </a:r>
            <a:r>
              <a:rPr lang="en-US" sz="1100" b="1" i="1" dirty="0"/>
              <a:t>“Next</a:t>
            </a:r>
            <a:r>
              <a:rPr lang="en-US" sz="1100" b="1" dirty="0"/>
              <a:t>”</a:t>
            </a:r>
            <a:r>
              <a:rPr lang="en-US" sz="1100" dirty="0"/>
              <a:t> below.</a:t>
            </a:r>
          </a:p>
        </p:txBody>
      </p:sp>
      <p:pic>
        <p:nvPicPr>
          <p:cNvPr id="3075" name="Picture 4" descr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464" r="1178" b="392"/>
          <a:stretch>
            <a:fillRect/>
          </a:stretch>
        </p:blipFill>
        <p:spPr bwMode="auto">
          <a:xfrm>
            <a:off x="0" y="0"/>
            <a:ext cx="27447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AutoShape 7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40352" y="6226907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875" y="188640"/>
            <a:ext cx="4965700" cy="439112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59832" y="6525344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1" descr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464" r="1178" b="75301"/>
          <a:stretch>
            <a:fillRect/>
          </a:stretch>
        </p:blipFill>
        <p:spPr bwMode="auto">
          <a:xfrm>
            <a:off x="0" y="0"/>
            <a:ext cx="1789113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9" name="Group 3"/>
          <p:cNvGrpSpPr>
            <a:grpSpLocks/>
          </p:cNvGrpSpPr>
          <p:nvPr/>
        </p:nvGrpSpPr>
        <p:grpSpPr bwMode="auto">
          <a:xfrm>
            <a:off x="604838" y="1628775"/>
            <a:ext cx="8158162" cy="4848225"/>
            <a:chOff x="381" y="1026"/>
            <a:chExt cx="4707" cy="2208"/>
          </a:xfrm>
        </p:grpSpPr>
        <p:sp>
          <p:nvSpPr>
            <p:cNvPr id="4108" name="Line 4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09" name="Line 5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8070" name="AutoShape 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524328" y="6116638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2002394" y="386048"/>
            <a:ext cx="5191125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CHAPTER 1</a:t>
            </a:r>
          </a:p>
        </p:txBody>
      </p:sp>
      <p:sp>
        <p:nvSpPr>
          <p:cNvPr id="4102" name="Rectangle 10"/>
          <p:cNvSpPr>
            <a:spLocks noChangeArrowheads="1"/>
          </p:cNvSpPr>
          <p:nvPr/>
        </p:nvSpPr>
        <p:spPr bwMode="auto">
          <a:xfrm>
            <a:off x="652463" y="1365684"/>
            <a:ext cx="66103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00AEC6"/>
                </a:solidFill>
              </a:rPr>
              <a:t>In a nutshell</a:t>
            </a:r>
            <a:endParaRPr lang="en-GB" sz="2000" b="1" i="1" dirty="0">
              <a:solidFill>
                <a:srgbClr val="00AEC6"/>
              </a:solidFill>
            </a:endParaRPr>
          </a:p>
        </p:txBody>
      </p:sp>
      <p:sp>
        <p:nvSpPr>
          <p:cNvPr id="4103" name="Rectangle 13"/>
          <p:cNvSpPr>
            <a:spLocks noChangeArrowheads="1"/>
          </p:cNvSpPr>
          <p:nvPr/>
        </p:nvSpPr>
        <p:spPr bwMode="auto">
          <a:xfrm>
            <a:off x="652463" y="1828800"/>
            <a:ext cx="3081337" cy="6572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500" b="1" dirty="0">
                <a:solidFill>
                  <a:srgbClr val="00AEC6"/>
                </a:solidFill>
              </a:rPr>
              <a:t>In this chapter</a:t>
            </a:r>
            <a:r>
              <a:rPr lang="en-GB" sz="1500" dirty="0">
                <a:solidFill>
                  <a:schemeClr val="bg1"/>
                </a:solidFill>
              </a:rPr>
              <a:t>…</a:t>
            </a:r>
            <a:endParaRPr lang="en-GB" sz="11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1100" dirty="0"/>
              <a:t>… we will give you a brief introduction to the simulation and what it takes to win.</a:t>
            </a:r>
          </a:p>
        </p:txBody>
      </p:sp>
      <p:sp>
        <p:nvSpPr>
          <p:cNvPr id="88081" name="Rectangle 17"/>
          <p:cNvSpPr>
            <a:spLocks noChangeArrowheads="1"/>
          </p:cNvSpPr>
          <p:nvPr/>
        </p:nvSpPr>
        <p:spPr bwMode="auto">
          <a:xfrm>
            <a:off x="990600" y="2895600"/>
            <a:ext cx="2590800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0AEC6"/>
                </a:solidFill>
              </a:rPr>
              <a:t>What the simulation is all about</a:t>
            </a:r>
            <a:endParaRPr lang="en-GB" sz="1300" dirty="0">
              <a:solidFill>
                <a:srgbClr val="00AEC6"/>
              </a:solidFill>
            </a:endParaRPr>
          </a:p>
        </p:txBody>
      </p:sp>
      <p:sp>
        <p:nvSpPr>
          <p:cNvPr id="88083" name="Rectangle 19"/>
          <p:cNvSpPr>
            <a:spLocks noChangeArrowheads="1"/>
          </p:cNvSpPr>
          <p:nvPr/>
        </p:nvSpPr>
        <p:spPr bwMode="auto">
          <a:xfrm>
            <a:off x="990600" y="3290888"/>
            <a:ext cx="2590800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0AEC6"/>
                </a:solidFill>
              </a:rPr>
              <a:t>Your challenge as a team</a:t>
            </a:r>
            <a:endParaRPr lang="en-GB" sz="1300" dirty="0">
              <a:solidFill>
                <a:srgbClr val="00AEC6"/>
              </a:solidFill>
            </a:endParaRPr>
          </a:p>
        </p:txBody>
      </p:sp>
      <p:sp>
        <p:nvSpPr>
          <p:cNvPr id="88084" name="Rectangle 20"/>
          <p:cNvSpPr>
            <a:spLocks noChangeArrowheads="1"/>
          </p:cNvSpPr>
          <p:nvPr/>
        </p:nvSpPr>
        <p:spPr bwMode="auto">
          <a:xfrm>
            <a:off x="990600" y="3687763"/>
            <a:ext cx="2895600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0AEC6"/>
                </a:solidFill>
              </a:rPr>
              <a:t>The key elements in the simulation</a:t>
            </a:r>
            <a:endParaRPr lang="en-GB" sz="1300" dirty="0">
              <a:solidFill>
                <a:srgbClr val="00AEC6"/>
              </a:solidFill>
            </a:endParaRPr>
          </a:p>
        </p:txBody>
      </p:sp>
      <p:pic>
        <p:nvPicPr>
          <p:cNvPr id="13" name="Picture 305" descr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344" y="1587917"/>
            <a:ext cx="1482289" cy="2449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 bwMode="auto">
          <a:xfrm>
            <a:off x="0" y="1093787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AEC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animBg="1"/>
      <p:bldP spid="88081" grpId="0"/>
      <p:bldP spid="88083" grpId="0"/>
      <p:bldP spid="880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609600" y="1209675"/>
            <a:ext cx="2819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Let us start by establishing a few things that you already </a:t>
            </a:r>
            <a:r>
              <a:rPr lang="en-GB" sz="1100" dirty="0" smtClean="0"/>
              <a:t>know.</a:t>
            </a:r>
            <a:endParaRPr lang="en-GB" sz="1100" dirty="0"/>
          </a:p>
        </p:txBody>
      </p:sp>
      <p:grpSp>
        <p:nvGrpSpPr>
          <p:cNvPr id="32775" name="Group 7"/>
          <p:cNvGrpSpPr>
            <a:grpSpLocks/>
          </p:cNvGrpSpPr>
          <p:nvPr/>
        </p:nvGrpSpPr>
        <p:grpSpPr bwMode="auto">
          <a:xfrm>
            <a:off x="5003800" y="2133600"/>
            <a:ext cx="3251200" cy="2757488"/>
            <a:chOff x="2880" y="553"/>
            <a:chExt cx="2688" cy="2279"/>
          </a:xfrm>
        </p:grpSpPr>
        <p:sp>
          <p:nvSpPr>
            <p:cNvPr id="5151" name="AutoShape 8"/>
            <p:cNvSpPr>
              <a:spLocks noChangeArrowheads="1"/>
            </p:cNvSpPr>
            <p:nvPr/>
          </p:nvSpPr>
          <p:spPr bwMode="auto">
            <a:xfrm>
              <a:off x="3243" y="1008"/>
              <a:ext cx="1944" cy="1346"/>
            </a:xfrm>
            <a:prstGeom prst="triangle">
              <a:avLst>
                <a:gd name="adj" fmla="val 50000"/>
              </a:avLst>
            </a:prstGeom>
            <a:noFill/>
            <a:ln w="57150">
              <a:solidFill>
                <a:srgbClr val="0D95C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5152" name="Group 9"/>
            <p:cNvGrpSpPr>
              <a:grpSpLocks/>
            </p:cNvGrpSpPr>
            <p:nvPr/>
          </p:nvGrpSpPr>
          <p:grpSpPr bwMode="auto">
            <a:xfrm>
              <a:off x="2880" y="553"/>
              <a:ext cx="2688" cy="2275"/>
              <a:chOff x="2718" y="553"/>
              <a:chExt cx="2688" cy="2275"/>
            </a:xfrm>
          </p:grpSpPr>
          <p:sp>
            <p:nvSpPr>
              <p:cNvPr id="5160" name="Oval 10"/>
              <p:cNvSpPr>
                <a:spLocks noChangeArrowheads="1"/>
              </p:cNvSpPr>
              <p:nvPr/>
            </p:nvSpPr>
            <p:spPr bwMode="auto">
              <a:xfrm>
                <a:off x="2718" y="1967"/>
                <a:ext cx="861" cy="86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5161" name="Oval 11"/>
              <p:cNvSpPr>
                <a:spLocks noChangeArrowheads="1"/>
              </p:cNvSpPr>
              <p:nvPr/>
            </p:nvSpPr>
            <p:spPr bwMode="auto">
              <a:xfrm>
                <a:off x="4545" y="1967"/>
                <a:ext cx="861" cy="86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5162" name="Oval 12"/>
              <p:cNvSpPr>
                <a:spLocks noChangeArrowheads="1"/>
              </p:cNvSpPr>
              <p:nvPr/>
            </p:nvSpPr>
            <p:spPr bwMode="auto">
              <a:xfrm>
                <a:off x="3613" y="553"/>
                <a:ext cx="861" cy="86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grpSp>
          <p:nvGrpSpPr>
            <p:cNvPr id="5153" name="Group 13"/>
            <p:cNvGrpSpPr>
              <a:grpSpLocks/>
            </p:cNvGrpSpPr>
            <p:nvPr/>
          </p:nvGrpSpPr>
          <p:grpSpPr bwMode="auto">
            <a:xfrm>
              <a:off x="2880" y="557"/>
              <a:ext cx="2688" cy="2275"/>
              <a:chOff x="2880" y="557"/>
              <a:chExt cx="2688" cy="2275"/>
            </a:xfrm>
          </p:grpSpPr>
          <p:sp>
            <p:nvSpPr>
              <p:cNvPr id="5157" name="Oval 14"/>
              <p:cNvSpPr>
                <a:spLocks noChangeArrowheads="1"/>
              </p:cNvSpPr>
              <p:nvPr/>
            </p:nvSpPr>
            <p:spPr bwMode="auto">
              <a:xfrm>
                <a:off x="2880" y="1971"/>
                <a:ext cx="861" cy="861"/>
              </a:xfrm>
              <a:prstGeom prst="ellipse">
                <a:avLst/>
              </a:prstGeom>
              <a:solidFill>
                <a:srgbClr val="C2EBF4"/>
              </a:solidFill>
              <a:ln w="3810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5158" name="Oval 15"/>
              <p:cNvSpPr>
                <a:spLocks noChangeArrowheads="1"/>
              </p:cNvSpPr>
              <p:nvPr/>
            </p:nvSpPr>
            <p:spPr bwMode="auto">
              <a:xfrm>
                <a:off x="4707" y="1971"/>
                <a:ext cx="861" cy="861"/>
              </a:xfrm>
              <a:prstGeom prst="ellipse">
                <a:avLst/>
              </a:prstGeom>
              <a:solidFill>
                <a:srgbClr val="C2EBF4"/>
              </a:solidFill>
              <a:ln w="3810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5159" name="Oval 16"/>
              <p:cNvSpPr>
                <a:spLocks noChangeArrowheads="1"/>
              </p:cNvSpPr>
              <p:nvPr/>
            </p:nvSpPr>
            <p:spPr bwMode="auto">
              <a:xfrm>
                <a:off x="3775" y="557"/>
                <a:ext cx="861" cy="861"/>
              </a:xfrm>
              <a:prstGeom prst="ellipse">
                <a:avLst/>
              </a:prstGeom>
              <a:solidFill>
                <a:srgbClr val="C2EBF4"/>
              </a:solidFill>
              <a:ln w="3810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5154" name="Rectangle 17"/>
            <p:cNvSpPr>
              <a:spLocks noChangeArrowheads="1"/>
            </p:cNvSpPr>
            <p:nvPr/>
          </p:nvSpPr>
          <p:spPr bwMode="auto">
            <a:xfrm>
              <a:off x="3811" y="857"/>
              <a:ext cx="795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/>
                <a:t>Offer</a:t>
              </a:r>
            </a:p>
          </p:txBody>
        </p:sp>
        <p:sp>
          <p:nvSpPr>
            <p:cNvPr id="5155" name="Rectangle 18"/>
            <p:cNvSpPr>
              <a:spLocks noChangeArrowheads="1"/>
            </p:cNvSpPr>
            <p:nvPr/>
          </p:nvSpPr>
          <p:spPr bwMode="auto">
            <a:xfrm>
              <a:off x="4731" y="2183"/>
              <a:ext cx="829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600"/>
                </a:spcAft>
              </a:pPr>
              <a:r>
                <a:rPr lang="en-GB" sz="1400"/>
                <a:t>Business</a:t>
              </a:r>
              <a:br>
                <a:rPr lang="en-GB" sz="1400"/>
              </a:br>
              <a:r>
                <a:rPr lang="en-GB" sz="1400"/>
                <a:t>processes</a:t>
              </a:r>
            </a:p>
          </p:txBody>
        </p:sp>
        <p:sp>
          <p:nvSpPr>
            <p:cNvPr id="5156" name="Rectangle 19"/>
            <p:cNvSpPr>
              <a:spLocks noChangeArrowheads="1"/>
            </p:cNvSpPr>
            <p:nvPr/>
          </p:nvSpPr>
          <p:spPr bwMode="auto">
            <a:xfrm>
              <a:off x="2898" y="2202"/>
              <a:ext cx="796" cy="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400"/>
                <a:t>People </a:t>
              </a:r>
              <a:br>
                <a:rPr lang="en-GB" sz="1400"/>
              </a:br>
              <a:r>
                <a:rPr lang="en-GB" sz="1400"/>
                <a:t>&amp; culture</a:t>
              </a:r>
            </a:p>
          </p:txBody>
        </p:sp>
      </p:grpSp>
      <p:grpSp>
        <p:nvGrpSpPr>
          <p:cNvPr id="32797" name="Group 29"/>
          <p:cNvGrpSpPr>
            <a:grpSpLocks/>
          </p:cNvGrpSpPr>
          <p:nvPr/>
        </p:nvGrpSpPr>
        <p:grpSpPr bwMode="auto">
          <a:xfrm>
            <a:off x="6226175" y="3440113"/>
            <a:ext cx="779463" cy="665162"/>
            <a:chOff x="3858" y="1870"/>
            <a:chExt cx="629" cy="538"/>
          </a:xfrm>
        </p:grpSpPr>
        <p:sp>
          <p:nvSpPr>
            <p:cNvPr id="5149" name="Oval 30"/>
            <p:cNvSpPr>
              <a:spLocks noChangeArrowheads="1"/>
            </p:cNvSpPr>
            <p:nvPr/>
          </p:nvSpPr>
          <p:spPr bwMode="auto">
            <a:xfrm>
              <a:off x="3900" y="1870"/>
              <a:ext cx="536" cy="538"/>
            </a:xfrm>
            <a:prstGeom prst="ellipse">
              <a:avLst/>
            </a:prstGeom>
            <a:noFill/>
            <a:ln w="38100">
              <a:solidFill>
                <a:srgbClr val="5CCE0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5150" name="Rectangle 31"/>
            <p:cNvSpPr>
              <a:spLocks noChangeArrowheads="1"/>
            </p:cNvSpPr>
            <p:nvPr/>
          </p:nvSpPr>
          <p:spPr bwMode="auto">
            <a:xfrm>
              <a:off x="3858" y="2031"/>
              <a:ext cx="62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600"/>
                </a:spcAft>
              </a:pPr>
              <a:r>
                <a:rPr lang="en-GB" sz="1400" dirty="0"/>
                <a:t>Price</a:t>
              </a:r>
            </a:p>
          </p:txBody>
        </p:sp>
      </p:grpSp>
      <p:grpSp>
        <p:nvGrpSpPr>
          <p:cNvPr id="32806" name="Group 38"/>
          <p:cNvGrpSpPr>
            <a:grpSpLocks/>
          </p:cNvGrpSpPr>
          <p:nvPr/>
        </p:nvGrpSpPr>
        <p:grpSpPr bwMode="auto">
          <a:xfrm>
            <a:off x="5103813" y="5183193"/>
            <a:ext cx="3429000" cy="622301"/>
            <a:chOff x="2880" y="1872"/>
            <a:chExt cx="2352" cy="392"/>
          </a:xfrm>
        </p:grpSpPr>
        <p:sp>
          <p:nvSpPr>
            <p:cNvPr id="5147" name="Rectangle 39"/>
            <p:cNvSpPr>
              <a:spLocks noChangeArrowheads="1"/>
            </p:cNvSpPr>
            <p:nvPr/>
          </p:nvSpPr>
          <p:spPr bwMode="auto">
            <a:xfrm>
              <a:off x="2885" y="1872"/>
              <a:ext cx="191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Creating competitive advantages</a:t>
              </a:r>
              <a:endParaRPr lang="en-GB" sz="1600" dirty="0">
                <a:solidFill>
                  <a:srgbClr val="00AEC6"/>
                </a:solidFill>
              </a:endParaRPr>
            </a:p>
          </p:txBody>
        </p:sp>
        <p:sp>
          <p:nvSpPr>
            <p:cNvPr id="5148" name="Rectangle 40"/>
            <p:cNvSpPr>
              <a:spLocks noChangeArrowheads="1"/>
            </p:cNvSpPr>
            <p:nvPr/>
          </p:nvSpPr>
          <p:spPr bwMode="auto">
            <a:xfrm>
              <a:off x="2880" y="2051"/>
              <a:ext cx="235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dirty="0"/>
                <a:t>Your offer and performance along these factors will determine which customers you will attract.</a:t>
              </a:r>
              <a:endParaRPr lang="en-GB" sz="1100" dirty="0"/>
            </a:p>
          </p:txBody>
        </p:sp>
      </p:grpSp>
      <p:sp>
        <p:nvSpPr>
          <p:cNvPr id="5126" name="Line 50"/>
          <p:cNvSpPr>
            <a:spLocks noChangeShapeType="1"/>
          </p:cNvSpPr>
          <p:nvPr/>
        </p:nvSpPr>
        <p:spPr bwMode="auto">
          <a:xfrm>
            <a:off x="604838" y="1628775"/>
            <a:ext cx="34337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51"/>
          <p:cNvSpPr>
            <a:spLocks noChangeArrowheads="1"/>
          </p:cNvSpPr>
          <p:nvPr/>
        </p:nvSpPr>
        <p:spPr bwMode="auto">
          <a:xfrm>
            <a:off x="604838" y="304800"/>
            <a:ext cx="43481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1. In a nutshell – the building blocks</a:t>
            </a:r>
          </a:p>
        </p:txBody>
      </p:sp>
      <p:sp>
        <p:nvSpPr>
          <p:cNvPr id="5128" name="Rectangle 3"/>
          <p:cNvSpPr>
            <a:spLocks noChangeArrowheads="1"/>
          </p:cNvSpPr>
          <p:nvPr/>
        </p:nvSpPr>
        <p:spPr bwMode="auto">
          <a:xfrm>
            <a:off x="609600" y="1676400"/>
            <a:ext cx="3352800" cy="16927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These are the building blocks for any business:</a:t>
            </a:r>
          </a:p>
        </p:txBody>
      </p:sp>
      <p:sp>
        <p:nvSpPr>
          <p:cNvPr id="32821" name="Rectangle 53"/>
          <p:cNvSpPr>
            <a:spLocks noChangeArrowheads="1"/>
          </p:cNvSpPr>
          <p:nvPr/>
        </p:nvSpPr>
        <p:spPr bwMode="auto">
          <a:xfrm>
            <a:off x="2590800" y="2085975"/>
            <a:ext cx="1371600" cy="3790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grpSp>
        <p:nvGrpSpPr>
          <p:cNvPr id="32772" name="Group 4"/>
          <p:cNvGrpSpPr>
            <a:grpSpLocks/>
          </p:cNvGrpSpPr>
          <p:nvPr/>
        </p:nvGrpSpPr>
        <p:grpSpPr bwMode="auto">
          <a:xfrm>
            <a:off x="609600" y="3219450"/>
            <a:ext cx="3214688" cy="736600"/>
            <a:chOff x="432" y="1675"/>
            <a:chExt cx="2025" cy="464"/>
          </a:xfrm>
        </p:grpSpPr>
        <p:sp>
          <p:nvSpPr>
            <p:cNvPr id="5145" name="Rectangle 5"/>
            <p:cNvSpPr>
              <a:spLocks noChangeArrowheads="1"/>
            </p:cNvSpPr>
            <p:nvPr/>
          </p:nvSpPr>
          <p:spPr bwMode="auto">
            <a:xfrm>
              <a:off x="432" y="1680"/>
              <a:ext cx="1360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b="1" dirty="0"/>
                <a:t>People</a:t>
              </a:r>
              <a:r>
                <a:rPr lang="en-GB" sz="1100" dirty="0"/>
                <a:t> </a:t>
              </a:r>
              <a:br>
                <a:rPr lang="en-GB" sz="1100" dirty="0"/>
              </a:br>
              <a:r>
                <a:rPr lang="en-GB" sz="1100" dirty="0"/>
                <a:t>Know-how, leadership, </a:t>
              </a:r>
              <a:br>
                <a:rPr lang="en-GB" sz="1100" dirty="0"/>
              </a:br>
              <a:r>
                <a:rPr lang="en-GB" sz="1100" dirty="0"/>
                <a:t>values, culture</a:t>
              </a:r>
            </a:p>
          </p:txBody>
        </p:sp>
        <p:pic>
          <p:nvPicPr>
            <p:cNvPr id="5146" name="Picture 6" descr="Picture 3"/>
            <p:cNvPicPr>
              <a:picLocks noChangeAspect="1" noChangeArrowheads="1"/>
            </p:cNvPicPr>
            <p:nvPr/>
          </p:nvPicPr>
          <p:blipFill>
            <a:blip r:embed="rId3">
              <a:lum bright="6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" y="1675"/>
              <a:ext cx="713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788" name="Group 20"/>
          <p:cNvGrpSpPr>
            <a:grpSpLocks/>
          </p:cNvGrpSpPr>
          <p:nvPr/>
        </p:nvGrpSpPr>
        <p:grpSpPr bwMode="auto">
          <a:xfrm>
            <a:off x="609600" y="4081463"/>
            <a:ext cx="3251200" cy="790575"/>
            <a:chOff x="432" y="2202"/>
            <a:chExt cx="2048" cy="498"/>
          </a:xfrm>
        </p:grpSpPr>
        <p:sp>
          <p:nvSpPr>
            <p:cNvPr id="5143" name="Rectangle 21"/>
            <p:cNvSpPr>
              <a:spLocks noChangeArrowheads="1"/>
            </p:cNvSpPr>
            <p:nvPr/>
          </p:nvSpPr>
          <p:spPr bwMode="auto">
            <a:xfrm>
              <a:off x="432" y="2242"/>
              <a:ext cx="1360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b="1" dirty="0"/>
                <a:t>Business processes</a:t>
              </a:r>
              <a:r>
                <a:rPr lang="en-GB" sz="1100" dirty="0"/>
                <a:t/>
              </a:r>
              <a:br>
                <a:rPr lang="en-GB" sz="1100" dirty="0"/>
              </a:br>
              <a:r>
                <a:rPr lang="en-GB" sz="1100" dirty="0"/>
                <a:t>Organisation, procedures, </a:t>
              </a:r>
              <a:br>
                <a:rPr lang="en-GB" sz="1100" dirty="0"/>
              </a:br>
              <a:r>
                <a:rPr lang="en-GB" sz="1100" dirty="0"/>
                <a:t>IT solutions, efficiency</a:t>
              </a:r>
            </a:p>
          </p:txBody>
        </p:sp>
        <p:pic>
          <p:nvPicPr>
            <p:cNvPr id="5144" name="Picture 22" descr="Picture 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8" y="2202"/>
              <a:ext cx="732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791" name="Group 23"/>
          <p:cNvGrpSpPr>
            <a:grpSpLocks/>
          </p:cNvGrpSpPr>
          <p:nvPr/>
        </p:nvGrpSpPr>
        <p:grpSpPr bwMode="auto">
          <a:xfrm>
            <a:off x="609600" y="2119313"/>
            <a:ext cx="3232150" cy="976312"/>
            <a:chOff x="432" y="1008"/>
            <a:chExt cx="2036" cy="615"/>
          </a:xfrm>
        </p:grpSpPr>
        <p:sp>
          <p:nvSpPr>
            <p:cNvPr id="5141" name="Rectangle 24"/>
            <p:cNvSpPr>
              <a:spLocks noChangeArrowheads="1"/>
            </p:cNvSpPr>
            <p:nvPr/>
          </p:nvSpPr>
          <p:spPr bwMode="auto">
            <a:xfrm>
              <a:off x="432" y="1136"/>
              <a:ext cx="1360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An </a:t>
              </a:r>
              <a:r>
                <a:rPr lang="en-GB" sz="1100" b="1" dirty="0"/>
                <a:t>attractive offer</a:t>
              </a:r>
              <a:r>
                <a:rPr lang="en-GB" sz="1100" dirty="0"/>
                <a:t> </a:t>
              </a:r>
              <a:br>
                <a:rPr lang="en-GB" sz="1100" dirty="0"/>
              </a:br>
              <a:r>
                <a:rPr lang="en-GB" sz="1100" dirty="0"/>
                <a:t>The product range (also </a:t>
              </a:r>
              <a:br>
                <a:rPr lang="en-GB" sz="1100" dirty="0"/>
              </a:br>
              <a:r>
                <a:rPr lang="en-GB" sz="1100" dirty="0"/>
                <a:t>called Product portfolio)</a:t>
              </a:r>
            </a:p>
          </p:txBody>
        </p:sp>
        <p:pic>
          <p:nvPicPr>
            <p:cNvPr id="5142" name="Picture 25" descr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" y="1008"/>
              <a:ext cx="724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794" name="Group 26"/>
          <p:cNvGrpSpPr>
            <a:grpSpLocks/>
          </p:cNvGrpSpPr>
          <p:nvPr/>
        </p:nvGrpSpPr>
        <p:grpSpPr bwMode="auto">
          <a:xfrm>
            <a:off x="609600" y="4997450"/>
            <a:ext cx="3284538" cy="803275"/>
            <a:chOff x="432" y="2968"/>
            <a:chExt cx="2069" cy="506"/>
          </a:xfrm>
        </p:grpSpPr>
        <p:sp>
          <p:nvSpPr>
            <p:cNvPr id="5139" name="Rectangle 27"/>
            <p:cNvSpPr>
              <a:spLocks noChangeArrowheads="1"/>
            </p:cNvSpPr>
            <p:nvPr/>
          </p:nvSpPr>
          <p:spPr bwMode="auto">
            <a:xfrm>
              <a:off x="432" y="2968"/>
              <a:ext cx="1360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b="1" dirty="0"/>
                <a:t>Price</a:t>
              </a:r>
              <a:r>
                <a:rPr lang="en-GB" sz="1100" dirty="0"/>
                <a:t> </a:t>
              </a:r>
              <a:br>
                <a:rPr lang="en-GB" sz="1100" dirty="0"/>
              </a:br>
              <a:r>
                <a:rPr lang="en-GB" sz="1100" dirty="0"/>
                <a:t>Competitive prices, </a:t>
              </a:r>
              <a:br>
                <a:rPr lang="en-GB" sz="1100" dirty="0"/>
              </a:br>
              <a:r>
                <a:rPr lang="en-GB" sz="1100" dirty="0"/>
                <a:t>“Value for money”</a:t>
              </a:r>
            </a:p>
          </p:txBody>
        </p:sp>
        <p:pic>
          <p:nvPicPr>
            <p:cNvPr id="5140" name="Picture 28" descr="Picture 1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8" y="2976"/>
              <a:ext cx="753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34" name="Group 57"/>
          <p:cNvGrpSpPr>
            <a:grpSpLocks/>
          </p:cNvGrpSpPr>
          <p:nvPr/>
        </p:nvGrpSpPr>
        <p:grpSpPr bwMode="auto">
          <a:xfrm>
            <a:off x="2590800" y="3143250"/>
            <a:ext cx="1371600" cy="1800225"/>
            <a:chOff x="1680" y="1926"/>
            <a:chExt cx="768" cy="1134"/>
          </a:xfrm>
        </p:grpSpPr>
        <p:sp>
          <p:nvSpPr>
            <p:cNvPr id="5136" name="Line 54"/>
            <p:cNvSpPr>
              <a:spLocks noChangeShapeType="1"/>
            </p:cNvSpPr>
            <p:nvPr/>
          </p:nvSpPr>
          <p:spPr bwMode="auto">
            <a:xfrm>
              <a:off x="1680" y="192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7" name="Line 55"/>
            <p:cNvSpPr>
              <a:spLocks noChangeShapeType="1"/>
            </p:cNvSpPr>
            <p:nvPr/>
          </p:nvSpPr>
          <p:spPr bwMode="auto">
            <a:xfrm>
              <a:off x="1680" y="249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Line 56"/>
            <p:cNvSpPr>
              <a:spLocks noChangeShapeType="1"/>
            </p:cNvSpPr>
            <p:nvPr/>
          </p:nvSpPr>
          <p:spPr bwMode="auto">
            <a:xfrm>
              <a:off x="1680" y="3060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826" name="AutoShape 5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34300" y="6225499"/>
            <a:ext cx="1008062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4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9735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3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8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300"/>
                            </p:stCondLst>
                            <p:childTnLst>
                              <p:par>
                                <p:cTn id="25" presetID="16" presetClass="entr" presetSubtype="2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800"/>
                            </p:stCondLst>
                            <p:childTnLst>
                              <p:par>
                                <p:cTn id="2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93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1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8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21" grpId="0" animBg="1"/>
      <p:bldP spid="328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0" name="Group 338"/>
          <p:cNvGrpSpPr>
            <a:grpSpLocks/>
          </p:cNvGrpSpPr>
          <p:nvPr/>
        </p:nvGrpSpPr>
        <p:grpSpPr bwMode="auto">
          <a:xfrm>
            <a:off x="5165725" y="1487488"/>
            <a:ext cx="3471863" cy="3379787"/>
            <a:chOff x="3254" y="937"/>
            <a:chExt cx="2187" cy="2129"/>
          </a:xfrm>
        </p:grpSpPr>
        <p:sp>
          <p:nvSpPr>
            <p:cNvPr id="6254" name="Oval 3"/>
            <p:cNvSpPr>
              <a:spLocks noChangeArrowheads="1"/>
            </p:cNvSpPr>
            <p:nvPr/>
          </p:nvSpPr>
          <p:spPr bwMode="auto">
            <a:xfrm>
              <a:off x="3254" y="937"/>
              <a:ext cx="2187" cy="2129"/>
            </a:xfrm>
            <a:prstGeom prst="ellipse">
              <a:avLst/>
            </a:prstGeom>
            <a:solidFill>
              <a:srgbClr val="006831"/>
            </a:soli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6255" name="Group 148"/>
            <p:cNvGrpSpPr>
              <a:grpSpLocks/>
            </p:cNvGrpSpPr>
            <p:nvPr/>
          </p:nvGrpSpPr>
          <p:grpSpPr bwMode="auto">
            <a:xfrm>
              <a:off x="4052" y="1623"/>
              <a:ext cx="199" cy="72"/>
              <a:chOff x="3538" y="1728"/>
              <a:chExt cx="199" cy="72"/>
            </a:xfrm>
          </p:grpSpPr>
          <p:sp>
            <p:nvSpPr>
              <p:cNvPr id="6389" name="Rectangle 91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90" name="Group 147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91" name="Rectangle 93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92" name="Rectangle 94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93" name="Rectangle 95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94" name="Rectangle 96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56" name="Group 149"/>
            <p:cNvGrpSpPr>
              <a:grpSpLocks/>
            </p:cNvGrpSpPr>
            <p:nvPr/>
          </p:nvGrpSpPr>
          <p:grpSpPr bwMode="auto">
            <a:xfrm>
              <a:off x="4052" y="1839"/>
              <a:ext cx="199" cy="72"/>
              <a:chOff x="3538" y="1728"/>
              <a:chExt cx="199" cy="72"/>
            </a:xfrm>
          </p:grpSpPr>
          <p:sp>
            <p:nvSpPr>
              <p:cNvPr id="6383" name="Rectangle 150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84" name="Group 151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85" name="Rectangle 152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86" name="Rectangle 153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87" name="Rectangle 154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88" name="Rectangle 155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57" name="Group 156"/>
            <p:cNvGrpSpPr>
              <a:grpSpLocks/>
            </p:cNvGrpSpPr>
            <p:nvPr/>
          </p:nvGrpSpPr>
          <p:grpSpPr bwMode="auto">
            <a:xfrm>
              <a:off x="4052" y="2055"/>
              <a:ext cx="199" cy="72"/>
              <a:chOff x="3538" y="1728"/>
              <a:chExt cx="199" cy="72"/>
            </a:xfrm>
          </p:grpSpPr>
          <p:sp>
            <p:nvSpPr>
              <p:cNvPr id="6377" name="Rectangle 157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78" name="Group 158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79" name="Rectangle 159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80" name="Rectangle 160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81" name="Rectangle 161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82" name="Rectangle 162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58" name="Group 163"/>
            <p:cNvGrpSpPr>
              <a:grpSpLocks/>
            </p:cNvGrpSpPr>
            <p:nvPr/>
          </p:nvGrpSpPr>
          <p:grpSpPr bwMode="auto">
            <a:xfrm>
              <a:off x="4141" y="2304"/>
              <a:ext cx="199" cy="72"/>
              <a:chOff x="3538" y="1728"/>
              <a:chExt cx="199" cy="72"/>
            </a:xfrm>
          </p:grpSpPr>
          <p:sp>
            <p:nvSpPr>
              <p:cNvPr id="6371" name="Rectangle 164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72" name="Group 165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73" name="Rectangle 166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74" name="Rectangle 167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75" name="Rectangle 168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76" name="Rectangle 169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59" name="Group 170"/>
            <p:cNvGrpSpPr>
              <a:grpSpLocks/>
            </p:cNvGrpSpPr>
            <p:nvPr/>
          </p:nvGrpSpPr>
          <p:grpSpPr bwMode="auto">
            <a:xfrm>
              <a:off x="4313" y="2592"/>
              <a:ext cx="199" cy="72"/>
              <a:chOff x="3538" y="1728"/>
              <a:chExt cx="199" cy="72"/>
            </a:xfrm>
          </p:grpSpPr>
          <p:sp>
            <p:nvSpPr>
              <p:cNvPr id="6365" name="Rectangle 171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66" name="Group 172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67" name="Rectangle 173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68" name="Rectangle 174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69" name="Rectangle 175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70" name="Rectangle 176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0" name="Group 177"/>
            <p:cNvGrpSpPr>
              <a:grpSpLocks/>
            </p:cNvGrpSpPr>
            <p:nvPr/>
          </p:nvGrpSpPr>
          <p:grpSpPr bwMode="auto">
            <a:xfrm>
              <a:off x="4477" y="2295"/>
              <a:ext cx="199" cy="72"/>
              <a:chOff x="3538" y="1728"/>
              <a:chExt cx="199" cy="72"/>
            </a:xfrm>
          </p:grpSpPr>
          <p:sp>
            <p:nvSpPr>
              <p:cNvPr id="6359" name="Rectangle 178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60" name="Group 179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61" name="Rectangle 180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62" name="Rectangle 181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63" name="Rectangle 182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64" name="Rectangle 183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1" name="Group 184"/>
            <p:cNvGrpSpPr>
              <a:grpSpLocks/>
            </p:cNvGrpSpPr>
            <p:nvPr/>
          </p:nvGrpSpPr>
          <p:grpSpPr bwMode="auto">
            <a:xfrm>
              <a:off x="4717" y="2103"/>
              <a:ext cx="199" cy="72"/>
              <a:chOff x="3538" y="1728"/>
              <a:chExt cx="199" cy="72"/>
            </a:xfrm>
          </p:grpSpPr>
          <p:sp>
            <p:nvSpPr>
              <p:cNvPr id="6353" name="Rectangle 185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54" name="Group 186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55" name="Rectangle 187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56" name="Rectangle 188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57" name="Rectangle 189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58" name="Rectangle 190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2" name="Group 191"/>
            <p:cNvGrpSpPr>
              <a:grpSpLocks/>
            </p:cNvGrpSpPr>
            <p:nvPr/>
          </p:nvGrpSpPr>
          <p:grpSpPr bwMode="auto">
            <a:xfrm>
              <a:off x="4388" y="1983"/>
              <a:ext cx="199" cy="72"/>
              <a:chOff x="3538" y="1728"/>
              <a:chExt cx="199" cy="72"/>
            </a:xfrm>
          </p:grpSpPr>
          <p:sp>
            <p:nvSpPr>
              <p:cNvPr id="6347" name="Rectangle 192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48" name="Group 193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49" name="Rectangle 194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50" name="Rectangle 195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51" name="Rectangle 196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52" name="Rectangle 197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3" name="Group 198"/>
            <p:cNvGrpSpPr>
              <a:grpSpLocks/>
            </p:cNvGrpSpPr>
            <p:nvPr/>
          </p:nvGrpSpPr>
          <p:grpSpPr bwMode="auto">
            <a:xfrm>
              <a:off x="4333" y="1767"/>
              <a:ext cx="199" cy="72"/>
              <a:chOff x="3538" y="1728"/>
              <a:chExt cx="199" cy="72"/>
            </a:xfrm>
          </p:grpSpPr>
          <p:sp>
            <p:nvSpPr>
              <p:cNvPr id="6341" name="Rectangle 199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42" name="Group 200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43" name="Rectangle 201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44" name="Rectangle 202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45" name="Rectangle 203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46" name="Rectangle 204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4" name="Group 205"/>
            <p:cNvGrpSpPr>
              <a:grpSpLocks/>
            </p:cNvGrpSpPr>
            <p:nvPr/>
          </p:nvGrpSpPr>
          <p:grpSpPr bwMode="auto">
            <a:xfrm>
              <a:off x="4429" y="1551"/>
              <a:ext cx="199" cy="72"/>
              <a:chOff x="3538" y="1728"/>
              <a:chExt cx="199" cy="72"/>
            </a:xfrm>
          </p:grpSpPr>
          <p:sp>
            <p:nvSpPr>
              <p:cNvPr id="6335" name="Rectangle 206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36" name="Group 207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37" name="Rectangle 208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38" name="Rectangle 209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39" name="Rectangle 210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40" name="Rectangle 211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5" name="Group 212"/>
            <p:cNvGrpSpPr>
              <a:grpSpLocks/>
            </p:cNvGrpSpPr>
            <p:nvPr/>
          </p:nvGrpSpPr>
          <p:grpSpPr bwMode="auto">
            <a:xfrm>
              <a:off x="4573" y="1335"/>
              <a:ext cx="199" cy="72"/>
              <a:chOff x="3538" y="1728"/>
              <a:chExt cx="199" cy="72"/>
            </a:xfrm>
          </p:grpSpPr>
          <p:sp>
            <p:nvSpPr>
              <p:cNvPr id="6329" name="Rectangle 213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30" name="Group 214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31" name="Rectangle 215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32" name="Rectangle 216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33" name="Rectangle 217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34" name="Rectangle 218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6" name="Group 219"/>
            <p:cNvGrpSpPr>
              <a:grpSpLocks/>
            </p:cNvGrpSpPr>
            <p:nvPr/>
          </p:nvGrpSpPr>
          <p:grpSpPr bwMode="auto">
            <a:xfrm>
              <a:off x="4717" y="1695"/>
              <a:ext cx="199" cy="72"/>
              <a:chOff x="3538" y="1728"/>
              <a:chExt cx="199" cy="72"/>
            </a:xfrm>
          </p:grpSpPr>
          <p:sp>
            <p:nvSpPr>
              <p:cNvPr id="6323" name="Rectangle 220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24" name="Group 221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25" name="Rectangle 222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26" name="Rectangle 223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27" name="Rectangle 224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28" name="Rectangle 225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7" name="Group 226"/>
            <p:cNvGrpSpPr>
              <a:grpSpLocks/>
            </p:cNvGrpSpPr>
            <p:nvPr/>
          </p:nvGrpSpPr>
          <p:grpSpPr bwMode="auto">
            <a:xfrm>
              <a:off x="4861" y="1911"/>
              <a:ext cx="199" cy="72"/>
              <a:chOff x="3538" y="1728"/>
              <a:chExt cx="199" cy="72"/>
            </a:xfrm>
          </p:grpSpPr>
          <p:sp>
            <p:nvSpPr>
              <p:cNvPr id="6317" name="Rectangle 227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18" name="Group 228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19" name="Rectangle 229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20" name="Rectangle 230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21" name="Rectangle 231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22" name="Rectangle 232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8" name="Group 233"/>
            <p:cNvGrpSpPr>
              <a:grpSpLocks/>
            </p:cNvGrpSpPr>
            <p:nvPr/>
          </p:nvGrpSpPr>
          <p:grpSpPr bwMode="auto">
            <a:xfrm>
              <a:off x="4868" y="2319"/>
              <a:ext cx="199" cy="72"/>
              <a:chOff x="3538" y="1728"/>
              <a:chExt cx="199" cy="72"/>
            </a:xfrm>
          </p:grpSpPr>
          <p:sp>
            <p:nvSpPr>
              <p:cNvPr id="6311" name="Rectangle 234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12" name="Group 235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13" name="Rectangle 236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14" name="Rectangle 237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15" name="Rectangle 238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16" name="Rectangle 239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69" name="Group 240"/>
            <p:cNvGrpSpPr>
              <a:grpSpLocks/>
            </p:cNvGrpSpPr>
            <p:nvPr/>
          </p:nvGrpSpPr>
          <p:grpSpPr bwMode="auto">
            <a:xfrm>
              <a:off x="4724" y="2535"/>
              <a:ext cx="199" cy="72"/>
              <a:chOff x="3538" y="1728"/>
              <a:chExt cx="199" cy="72"/>
            </a:xfrm>
          </p:grpSpPr>
          <p:sp>
            <p:nvSpPr>
              <p:cNvPr id="6305" name="Rectangle 241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06" name="Group 242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07" name="Rectangle 243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08" name="Rectangle 244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09" name="Rectangle 245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10" name="Rectangle 246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70" name="Group 247"/>
            <p:cNvGrpSpPr>
              <a:grpSpLocks/>
            </p:cNvGrpSpPr>
            <p:nvPr/>
          </p:nvGrpSpPr>
          <p:grpSpPr bwMode="auto">
            <a:xfrm>
              <a:off x="3908" y="2511"/>
              <a:ext cx="199" cy="72"/>
              <a:chOff x="3538" y="1728"/>
              <a:chExt cx="199" cy="72"/>
            </a:xfrm>
          </p:grpSpPr>
          <p:sp>
            <p:nvSpPr>
              <p:cNvPr id="6299" name="Rectangle 248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300" name="Group 249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301" name="Rectangle 250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02" name="Rectangle 251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03" name="Rectangle 252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304" name="Rectangle 253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71" name="Group 261"/>
            <p:cNvGrpSpPr>
              <a:grpSpLocks/>
            </p:cNvGrpSpPr>
            <p:nvPr/>
          </p:nvGrpSpPr>
          <p:grpSpPr bwMode="auto">
            <a:xfrm>
              <a:off x="3661" y="1935"/>
              <a:ext cx="199" cy="72"/>
              <a:chOff x="3538" y="1728"/>
              <a:chExt cx="199" cy="72"/>
            </a:xfrm>
          </p:grpSpPr>
          <p:sp>
            <p:nvSpPr>
              <p:cNvPr id="6293" name="Rectangle 262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294" name="Group 263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295" name="Rectangle 264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96" name="Rectangle 265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97" name="Rectangle 266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98" name="Rectangle 267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72" name="Group 268"/>
            <p:cNvGrpSpPr>
              <a:grpSpLocks/>
            </p:cNvGrpSpPr>
            <p:nvPr/>
          </p:nvGrpSpPr>
          <p:grpSpPr bwMode="auto">
            <a:xfrm>
              <a:off x="3949" y="1383"/>
              <a:ext cx="199" cy="72"/>
              <a:chOff x="3538" y="1728"/>
              <a:chExt cx="199" cy="72"/>
            </a:xfrm>
          </p:grpSpPr>
          <p:sp>
            <p:nvSpPr>
              <p:cNvPr id="6287" name="Rectangle 269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288" name="Group 270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289" name="Rectangle 271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90" name="Rectangle 272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91" name="Rectangle 273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92" name="Rectangle 274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73" name="Group 275"/>
            <p:cNvGrpSpPr>
              <a:grpSpLocks/>
            </p:cNvGrpSpPr>
            <p:nvPr/>
          </p:nvGrpSpPr>
          <p:grpSpPr bwMode="auto">
            <a:xfrm>
              <a:off x="4237" y="1227"/>
              <a:ext cx="199" cy="72"/>
              <a:chOff x="3538" y="1728"/>
              <a:chExt cx="199" cy="72"/>
            </a:xfrm>
          </p:grpSpPr>
          <p:sp>
            <p:nvSpPr>
              <p:cNvPr id="6281" name="Rectangle 276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282" name="Group 277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283" name="Rectangle 278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84" name="Rectangle 279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85" name="Rectangle 280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86" name="Rectangle 281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74" name="Group 286"/>
            <p:cNvGrpSpPr>
              <a:grpSpLocks/>
            </p:cNvGrpSpPr>
            <p:nvPr/>
          </p:nvGrpSpPr>
          <p:grpSpPr bwMode="auto">
            <a:xfrm>
              <a:off x="3744" y="2199"/>
              <a:ext cx="199" cy="72"/>
              <a:chOff x="3538" y="1728"/>
              <a:chExt cx="199" cy="72"/>
            </a:xfrm>
          </p:grpSpPr>
          <p:sp>
            <p:nvSpPr>
              <p:cNvPr id="6275" name="Rectangle 287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276" name="Group 288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6277" name="Rectangle 289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78" name="Rectangle 290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79" name="Rectangle 291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80" name="Rectangle 292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</p:grpSp>
      <p:grpSp>
        <p:nvGrpSpPr>
          <p:cNvPr id="3409" name="Group 337"/>
          <p:cNvGrpSpPr>
            <a:grpSpLocks/>
          </p:cNvGrpSpPr>
          <p:nvPr/>
        </p:nvGrpSpPr>
        <p:grpSpPr bwMode="auto">
          <a:xfrm>
            <a:off x="6742113" y="1371600"/>
            <a:ext cx="2097087" cy="2514600"/>
            <a:chOff x="4247" y="864"/>
            <a:chExt cx="1321" cy="1584"/>
          </a:xfrm>
        </p:grpSpPr>
        <p:grpSp>
          <p:nvGrpSpPr>
            <p:cNvPr id="6230" name="Group 59"/>
            <p:cNvGrpSpPr>
              <a:grpSpLocks/>
            </p:cNvGrpSpPr>
            <p:nvPr/>
          </p:nvGrpSpPr>
          <p:grpSpPr bwMode="auto">
            <a:xfrm>
              <a:off x="5295" y="2248"/>
              <a:ext cx="273" cy="200"/>
              <a:chOff x="3645" y="339"/>
              <a:chExt cx="780" cy="570"/>
            </a:xfrm>
          </p:grpSpPr>
          <p:sp>
            <p:nvSpPr>
              <p:cNvPr id="6243" name="Rectangle 60"/>
              <p:cNvSpPr>
                <a:spLocks noChangeArrowheads="1"/>
              </p:cNvSpPr>
              <p:nvPr/>
            </p:nvSpPr>
            <p:spPr bwMode="auto">
              <a:xfrm>
                <a:off x="3645" y="339"/>
                <a:ext cx="780" cy="570"/>
              </a:xfrm>
              <a:prstGeom prst="rect">
                <a:avLst/>
              </a:prstGeom>
              <a:solidFill>
                <a:schemeClr val="bg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bg1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244" name="Group 61"/>
              <p:cNvGrpSpPr>
                <a:grpSpLocks/>
              </p:cNvGrpSpPr>
              <p:nvPr/>
            </p:nvGrpSpPr>
            <p:grpSpPr bwMode="auto">
              <a:xfrm>
                <a:off x="3737" y="414"/>
                <a:ext cx="624" cy="495"/>
                <a:chOff x="3731" y="414"/>
                <a:chExt cx="624" cy="495"/>
              </a:xfrm>
            </p:grpSpPr>
            <p:grpSp>
              <p:nvGrpSpPr>
                <p:cNvPr id="6245" name="Group 62"/>
                <p:cNvGrpSpPr>
                  <a:grpSpLocks/>
                </p:cNvGrpSpPr>
                <p:nvPr/>
              </p:nvGrpSpPr>
              <p:grpSpPr bwMode="auto">
                <a:xfrm>
                  <a:off x="3731" y="414"/>
                  <a:ext cx="624" cy="192"/>
                  <a:chOff x="672" y="720"/>
                  <a:chExt cx="999" cy="288"/>
                </a:xfrm>
              </p:grpSpPr>
              <p:sp>
                <p:nvSpPr>
                  <p:cNvPr id="6250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51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52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1184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53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  <p:sp>
              <p:nvSpPr>
                <p:cNvPr id="6246" name="Rectangle 67"/>
                <p:cNvSpPr>
                  <a:spLocks noChangeArrowheads="1"/>
                </p:cNvSpPr>
                <p:nvPr/>
              </p:nvSpPr>
              <p:spPr bwMode="auto">
                <a:xfrm>
                  <a:off x="373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47" name="Rectangle 68"/>
                <p:cNvSpPr>
                  <a:spLocks noChangeArrowheads="1"/>
                </p:cNvSpPr>
                <p:nvPr/>
              </p:nvSpPr>
              <p:spPr bwMode="auto">
                <a:xfrm>
                  <a:off x="3891" y="654"/>
                  <a:ext cx="144" cy="255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48" name="Rectangle 69"/>
                <p:cNvSpPr>
                  <a:spLocks noChangeArrowheads="1"/>
                </p:cNvSpPr>
                <p:nvPr/>
              </p:nvSpPr>
              <p:spPr bwMode="auto">
                <a:xfrm>
                  <a:off x="405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49" name="Rectangle 70"/>
                <p:cNvSpPr>
                  <a:spLocks noChangeArrowheads="1"/>
                </p:cNvSpPr>
                <p:nvPr/>
              </p:nvSpPr>
              <p:spPr bwMode="auto">
                <a:xfrm>
                  <a:off x="421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6231" name="Group 71"/>
            <p:cNvGrpSpPr>
              <a:grpSpLocks/>
            </p:cNvGrpSpPr>
            <p:nvPr/>
          </p:nvGrpSpPr>
          <p:grpSpPr bwMode="auto">
            <a:xfrm>
              <a:off x="4247" y="864"/>
              <a:ext cx="273" cy="200"/>
              <a:chOff x="3645" y="339"/>
              <a:chExt cx="780" cy="570"/>
            </a:xfrm>
          </p:grpSpPr>
          <p:sp>
            <p:nvSpPr>
              <p:cNvPr id="6232" name="Rectangle 72"/>
              <p:cNvSpPr>
                <a:spLocks noChangeArrowheads="1"/>
              </p:cNvSpPr>
              <p:nvPr/>
            </p:nvSpPr>
            <p:spPr bwMode="auto">
              <a:xfrm>
                <a:off x="3645" y="339"/>
                <a:ext cx="780" cy="570"/>
              </a:xfrm>
              <a:prstGeom prst="rect">
                <a:avLst/>
              </a:prstGeom>
              <a:solidFill>
                <a:schemeClr val="bg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bg1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6233" name="Group 73"/>
              <p:cNvGrpSpPr>
                <a:grpSpLocks/>
              </p:cNvGrpSpPr>
              <p:nvPr/>
            </p:nvGrpSpPr>
            <p:grpSpPr bwMode="auto">
              <a:xfrm>
                <a:off x="3737" y="414"/>
                <a:ext cx="624" cy="495"/>
                <a:chOff x="3731" y="414"/>
                <a:chExt cx="624" cy="495"/>
              </a:xfrm>
            </p:grpSpPr>
            <p:grpSp>
              <p:nvGrpSpPr>
                <p:cNvPr id="6234" name="Group 74"/>
                <p:cNvGrpSpPr>
                  <a:grpSpLocks/>
                </p:cNvGrpSpPr>
                <p:nvPr/>
              </p:nvGrpSpPr>
              <p:grpSpPr bwMode="auto">
                <a:xfrm>
                  <a:off x="3731" y="414"/>
                  <a:ext cx="624" cy="192"/>
                  <a:chOff x="672" y="720"/>
                  <a:chExt cx="999" cy="288"/>
                </a:xfrm>
              </p:grpSpPr>
              <p:sp>
                <p:nvSpPr>
                  <p:cNvPr id="6239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40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41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184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42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  <p:sp>
              <p:nvSpPr>
                <p:cNvPr id="6235" name="Rectangle 79"/>
                <p:cNvSpPr>
                  <a:spLocks noChangeArrowheads="1"/>
                </p:cNvSpPr>
                <p:nvPr/>
              </p:nvSpPr>
              <p:spPr bwMode="auto">
                <a:xfrm>
                  <a:off x="373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36" name="Rectangle 80"/>
                <p:cNvSpPr>
                  <a:spLocks noChangeArrowheads="1"/>
                </p:cNvSpPr>
                <p:nvPr/>
              </p:nvSpPr>
              <p:spPr bwMode="auto">
                <a:xfrm>
                  <a:off x="3891" y="654"/>
                  <a:ext cx="144" cy="255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37" name="Rectangle 81"/>
                <p:cNvSpPr>
                  <a:spLocks noChangeArrowheads="1"/>
                </p:cNvSpPr>
                <p:nvPr/>
              </p:nvSpPr>
              <p:spPr bwMode="auto">
                <a:xfrm>
                  <a:off x="405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38" name="Rectangle 82"/>
                <p:cNvSpPr>
                  <a:spLocks noChangeArrowheads="1"/>
                </p:cNvSpPr>
                <p:nvPr/>
              </p:nvSpPr>
              <p:spPr bwMode="auto">
                <a:xfrm>
                  <a:off x="421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</p:grpSp>
      <p:grpSp>
        <p:nvGrpSpPr>
          <p:cNvPr id="3407" name="Group 335"/>
          <p:cNvGrpSpPr>
            <a:grpSpLocks/>
          </p:cNvGrpSpPr>
          <p:nvPr/>
        </p:nvGrpSpPr>
        <p:grpSpPr bwMode="auto">
          <a:xfrm>
            <a:off x="4908550" y="1506538"/>
            <a:ext cx="1006475" cy="1038225"/>
            <a:chOff x="3092" y="949"/>
            <a:chExt cx="634" cy="654"/>
          </a:xfrm>
        </p:grpSpPr>
        <p:sp>
          <p:nvSpPr>
            <p:cNvPr id="6218" name="Rectangle 5"/>
            <p:cNvSpPr>
              <a:spLocks noChangeArrowheads="1"/>
            </p:cNvSpPr>
            <p:nvPr/>
          </p:nvSpPr>
          <p:spPr bwMode="auto">
            <a:xfrm>
              <a:off x="3092" y="1140"/>
              <a:ext cx="634" cy="463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sv-SE"/>
            </a:p>
          </p:txBody>
        </p:sp>
        <p:grpSp>
          <p:nvGrpSpPr>
            <p:cNvPr id="6219" name="Group 6"/>
            <p:cNvGrpSpPr>
              <a:grpSpLocks/>
            </p:cNvGrpSpPr>
            <p:nvPr/>
          </p:nvGrpSpPr>
          <p:grpSpPr bwMode="auto">
            <a:xfrm>
              <a:off x="3167" y="1201"/>
              <a:ext cx="507" cy="402"/>
              <a:chOff x="3731" y="414"/>
              <a:chExt cx="624" cy="495"/>
            </a:xfrm>
          </p:grpSpPr>
          <p:grpSp>
            <p:nvGrpSpPr>
              <p:cNvPr id="6221" name="Group 7"/>
              <p:cNvGrpSpPr>
                <a:grpSpLocks/>
              </p:cNvGrpSpPr>
              <p:nvPr/>
            </p:nvGrpSpPr>
            <p:grpSpPr bwMode="auto">
              <a:xfrm>
                <a:off x="3731" y="414"/>
                <a:ext cx="624" cy="192"/>
                <a:chOff x="672" y="720"/>
                <a:chExt cx="999" cy="288"/>
              </a:xfrm>
            </p:grpSpPr>
            <p:sp>
              <p:nvSpPr>
                <p:cNvPr id="6226" name="Rectangle 8"/>
                <p:cNvSpPr>
                  <a:spLocks noChangeArrowheads="1"/>
                </p:cNvSpPr>
                <p:nvPr/>
              </p:nvSpPr>
              <p:spPr bwMode="auto">
                <a:xfrm>
                  <a:off x="672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27" name="Rectangle 9"/>
                <p:cNvSpPr>
                  <a:spLocks noChangeArrowheads="1"/>
                </p:cNvSpPr>
                <p:nvPr/>
              </p:nvSpPr>
              <p:spPr bwMode="auto">
                <a:xfrm>
                  <a:off x="928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28" name="Rectangle 10"/>
                <p:cNvSpPr>
                  <a:spLocks noChangeArrowheads="1"/>
                </p:cNvSpPr>
                <p:nvPr/>
              </p:nvSpPr>
              <p:spPr bwMode="auto">
                <a:xfrm>
                  <a:off x="1184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6229" name="Rectangle 11"/>
                <p:cNvSpPr>
                  <a:spLocks noChangeArrowheads="1"/>
                </p:cNvSpPr>
                <p:nvPr/>
              </p:nvSpPr>
              <p:spPr bwMode="auto">
                <a:xfrm>
                  <a:off x="1440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  <p:sp>
            <p:nvSpPr>
              <p:cNvPr id="6222" name="Rectangle 12"/>
              <p:cNvSpPr>
                <a:spLocks noChangeArrowheads="1"/>
              </p:cNvSpPr>
              <p:nvPr/>
            </p:nvSpPr>
            <p:spPr bwMode="auto">
              <a:xfrm>
                <a:off x="3731" y="654"/>
                <a:ext cx="144" cy="19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6223" name="Rectangle 13"/>
              <p:cNvSpPr>
                <a:spLocks noChangeArrowheads="1"/>
              </p:cNvSpPr>
              <p:nvPr/>
            </p:nvSpPr>
            <p:spPr bwMode="auto">
              <a:xfrm>
                <a:off x="3891" y="654"/>
                <a:ext cx="144" cy="25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6224" name="Rectangle 14"/>
              <p:cNvSpPr>
                <a:spLocks noChangeArrowheads="1"/>
              </p:cNvSpPr>
              <p:nvPr/>
            </p:nvSpPr>
            <p:spPr bwMode="auto">
              <a:xfrm>
                <a:off x="4051" y="654"/>
                <a:ext cx="144" cy="19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6225" name="Rectangle 15"/>
              <p:cNvSpPr>
                <a:spLocks noChangeArrowheads="1"/>
              </p:cNvSpPr>
              <p:nvPr/>
            </p:nvSpPr>
            <p:spPr bwMode="auto">
              <a:xfrm>
                <a:off x="4211" y="654"/>
                <a:ext cx="144" cy="19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6220" name="Rectangle 282"/>
            <p:cNvSpPr>
              <a:spLocks noChangeArrowheads="1"/>
            </p:cNvSpPr>
            <p:nvPr/>
          </p:nvSpPr>
          <p:spPr bwMode="auto">
            <a:xfrm>
              <a:off x="3164" y="949"/>
              <a:ext cx="400" cy="159"/>
            </a:xfrm>
            <a:prstGeom prst="rect">
              <a:avLst/>
            </a:prstGeom>
            <a:pattFill prst="dkVert">
              <a:fgClr>
                <a:srgbClr val="FF9999"/>
              </a:fgClr>
              <a:bgClr>
                <a:srgbClr val="FF7C80"/>
              </a:bgClr>
            </a:patt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Alpha</a:t>
              </a:r>
            </a:p>
          </p:txBody>
        </p:sp>
      </p:grpSp>
      <p:grpSp>
        <p:nvGrpSpPr>
          <p:cNvPr id="3408" name="Group 336"/>
          <p:cNvGrpSpPr>
            <a:grpSpLocks/>
          </p:cNvGrpSpPr>
          <p:nvPr/>
        </p:nvGrpSpPr>
        <p:grpSpPr bwMode="auto">
          <a:xfrm>
            <a:off x="4970463" y="1806575"/>
            <a:ext cx="3944937" cy="3451225"/>
            <a:chOff x="3131" y="1138"/>
            <a:chExt cx="2485" cy="2174"/>
          </a:xfrm>
        </p:grpSpPr>
        <p:grpSp>
          <p:nvGrpSpPr>
            <p:cNvPr id="6176" name="Group 331"/>
            <p:cNvGrpSpPr>
              <a:grpSpLocks/>
            </p:cNvGrpSpPr>
            <p:nvPr/>
          </p:nvGrpSpPr>
          <p:grpSpPr bwMode="auto">
            <a:xfrm>
              <a:off x="5138" y="1138"/>
              <a:ext cx="478" cy="494"/>
              <a:chOff x="5138" y="1138"/>
              <a:chExt cx="478" cy="494"/>
            </a:xfrm>
          </p:grpSpPr>
          <p:grpSp>
            <p:nvGrpSpPr>
              <p:cNvPr id="6205" name="Group 35"/>
              <p:cNvGrpSpPr>
                <a:grpSpLocks/>
              </p:cNvGrpSpPr>
              <p:nvPr/>
            </p:nvGrpSpPr>
            <p:grpSpPr bwMode="auto">
              <a:xfrm>
                <a:off x="5138" y="1282"/>
                <a:ext cx="478" cy="350"/>
                <a:chOff x="3645" y="339"/>
                <a:chExt cx="780" cy="570"/>
              </a:xfrm>
            </p:grpSpPr>
            <p:sp>
              <p:nvSpPr>
                <p:cNvPr id="6207" name="Rectangle 36"/>
                <p:cNvSpPr>
                  <a:spLocks noChangeArrowheads="1"/>
                </p:cNvSpPr>
                <p:nvPr/>
              </p:nvSpPr>
              <p:spPr bwMode="auto">
                <a:xfrm>
                  <a:off x="3645" y="339"/>
                  <a:ext cx="780" cy="57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Lef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bg1"/>
                  </a:extrusion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sv-SE"/>
                </a:p>
              </p:txBody>
            </p:sp>
            <p:grpSp>
              <p:nvGrpSpPr>
                <p:cNvPr id="6208" name="Group 37"/>
                <p:cNvGrpSpPr>
                  <a:grpSpLocks/>
                </p:cNvGrpSpPr>
                <p:nvPr/>
              </p:nvGrpSpPr>
              <p:grpSpPr bwMode="auto">
                <a:xfrm>
                  <a:off x="3737" y="414"/>
                  <a:ext cx="624" cy="495"/>
                  <a:chOff x="3731" y="414"/>
                  <a:chExt cx="624" cy="495"/>
                </a:xfrm>
              </p:grpSpPr>
              <p:grpSp>
                <p:nvGrpSpPr>
                  <p:cNvPr id="6209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3731" y="414"/>
                    <a:ext cx="624" cy="192"/>
                    <a:chOff x="672" y="720"/>
                    <a:chExt cx="999" cy="288"/>
                  </a:xfrm>
                </p:grpSpPr>
                <p:sp>
                  <p:nvSpPr>
                    <p:cNvPr id="6214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2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215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216" name="Rectangle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217" name="Rectangl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40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</p:grpSp>
              <p:sp>
                <p:nvSpPr>
                  <p:cNvPr id="6210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73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11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654"/>
                    <a:ext cx="144" cy="255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12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13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421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</p:grpSp>
          <p:sp>
            <p:nvSpPr>
              <p:cNvPr id="6206" name="Rectangle 283"/>
              <p:cNvSpPr>
                <a:spLocks noChangeArrowheads="1"/>
              </p:cNvSpPr>
              <p:nvPr/>
            </p:nvSpPr>
            <p:spPr bwMode="auto">
              <a:xfrm>
                <a:off x="5197" y="1138"/>
                <a:ext cx="336" cy="136"/>
              </a:xfrm>
              <a:prstGeom prst="rect">
                <a:avLst/>
              </a:prstGeom>
              <a:pattFill prst="dkVert">
                <a:fgClr>
                  <a:srgbClr val="FFCC99"/>
                </a:fgClr>
                <a:bgClr>
                  <a:srgbClr val="FF9900"/>
                </a:bgClr>
              </a:patt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000" b="1" dirty="0">
                    <a:solidFill>
                      <a:schemeClr val="bg1"/>
                    </a:solidFill>
                  </a:rPr>
                  <a:t>Beta</a:t>
                </a:r>
              </a:p>
            </p:txBody>
          </p:sp>
        </p:grpSp>
        <p:grpSp>
          <p:nvGrpSpPr>
            <p:cNvPr id="6177" name="Group 332"/>
            <p:cNvGrpSpPr>
              <a:grpSpLocks/>
            </p:cNvGrpSpPr>
            <p:nvPr/>
          </p:nvGrpSpPr>
          <p:grpSpPr bwMode="auto">
            <a:xfrm>
              <a:off x="4388" y="2819"/>
              <a:ext cx="478" cy="493"/>
              <a:chOff x="4388" y="2819"/>
              <a:chExt cx="478" cy="493"/>
            </a:xfrm>
          </p:grpSpPr>
          <p:grpSp>
            <p:nvGrpSpPr>
              <p:cNvPr id="6192" name="Group 47"/>
              <p:cNvGrpSpPr>
                <a:grpSpLocks/>
              </p:cNvGrpSpPr>
              <p:nvPr/>
            </p:nvGrpSpPr>
            <p:grpSpPr bwMode="auto">
              <a:xfrm>
                <a:off x="4388" y="2963"/>
                <a:ext cx="478" cy="349"/>
                <a:chOff x="3645" y="339"/>
                <a:chExt cx="780" cy="570"/>
              </a:xfrm>
            </p:grpSpPr>
            <p:sp>
              <p:nvSpPr>
                <p:cNvPr id="6194" name="Rectangle 48"/>
                <p:cNvSpPr>
                  <a:spLocks noChangeArrowheads="1"/>
                </p:cNvSpPr>
                <p:nvPr/>
              </p:nvSpPr>
              <p:spPr bwMode="auto">
                <a:xfrm>
                  <a:off x="3645" y="339"/>
                  <a:ext cx="780" cy="57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Lef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bg1"/>
                  </a:extrusion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sv-SE"/>
                </a:p>
              </p:txBody>
            </p:sp>
            <p:grpSp>
              <p:nvGrpSpPr>
                <p:cNvPr id="6195" name="Group 49"/>
                <p:cNvGrpSpPr>
                  <a:grpSpLocks/>
                </p:cNvGrpSpPr>
                <p:nvPr/>
              </p:nvGrpSpPr>
              <p:grpSpPr bwMode="auto">
                <a:xfrm>
                  <a:off x="3737" y="414"/>
                  <a:ext cx="624" cy="495"/>
                  <a:chOff x="3731" y="414"/>
                  <a:chExt cx="624" cy="495"/>
                </a:xfrm>
              </p:grpSpPr>
              <p:grpSp>
                <p:nvGrpSpPr>
                  <p:cNvPr id="6196" name="Group 50"/>
                  <p:cNvGrpSpPr>
                    <a:grpSpLocks/>
                  </p:cNvGrpSpPr>
                  <p:nvPr/>
                </p:nvGrpSpPr>
                <p:grpSpPr bwMode="auto">
                  <a:xfrm>
                    <a:off x="3731" y="414"/>
                    <a:ext cx="624" cy="192"/>
                    <a:chOff x="672" y="720"/>
                    <a:chExt cx="999" cy="288"/>
                  </a:xfrm>
                </p:grpSpPr>
                <p:sp>
                  <p:nvSpPr>
                    <p:cNvPr id="6201" name="Rectangl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2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202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203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204" name="Rectangle 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40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</p:grpSp>
              <p:sp>
                <p:nvSpPr>
                  <p:cNvPr id="6197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373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198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654"/>
                    <a:ext cx="144" cy="255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199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200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21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</p:grpSp>
          <p:sp>
            <p:nvSpPr>
              <p:cNvPr id="6193" name="Rectangle 284"/>
              <p:cNvSpPr>
                <a:spLocks noChangeArrowheads="1"/>
              </p:cNvSpPr>
              <p:nvPr/>
            </p:nvSpPr>
            <p:spPr bwMode="auto">
              <a:xfrm>
                <a:off x="4447" y="2819"/>
                <a:ext cx="336" cy="136"/>
              </a:xfrm>
              <a:prstGeom prst="rect">
                <a:avLst/>
              </a:prstGeom>
              <a:pattFill prst="dkVert">
                <a:fgClr>
                  <a:srgbClr val="FAEC30"/>
                </a:fgClr>
                <a:bgClr>
                  <a:srgbClr val="FFFF99"/>
                </a:bgClr>
              </a:patt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000" b="1" dirty="0">
                    <a:solidFill>
                      <a:schemeClr val="bg1"/>
                    </a:solidFill>
                  </a:rPr>
                  <a:t>Gamma</a:t>
                </a:r>
              </a:p>
            </p:txBody>
          </p:sp>
        </p:grpSp>
        <p:grpSp>
          <p:nvGrpSpPr>
            <p:cNvPr id="6178" name="Group 333"/>
            <p:cNvGrpSpPr>
              <a:grpSpLocks/>
            </p:cNvGrpSpPr>
            <p:nvPr/>
          </p:nvGrpSpPr>
          <p:grpSpPr bwMode="auto">
            <a:xfrm>
              <a:off x="3131" y="2198"/>
              <a:ext cx="478" cy="501"/>
              <a:chOff x="3131" y="2198"/>
              <a:chExt cx="478" cy="501"/>
            </a:xfrm>
          </p:grpSpPr>
          <p:grpSp>
            <p:nvGrpSpPr>
              <p:cNvPr id="6179" name="Group 23"/>
              <p:cNvGrpSpPr>
                <a:grpSpLocks/>
              </p:cNvGrpSpPr>
              <p:nvPr/>
            </p:nvGrpSpPr>
            <p:grpSpPr bwMode="auto">
              <a:xfrm>
                <a:off x="3131" y="2349"/>
                <a:ext cx="478" cy="350"/>
                <a:chOff x="3645" y="339"/>
                <a:chExt cx="780" cy="570"/>
              </a:xfrm>
            </p:grpSpPr>
            <p:sp>
              <p:nvSpPr>
                <p:cNvPr id="6181" name="Rectangle 24"/>
                <p:cNvSpPr>
                  <a:spLocks noChangeArrowheads="1"/>
                </p:cNvSpPr>
                <p:nvPr/>
              </p:nvSpPr>
              <p:spPr bwMode="auto">
                <a:xfrm>
                  <a:off x="3645" y="339"/>
                  <a:ext cx="780" cy="57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miter lim="800000"/>
                  <a:headEnd/>
                  <a:tailEnd/>
                </a:ln>
                <a:effectLst/>
                <a:scene3d>
                  <a:camera prst="legacyObliqueTopLef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bg1"/>
                  </a:extrusion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sv-SE"/>
                </a:p>
              </p:txBody>
            </p:sp>
            <p:grpSp>
              <p:nvGrpSpPr>
                <p:cNvPr id="6182" name="Group 25"/>
                <p:cNvGrpSpPr>
                  <a:grpSpLocks/>
                </p:cNvGrpSpPr>
                <p:nvPr/>
              </p:nvGrpSpPr>
              <p:grpSpPr bwMode="auto">
                <a:xfrm>
                  <a:off x="3737" y="414"/>
                  <a:ext cx="624" cy="495"/>
                  <a:chOff x="3731" y="414"/>
                  <a:chExt cx="624" cy="495"/>
                </a:xfrm>
              </p:grpSpPr>
              <p:grpSp>
                <p:nvGrpSpPr>
                  <p:cNvPr id="6183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3731" y="414"/>
                    <a:ext cx="624" cy="192"/>
                    <a:chOff x="672" y="720"/>
                    <a:chExt cx="999" cy="288"/>
                  </a:xfrm>
                </p:grpSpPr>
                <p:sp>
                  <p:nvSpPr>
                    <p:cNvPr id="6188" name="Rectangle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2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189" name="Rectangl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190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84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  <p:sp>
                  <p:nvSpPr>
                    <p:cNvPr id="6191" name="Rectangle 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40" y="720"/>
                      <a:ext cx="231" cy="288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19050">
                      <a:solidFill>
                        <a:srgbClr val="D2D2D2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sv-SE"/>
                    </a:p>
                  </p:txBody>
                </p:sp>
              </p:grpSp>
              <p:sp>
                <p:nvSpPr>
                  <p:cNvPr id="6184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73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185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654"/>
                    <a:ext cx="144" cy="255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186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6187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4211" y="654"/>
                    <a:ext cx="144" cy="192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</p:grpSp>
          <p:sp>
            <p:nvSpPr>
              <p:cNvPr id="6180" name="Rectangle 285"/>
              <p:cNvSpPr>
                <a:spLocks noChangeArrowheads="1"/>
              </p:cNvSpPr>
              <p:nvPr/>
            </p:nvSpPr>
            <p:spPr bwMode="auto">
              <a:xfrm>
                <a:off x="3190" y="2198"/>
                <a:ext cx="336" cy="136"/>
              </a:xfrm>
              <a:prstGeom prst="rect">
                <a:avLst/>
              </a:prstGeom>
              <a:pattFill prst="dkVert">
                <a:fgClr>
                  <a:srgbClr val="CCFF99"/>
                </a:fgClr>
                <a:bgClr>
                  <a:srgbClr val="9FEB43"/>
                </a:bgClr>
              </a:pattFill>
              <a:ln w="952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GB" sz="1000" b="1" dirty="0">
                    <a:solidFill>
                      <a:schemeClr val="bg1"/>
                    </a:solidFill>
                  </a:rPr>
                  <a:t>Delta</a:t>
                </a:r>
              </a:p>
            </p:txBody>
          </p:sp>
        </p:grpSp>
      </p:grpSp>
      <p:sp>
        <p:nvSpPr>
          <p:cNvPr id="3366" name="Rectangle 294"/>
          <p:cNvSpPr>
            <a:spLocks noChangeArrowheads="1"/>
          </p:cNvSpPr>
          <p:nvPr/>
        </p:nvSpPr>
        <p:spPr bwMode="auto">
          <a:xfrm>
            <a:off x="604838" y="2362200"/>
            <a:ext cx="2362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You are all fighting for the </a:t>
            </a:r>
            <a:r>
              <a:rPr lang="en-GB" sz="1100" b="1" dirty="0"/>
              <a:t>same customers</a:t>
            </a:r>
            <a:r>
              <a:rPr lang="en-GB" sz="1100" dirty="0"/>
              <a:t> in a changing market.</a:t>
            </a:r>
          </a:p>
        </p:txBody>
      </p:sp>
      <p:sp>
        <p:nvSpPr>
          <p:cNvPr id="3369" name="Rectangle 297"/>
          <p:cNvSpPr>
            <a:spLocks noChangeArrowheads="1"/>
          </p:cNvSpPr>
          <p:nvPr/>
        </p:nvSpPr>
        <p:spPr bwMode="auto">
          <a:xfrm>
            <a:off x="604838" y="1828800"/>
            <a:ext cx="2362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Your company has (at least) three major </a:t>
            </a:r>
            <a:r>
              <a:rPr lang="en-GB" sz="1100" b="1" dirty="0"/>
              <a:t>competitors.</a:t>
            </a:r>
          </a:p>
        </p:txBody>
      </p:sp>
      <p:sp>
        <p:nvSpPr>
          <p:cNvPr id="3370" name="Rectangle 298"/>
          <p:cNvSpPr>
            <a:spLocks noChangeArrowheads="1"/>
          </p:cNvSpPr>
          <p:nvPr/>
        </p:nvSpPr>
        <p:spPr bwMode="auto">
          <a:xfrm>
            <a:off x="604838" y="2997200"/>
            <a:ext cx="2362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The customers have different </a:t>
            </a:r>
            <a:r>
              <a:rPr lang="en-GB" sz="1100" b="1" dirty="0"/>
              <a:t>needs and preferences</a:t>
            </a:r>
            <a:r>
              <a:rPr lang="en-GB" sz="1100" dirty="0"/>
              <a:t>.</a:t>
            </a:r>
          </a:p>
        </p:txBody>
      </p:sp>
      <p:sp>
        <p:nvSpPr>
          <p:cNvPr id="3371" name="Rectangle 299"/>
          <p:cNvSpPr>
            <a:spLocks noChangeArrowheads="1"/>
          </p:cNvSpPr>
          <p:nvPr/>
        </p:nvSpPr>
        <p:spPr bwMode="auto">
          <a:xfrm>
            <a:off x="604838" y="3475038"/>
            <a:ext cx="2362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This is what matters to them: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Your OFFER (product portfolio)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Your PEOPLE (skills &amp; culture)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>
                <a:solidFill>
                  <a:schemeClr val="bg1"/>
                </a:solidFill>
              </a:rPr>
              <a:t>Your</a:t>
            </a:r>
            <a:r>
              <a:rPr lang="en-GB" sz="1100" dirty="0"/>
              <a:t> PROCESSES (efficiency)</a:t>
            </a:r>
          </a:p>
          <a:p>
            <a:pPr>
              <a:spcAft>
                <a:spcPts val="600"/>
              </a:spcAft>
            </a:pPr>
            <a:r>
              <a:rPr lang="en-GB" sz="1100" dirty="0" smtClean="0"/>
              <a:t>and </a:t>
            </a:r>
            <a:r>
              <a:rPr lang="en-GB" sz="1100" dirty="0"/>
              <a:t>your PRICES</a:t>
            </a:r>
          </a:p>
        </p:txBody>
      </p:sp>
      <p:sp>
        <p:nvSpPr>
          <p:cNvPr id="3372" name="Rectangle 300"/>
          <p:cNvSpPr>
            <a:spLocks noChangeArrowheads="1"/>
          </p:cNvSpPr>
          <p:nvPr/>
        </p:nvSpPr>
        <p:spPr bwMode="auto">
          <a:xfrm>
            <a:off x="604838" y="5189538"/>
            <a:ext cx="2362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300" dirty="0"/>
              <a:t>The WINNER is…</a:t>
            </a:r>
            <a:r>
              <a:rPr lang="en-GB" sz="1100" dirty="0"/>
              <a:t>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… the company that creates the greatest </a:t>
            </a:r>
            <a:r>
              <a:rPr lang="en-GB" sz="1100" b="1" dirty="0"/>
              <a:t>short term </a:t>
            </a:r>
            <a:r>
              <a:rPr lang="en-GB" sz="1100" b="1" i="1" dirty="0"/>
              <a:t>and</a:t>
            </a:r>
            <a:r>
              <a:rPr lang="en-GB" sz="1100" b="1" dirty="0"/>
              <a:t> long term value</a:t>
            </a:r>
            <a:r>
              <a:rPr lang="en-GB" sz="1100" dirty="0"/>
              <a:t> for their main stakeholders.</a:t>
            </a:r>
          </a:p>
        </p:txBody>
      </p:sp>
      <p:grpSp>
        <p:nvGrpSpPr>
          <p:cNvPr id="3406" name="Group 334"/>
          <p:cNvGrpSpPr>
            <a:grpSpLocks/>
          </p:cNvGrpSpPr>
          <p:nvPr/>
        </p:nvGrpSpPr>
        <p:grpSpPr bwMode="auto">
          <a:xfrm>
            <a:off x="604838" y="1216025"/>
            <a:ext cx="3584575" cy="1600200"/>
            <a:chOff x="381" y="766"/>
            <a:chExt cx="2258" cy="1008"/>
          </a:xfrm>
        </p:grpSpPr>
        <p:sp>
          <p:nvSpPr>
            <p:cNvPr id="6173" name="Rectangle 296"/>
            <p:cNvSpPr>
              <a:spLocks noChangeArrowheads="1"/>
            </p:cNvSpPr>
            <p:nvPr/>
          </p:nvSpPr>
          <p:spPr bwMode="auto">
            <a:xfrm>
              <a:off x="381" y="768"/>
              <a:ext cx="14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You are a member of, for example, Alpha’s management team.</a:t>
              </a:r>
            </a:p>
          </p:txBody>
        </p:sp>
        <p:pic>
          <p:nvPicPr>
            <p:cNvPr id="6174" name="Picture 305" descr="Picture 4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9" y="766"/>
              <a:ext cx="610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75" name="Line 306"/>
            <p:cNvSpPr>
              <a:spLocks noChangeShapeType="1"/>
            </p:cNvSpPr>
            <p:nvPr/>
          </p:nvSpPr>
          <p:spPr bwMode="auto">
            <a:xfrm>
              <a:off x="381" y="1026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91" name="Group 319"/>
          <p:cNvGrpSpPr>
            <a:grpSpLocks/>
          </p:cNvGrpSpPr>
          <p:nvPr/>
        </p:nvGrpSpPr>
        <p:grpSpPr bwMode="auto">
          <a:xfrm>
            <a:off x="2971800" y="3427413"/>
            <a:ext cx="1524000" cy="1239837"/>
            <a:chOff x="1872" y="2009"/>
            <a:chExt cx="915" cy="775"/>
          </a:xfrm>
        </p:grpSpPr>
        <p:sp>
          <p:nvSpPr>
            <p:cNvPr id="6163" name="AutoShape 308"/>
            <p:cNvSpPr>
              <a:spLocks noChangeArrowheads="1"/>
            </p:cNvSpPr>
            <p:nvPr/>
          </p:nvSpPr>
          <p:spPr bwMode="auto">
            <a:xfrm>
              <a:off x="1996" y="2164"/>
              <a:ext cx="661" cy="45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0D95C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6164" name="Group 309"/>
            <p:cNvGrpSpPr>
              <a:grpSpLocks/>
            </p:cNvGrpSpPr>
            <p:nvPr/>
          </p:nvGrpSpPr>
          <p:grpSpPr bwMode="auto">
            <a:xfrm>
              <a:off x="1872" y="2009"/>
              <a:ext cx="915" cy="775"/>
              <a:chOff x="2718" y="553"/>
              <a:chExt cx="2688" cy="2275"/>
            </a:xfrm>
          </p:grpSpPr>
          <p:sp>
            <p:nvSpPr>
              <p:cNvPr id="6170" name="Oval 310"/>
              <p:cNvSpPr>
                <a:spLocks noChangeArrowheads="1"/>
              </p:cNvSpPr>
              <p:nvPr/>
            </p:nvSpPr>
            <p:spPr bwMode="auto">
              <a:xfrm>
                <a:off x="2718" y="1967"/>
                <a:ext cx="861" cy="8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6171" name="Oval 311"/>
              <p:cNvSpPr>
                <a:spLocks noChangeArrowheads="1"/>
              </p:cNvSpPr>
              <p:nvPr/>
            </p:nvSpPr>
            <p:spPr bwMode="auto">
              <a:xfrm>
                <a:off x="4545" y="1967"/>
                <a:ext cx="861" cy="8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6172" name="Oval 312"/>
              <p:cNvSpPr>
                <a:spLocks noChangeArrowheads="1"/>
              </p:cNvSpPr>
              <p:nvPr/>
            </p:nvSpPr>
            <p:spPr bwMode="auto">
              <a:xfrm>
                <a:off x="3613" y="553"/>
                <a:ext cx="861" cy="8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D95C7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6165" name="Rectangle 313"/>
            <p:cNvSpPr>
              <a:spLocks noChangeArrowheads="1"/>
            </p:cNvSpPr>
            <p:nvPr/>
          </p:nvSpPr>
          <p:spPr bwMode="auto">
            <a:xfrm>
              <a:off x="2189" y="2113"/>
              <a:ext cx="271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b="1">
                  <a:latin typeface="Arial Narrow" pitchFamily="34" charset="0"/>
                </a:rPr>
                <a:t>Offer</a:t>
              </a:r>
            </a:p>
          </p:txBody>
        </p:sp>
        <p:sp>
          <p:nvSpPr>
            <p:cNvPr id="6166" name="Rectangle 314"/>
            <p:cNvSpPr>
              <a:spLocks noChangeArrowheads="1"/>
            </p:cNvSpPr>
            <p:nvPr/>
          </p:nvSpPr>
          <p:spPr bwMode="auto">
            <a:xfrm>
              <a:off x="2502" y="2587"/>
              <a:ext cx="282" cy="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600"/>
                </a:spcAft>
              </a:pPr>
              <a:r>
                <a:rPr lang="en-GB" sz="800" b="1">
                  <a:latin typeface="Arial Narrow" pitchFamily="34" charset="0"/>
                </a:rPr>
                <a:t>Processes</a:t>
              </a:r>
            </a:p>
          </p:txBody>
        </p:sp>
        <p:sp>
          <p:nvSpPr>
            <p:cNvPr id="6167" name="Rectangle 315"/>
            <p:cNvSpPr>
              <a:spLocks noChangeArrowheads="1"/>
            </p:cNvSpPr>
            <p:nvPr/>
          </p:nvSpPr>
          <p:spPr bwMode="auto">
            <a:xfrm>
              <a:off x="1880" y="2590"/>
              <a:ext cx="271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b="1">
                  <a:latin typeface="Arial Narrow" pitchFamily="34" charset="0"/>
                </a:rPr>
                <a:t>People </a:t>
              </a:r>
            </a:p>
          </p:txBody>
        </p:sp>
        <p:sp>
          <p:nvSpPr>
            <p:cNvPr id="6168" name="Oval 316"/>
            <p:cNvSpPr>
              <a:spLocks noChangeArrowheads="1"/>
            </p:cNvSpPr>
            <p:nvPr/>
          </p:nvSpPr>
          <p:spPr bwMode="auto">
            <a:xfrm>
              <a:off x="2241" y="2366"/>
              <a:ext cx="186" cy="18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5CCE0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6169" name="Rectangle 317"/>
            <p:cNvSpPr>
              <a:spLocks noChangeArrowheads="1"/>
            </p:cNvSpPr>
            <p:nvPr/>
          </p:nvSpPr>
          <p:spPr bwMode="auto">
            <a:xfrm>
              <a:off x="2225" y="2410"/>
              <a:ext cx="219" cy="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600"/>
                </a:spcAft>
              </a:pPr>
              <a:r>
                <a:rPr lang="en-GB" sz="800" b="1">
                  <a:latin typeface="Arial Narrow" pitchFamily="34" charset="0"/>
                </a:rPr>
                <a:t>Price</a:t>
              </a:r>
            </a:p>
          </p:txBody>
        </p:sp>
      </p:grpSp>
      <p:grpSp>
        <p:nvGrpSpPr>
          <p:cNvPr id="3400" name="Group 328"/>
          <p:cNvGrpSpPr>
            <a:grpSpLocks/>
          </p:cNvGrpSpPr>
          <p:nvPr/>
        </p:nvGrpSpPr>
        <p:grpSpPr bwMode="auto">
          <a:xfrm>
            <a:off x="3059113" y="5181600"/>
            <a:ext cx="1436687" cy="839788"/>
            <a:chOff x="1968" y="3408"/>
            <a:chExt cx="672" cy="432"/>
          </a:xfrm>
        </p:grpSpPr>
        <p:sp>
          <p:nvSpPr>
            <p:cNvPr id="6160" name="Freeform 322"/>
            <p:cNvSpPr>
              <a:spLocks/>
            </p:cNvSpPr>
            <p:nvPr/>
          </p:nvSpPr>
          <p:spPr bwMode="auto">
            <a:xfrm>
              <a:off x="1986" y="3469"/>
              <a:ext cx="579" cy="292"/>
            </a:xfrm>
            <a:custGeom>
              <a:avLst/>
              <a:gdLst>
                <a:gd name="T0" fmla="*/ 0 w 579"/>
                <a:gd name="T1" fmla="*/ 292 h 292"/>
                <a:gd name="T2" fmla="*/ 89 w 579"/>
                <a:gd name="T3" fmla="*/ 248 h 292"/>
                <a:gd name="T4" fmla="*/ 177 w 579"/>
                <a:gd name="T5" fmla="*/ 259 h 292"/>
                <a:gd name="T6" fmla="*/ 238 w 579"/>
                <a:gd name="T7" fmla="*/ 155 h 292"/>
                <a:gd name="T8" fmla="*/ 326 w 579"/>
                <a:gd name="T9" fmla="*/ 128 h 292"/>
                <a:gd name="T10" fmla="*/ 393 w 579"/>
                <a:gd name="T11" fmla="*/ 62 h 292"/>
                <a:gd name="T12" fmla="*/ 473 w 579"/>
                <a:gd name="T13" fmla="*/ 24 h 292"/>
                <a:gd name="T14" fmla="*/ 579 w 579"/>
                <a:gd name="T15" fmla="*/ 0 h 2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9" h="292">
                  <a:moveTo>
                    <a:pt x="0" y="292"/>
                  </a:moveTo>
                  <a:lnTo>
                    <a:pt x="89" y="248"/>
                  </a:lnTo>
                  <a:lnTo>
                    <a:pt x="177" y="259"/>
                  </a:lnTo>
                  <a:lnTo>
                    <a:pt x="238" y="155"/>
                  </a:lnTo>
                  <a:lnTo>
                    <a:pt x="326" y="128"/>
                  </a:lnTo>
                  <a:lnTo>
                    <a:pt x="393" y="62"/>
                  </a:lnTo>
                  <a:lnTo>
                    <a:pt x="473" y="24"/>
                  </a:lnTo>
                  <a:lnTo>
                    <a:pt x="579" y="0"/>
                  </a:lnTo>
                </a:path>
              </a:pathLst>
            </a:custGeom>
            <a:noFill/>
            <a:ln w="38100" cmpd="sng">
              <a:solidFill>
                <a:srgbClr val="256EB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1" name="Line 323"/>
            <p:cNvSpPr>
              <a:spLocks noChangeShapeType="1"/>
            </p:cNvSpPr>
            <p:nvPr/>
          </p:nvSpPr>
          <p:spPr bwMode="auto">
            <a:xfrm>
              <a:off x="1968" y="3840"/>
              <a:ext cx="672" cy="0"/>
            </a:xfrm>
            <a:prstGeom prst="line">
              <a:avLst/>
            </a:prstGeom>
            <a:noFill/>
            <a:ln w="9525">
              <a:solidFill>
                <a:srgbClr val="256EB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Line 324"/>
            <p:cNvSpPr>
              <a:spLocks noChangeShapeType="1"/>
            </p:cNvSpPr>
            <p:nvPr/>
          </p:nvSpPr>
          <p:spPr bwMode="auto">
            <a:xfrm rot="-5400000">
              <a:off x="1752" y="3624"/>
              <a:ext cx="432" cy="0"/>
            </a:xfrm>
            <a:prstGeom prst="line">
              <a:avLst/>
            </a:prstGeom>
            <a:noFill/>
            <a:ln w="9525">
              <a:solidFill>
                <a:srgbClr val="256EB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8" name="Rectangle 330"/>
          <p:cNvSpPr>
            <a:spLocks noChangeArrowheads="1"/>
          </p:cNvSpPr>
          <p:nvPr/>
        </p:nvSpPr>
        <p:spPr bwMode="auto">
          <a:xfrm>
            <a:off x="604838" y="304800"/>
            <a:ext cx="49577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1. In a nutshell – your challenge as a team</a:t>
            </a:r>
          </a:p>
        </p:txBody>
      </p:sp>
      <p:sp>
        <p:nvSpPr>
          <p:cNvPr id="3411" name="AutoShape 339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11673" y="6237312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251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9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3600"/>
                                        <p:tgtEl>
                                          <p:spTgt spid="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26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48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68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6" grpId="0"/>
      <p:bldP spid="3369" grpId="0"/>
      <p:bldP spid="3370" grpId="0"/>
      <p:bldP spid="3371" grpId="0"/>
      <p:bldP spid="3372" grpId="0"/>
      <p:bldP spid="34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49" name="Rectangle 225"/>
          <p:cNvSpPr>
            <a:spLocks noChangeArrowheads="1"/>
          </p:cNvSpPr>
          <p:nvPr/>
        </p:nvSpPr>
        <p:spPr bwMode="auto">
          <a:xfrm>
            <a:off x="609600" y="3200400"/>
            <a:ext cx="2362200" cy="2362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Your core offer is simply called COR</a:t>
            </a:r>
            <a:r>
              <a:rPr lang="en-GB" sz="11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On top of that there are five more products (or product lines) you can decide to offer. They are called: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ECO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BIM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ENT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DAT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PRO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When you launch a new product you have to pay: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US" sz="1100" dirty="0"/>
              <a:t>start-up cost (one-time investment)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US" sz="1100" dirty="0"/>
              <a:t>running cost (yearly)</a:t>
            </a:r>
            <a:endParaRPr lang="en-GB" sz="1100" dirty="0"/>
          </a:p>
        </p:txBody>
      </p:sp>
      <p:sp>
        <p:nvSpPr>
          <p:cNvPr id="52450" name="Rectangle 226"/>
          <p:cNvSpPr>
            <a:spLocks noChangeArrowheads="1"/>
          </p:cNvSpPr>
          <p:nvPr/>
        </p:nvSpPr>
        <p:spPr bwMode="auto">
          <a:xfrm>
            <a:off x="604838" y="1828800"/>
            <a:ext cx="2362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The simulated company could be anything from a typical </a:t>
            </a:r>
            <a:r>
              <a:rPr lang="en-GB" sz="1100" b="1" dirty="0"/>
              <a:t>service provider</a:t>
            </a:r>
            <a:r>
              <a:rPr lang="en-GB" sz="1100" dirty="0"/>
              <a:t> (bank, insurance, telecom, consultancy, health care) to a </a:t>
            </a:r>
            <a:r>
              <a:rPr lang="en-GB" sz="1100" b="1" dirty="0"/>
              <a:t>manufacturing</a:t>
            </a:r>
            <a:r>
              <a:rPr lang="en-GB" sz="1100" dirty="0"/>
              <a:t> company providing Value Added Services (VAS) of different kinds.</a:t>
            </a:r>
          </a:p>
        </p:txBody>
      </p:sp>
      <p:sp>
        <p:nvSpPr>
          <p:cNvPr id="7172" name="Rectangle 231"/>
          <p:cNvSpPr>
            <a:spLocks noChangeArrowheads="1"/>
          </p:cNvSpPr>
          <p:nvPr/>
        </p:nvSpPr>
        <p:spPr bwMode="auto">
          <a:xfrm>
            <a:off x="604838" y="1390650"/>
            <a:ext cx="23622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About the </a:t>
            </a:r>
            <a:r>
              <a:rPr lang="en-GB" sz="1100" b="1" dirty="0"/>
              <a:t>products</a:t>
            </a:r>
            <a:r>
              <a:rPr lang="en-GB" sz="1100" dirty="0"/>
              <a:t> you can offer…</a:t>
            </a:r>
          </a:p>
        </p:txBody>
      </p:sp>
      <p:pic>
        <p:nvPicPr>
          <p:cNvPr id="7173" name="Picture 232" descr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038" y="1390650"/>
            <a:ext cx="9683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Line 233"/>
          <p:cNvSpPr>
            <a:spLocks noChangeShapeType="1"/>
          </p:cNvSpPr>
          <p:nvPr/>
        </p:nvSpPr>
        <p:spPr bwMode="auto">
          <a:xfrm>
            <a:off x="604838" y="1628775"/>
            <a:ext cx="24431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Rectangle 249"/>
          <p:cNvSpPr>
            <a:spLocks noChangeArrowheads="1"/>
          </p:cNvSpPr>
          <p:nvPr/>
        </p:nvSpPr>
        <p:spPr bwMode="auto">
          <a:xfrm>
            <a:off x="604838" y="304800"/>
            <a:ext cx="42719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1. In a nutshell: The products</a:t>
            </a:r>
          </a:p>
        </p:txBody>
      </p:sp>
      <p:grpSp>
        <p:nvGrpSpPr>
          <p:cNvPr id="52524" name="Group 300"/>
          <p:cNvGrpSpPr>
            <a:grpSpLocks/>
          </p:cNvGrpSpPr>
          <p:nvPr/>
        </p:nvGrpSpPr>
        <p:grpSpPr bwMode="auto">
          <a:xfrm>
            <a:off x="5133975" y="685800"/>
            <a:ext cx="2971800" cy="914400"/>
            <a:chOff x="3234" y="432"/>
            <a:chExt cx="1872" cy="576"/>
          </a:xfrm>
        </p:grpSpPr>
        <p:sp>
          <p:nvSpPr>
            <p:cNvPr id="7195" name="AutoShape 280"/>
            <p:cNvSpPr>
              <a:spLocks noChangeArrowheads="1"/>
            </p:cNvSpPr>
            <p:nvPr/>
          </p:nvSpPr>
          <p:spPr bwMode="auto">
            <a:xfrm>
              <a:off x="3234" y="432"/>
              <a:ext cx="1872" cy="576"/>
            </a:xfrm>
            <a:prstGeom prst="roundRect">
              <a:avLst>
                <a:gd name="adj" fmla="val 9898"/>
              </a:avLst>
            </a:prstGeom>
            <a:solidFill>
              <a:srgbClr val="FF9900">
                <a:alpha val="79000"/>
              </a:srgbClr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pic>
          <p:nvPicPr>
            <p:cNvPr id="7196" name="Picture 281" descr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9" t="9692" r="1950" b="25743"/>
            <a:stretch>
              <a:fillRect/>
            </a:stretch>
          </p:blipFill>
          <p:spPr bwMode="auto">
            <a:xfrm>
              <a:off x="3292" y="688"/>
              <a:ext cx="175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7" name="Rectangle 282"/>
            <p:cNvSpPr>
              <a:spLocks noChangeArrowheads="1"/>
            </p:cNvSpPr>
            <p:nvPr/>
          </p:nvSpPr>
          <p:spPr bwMode="auto">
            <a:xfrm>
              <a:off x="3316" y="500"/>
              <a:ext cx="111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300"/>
                <a:t>Product portfolio</a:t>
              </a:r>
            </a:p>
          </p:txBody>
        </p:sp>
      </p:grpSp>
      <p:grpSp>
        <p:nvGrpSpPr>
          <p:cNvPr id="7177" name="Group 284"/>
          <p:cNvGrpSpPr>
            <a:grpSpLocks/>
          </p:cNvGrpSpPr>
          <p:nvPr/>
        </p:nvGrpSpPr>
        <p:grpSpPr bwMode="auto">
          <a:xfrm>
            <a:off x="5016500" y="1739900"/>
            <a:ext cx="3365500" cy="2755900"/>
            <a:chOff x="2880" y="288"/>
            <a:chExt cx="2120" cy="1736"/>
          </a:xfrm>
        </p:grpSpPr>
        <p:sp>
          <p:nvSpPr>
            <p:cNvPr id="7188" name="AutoShape 285"/>
            <p:cNvSpPr>
              <a:spLocks noChangeArrowheads="1"/>
            </p:cNvSpPr>
            <p:nvPr/>
          </p:nvSpPr>
          <p:spPr bwMode="auto">
            <a:xfrm>
              <a:off x="3189" y="632"/>
              <a:ext cx="1481" cy="1026"/>
            </a:xfrm>
            <a:prstGeom prst="triangle">
              <a:avLst>
                <a:gd name="adj" fmla="val 50000"/>
              </a:avLst>
            </a:prstGeom>
            <a:noFill/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89" name="Oval 286"/>
            <p:cNvSpPr>
              <a:spLocks noChangeArrowheads="1"/>
            </p:cNvSpPr>
            <p:nvPr/>
          </p:nvSpPr>
          <p:spPr bwMode="auto">
            <a:xfrm>
              <a:off x="2880" y="1344"/>
              <a:ext cx="680" cy="680"/>
            </a:xfrm>
            <a:prstGeom prst="ellipse">
              <a:avLst/>
            </a:prstGeom>
            <a:gradFill rotWithShape="0">
              <a:gsLst>
                <a:gs pos="0">
                  <a:srgbClr val="F7FB2E"/>
                </a:gs>
                <a:gs pos="100000">
                  <a:srgbClr val="DA8700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90" name="Oval 287"/>
            <p:cNvSpPr>
              <a:spLocks noChangeArrowheads="1"/>
            </p:cNvSpPr>
            <p:nvPr/>
          </p:nvSpPr>
          <p:spPr bwMode="auto">
            <a:xfrm>
              <a:off x="4320" y="1344"/>
              <a:ext cx="680" cy="680"/>
            </a:xfrm>
            <a:prstGeom prst="ellipse">
              <a:avLst/>
            </a:prstGeom>
            <a:gradFill rotWithShape="0">
              <a:gsLst>
                <a:gs pos="0">
                  <a:srgbClr val="F7FB2E"/>
                </a:gs>
                <a:gs pos="100000">
                  <a:srgbClr val="DA8700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91" name="Oval 288"/>
            <p:cNvSpPr>
              <a:spLocks noChangeArrowheads="1"/>
            </p:cNvSpPr>
            <p:nvPr/>
          </p:nvSpPr>
          <p:spPr bwMode="auto">
            <a:xfrm>
              <a:off x="3594" y="288"/>
              <a:ext cx="680" cy="680"/>
            </a:xfrm>
            <a:prstGeom prst="ellipse">
              <a:avLst/>
            </a:prstGeom>
            <a:gradFill rotWithShape="0">
              <a:gsLst>
                <a:gs pos="0">
                  <a:srgbClr val="F7FB2E"/>
                </a:gs>
                <a:gs pos="100000">
                  <a:srgbClr val="DA8700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92" name="Rectangle 289"/>
            <p:cNvSpPr>
              <a:spLocks noChangeArrowheads="1"/>
            </p:cNvSpPr>
            <p:nvPr/>
          </p:nvSpPr>
          <p:spPr bwMode="auto">
            <a:xfrm>
              <a:off x="3621" y="517"/>
              <a:ext cx="606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800"/>
                <a:t>Offer</a:t>
              </a:r>
            </a:p>
          </p:txBody>
        </p:sp>
        <p:sp>
          <p:nvSpPr>
            <p:cNvPr id="7193" name="Rectangle 290"/>
            <p:cNvSpPr>
              <a:spLocks noChangeArrowheads="1"/>
            </p:cNvSpPr>
            <p:nvPr/>
          </p:nvSpPr>
          <p:spPr bwMode="auto">
            <a:xfrm>
              <a:off x="2905" y="1528"/>
              <a:ext cx="60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GB" sz="1400"/>
                <a:t>People </a:t>
              </a:r>
              <a:br>
                <a:rPr lang="en-GB" sz="1400"/>
              </a:br>
              <a:r>
                <a:rPr lang="en-GB" sz="1400"/>
                <a:t>&amp; culture</a:t>
              </a:r>
            </a:p>
          </p:txBody>
        </p:sp>
        <p:sp>
          <p:nvSpPr>
            <p:cNvPr id="7194" name="Rectangle 291"/>
            <p:cNvSpPr>
              <a:spLocks noChangeArrowheads="1"/>
            </p:cNvSpPr>
            <p:nvPr/>
          </p:nvSpPr>
          <p:spPr bwMode="auto">
            <a:xfrm>
              <a:off x="4332" y="1528"/>
              <a:ext cx="63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GB" sz="1400"/>
                <a:t>Business</a:t>
              </a:r>
              <a:br>
                <a:rPr lang="en-GB" sz="1400"/>
              </a:br>
              <a:r>
                <a:rPr lang="en-GB" sz="1400"/>
                <a:t>processes</a:t>
              </a:r>
            </a:p>
          </p:txBody>
        </p:sp>
      </p:grpSp>
      <p:grpSp>
        <p:nvGrpSpPr>
          <p:cNvPr id="52516" name="Group 292"/>
          <p:cNvGrpSpPr>
            <a:grpSpLocks/>
          </p:cNvGrpSpPr>
          <p:nvPr/>
        </p:nvGrpSpPr>
        <p:grpSpPr bwMode="auto">
          <a:xfrm>
            <a:off x="5016500" y="1739900"/>
            <a:ext cx="3365500" cy="2751138"/>
            <a:chOff x="507" y="280"/>
            <a:chExt cx="2120" cy="1733"/>
          </a:xfrm>
        </p:grpSpPr>
        <p:sp>
          <p:nvSpPr>
            <p:cNvPr id="7181" name="AutoShape 293"/>
            <p:cNvSpPr>
              <a:spLocks noChangeArrowheads="1"/>
            </p:cNvSpPr>
            <p:nvPr/>
          </p:nvSpPr>
          <p:spPr bwMode="auto">
            <a:xfrm>
              <a:off x="816" y="624"/>
              <a:ext cx="1481" cy="1026"/>
            </a:xfrm>
            <a:prstGeom prst="triangle">
              <a:avLst>
                <a:gd name="adj" fmla="val 50000"/>
              </a:avLst>
            </a:prstGeom>
            <a:noFill/>
            <a:ln w="571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82" name="Oval 294"/>
            <p:cNvSpPr>
              <a:spLocks noChangeArrowheads="1"/>
            </p:cNvSpPr>
            <p:nvPr/>
          </p:nvSpPr>
          <p:spPr bwMode="auto">
            <a:xfrm>
              <a:off x="1947" y="1333"/>
              <a:ext cx="680" cy="680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3B3B3B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83" name="Oval 295"/>
            <p:cNvSpPr>
              <a:spLocks noChangeArrowheads="1"/>
            </p:cNvSpPr>
            <p:nvPr/>
          </p:nvSpPr>
          <p:spPr bwMode="auto">
            <a:xfrm>
              <a:off x="1221" y="280"/>
              <a:ext cx="680" cy="680"/>
            </a:xfrm>
            <a:prstGeom prst="ellipse">
              <a:avLst/>
            </a:prstGeom>
            <a:gradFill rotWithShape="0">
              <a:gsLst>
                <a:gs pos="0">
                  <a:srgbClr val="F7FB2E"/>
                </a:gs>
                <a:gs pos="100000">
                  <a:srgbClr val="DA8700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84" name="Oval 296"/>
            <p:cNvSpPr>
              <a:spLocks noChangeArrowheads="1"/>
            </p:cNvSpPr>
            <p:nvPr/>
          </p:nvSpPr>
          <p:spPr bwMode="auto">
            <a:xfrm>
              <a:off x="507" y="1333"/>
              <a:ext cx="680" cy="680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3B3B3B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7185" name="Rectangle 297"/>
            <p:cNvSpPr>
              <a:spLocks noChangeArrowheads="1"/>
            </p:cNvSpPr>
            <p:nvPr/>
          </p:nvSpPr>
          <p:spPr bwMode="auto">
            <a:xfrm>
              <a:off x="1248" y="509"/>
              <a:ext cx="606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800" dirty="0"/>
                <a:t>Offer</a:t>
              </a:r>
              <a:endParaRPr lang="en-GB" sz="1800" b="1" dirty="0"/>
            </a:p>
          </p:txBody>
        </p:sp>
        <p:sp>
          <p:nvSpPr>
            <p:cNvPr id="7186" name="Rectangle 298"/>
            <p:cNvSpPr>
              <a:spLocks noChangeArrowheads="1"/>
            </p:cNvSpPr>
            <p:nvPr/>
          </p:nvSpPr>
          <p:spPr bwMode="auto">
            <a:xfrm>
              <a:off x="532" y="1520"/>
              <a:ext cx="60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GB" sz="1400"/>
                <a:t>People </a:t>
              </a:r>
              <a:br>
                <a:rPr lang="en-GB" sz="1400"/>
              </a:br>
              <a:r>
                <a:rPr lang="en-GB" sz="1400"/>
                <a:t>&amp; culture</a:t>
              </a:r>
            </a:p>
          </p:txBody>
        </p:sp>
        <p:sp>
          <p:nvSpPr>
            <p:cNvPr id="7187" name="Rectangle 299"/>
            <p:cNvSpPr>
              <a:spLocks noChangeArrowheads="1"/>
            </p:cNvSpPr>
            <p:nvPr/>
          </p:nvSpPr>
          <p:spPr bwMode="auto">
            <a:xfrm>
              <a:off x="1959" y="1520"/>
              <a:ext cx="63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GB" sz="1400" dirty="0"/>
                <a:t>Business</a:t>
              </a:r>
              <a:br>
                <a:rPr lang="en-GB" sz="1400" dirty="0"/>
              </a:br>
              <a:r>
                <a:rPr lang="en-GB" sz="1400" dirty="0"/>
                <a:t>processes</a:t>
              </a:r>
            </a:p>
          </p:txBody>
        </p:sp>
      </p:grpSp>
      <p:sp>
        <p:nvSpPr>
          <p:cNvPr id="52525" name="AutoShape 301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03780" y="6237312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52526" name="AutoShape 302"/>
          <p:cNvSpPr>
            <a:spLocks noChangeArrowheads="1"/>
          </p:cNvSpPr>
          <p:nvPr/>
        </p:nvSpPr>
        <p:spPr bwMode="auto">
          <a:xfrm rot="5400000">
            <a:off x="879639" y="2930360"/>
            <a:ext cx="180000" cy="720079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00AEC6"/>
            </a:solidFill>
            <a:round/>
            <a:headEnd/>
            <a:tailEnd/>
          </a:ln>
          <a:effectLst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sv-SE" sz="1000" b="1" i="1" dirty="0" err="1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5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50" grpId="0"/>
      <p:bldP spid="52525" grpId="0" animBg="1"/>
      <p:bldP spid="525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60"/>
          <p:cNvGrpSpPr>
            <a:grpSpLocks/>
          </p:cNvGrpSpPr>
          <p:nvPr/>
        </p:nvGrpSpPr>
        <p:grpSpPr bwMode="auto">
          <a:xfrm>
            <a:off x="5016500" y="685800"/>
            <a:ext cx="3133201" cy="3547020"/>
            <a:chOff x="3160" y="432"/>
            <a:chExt cx="2120" cy="2400"/>
          </a:xfrm>
        </p:grpSpPr>
        <p:grpSp>
          <p:nvGrpSpPr>
            <p:cNvPr id="8230" name="Group 40"/>
            <p:cNvGrpSpPr>
              <a:grpSpLocks/>
            </p:cNvGrpSpPr>
            <p:nvPr/>
          </p:nvGrpSpPr>
          <p:grpSpPr bwMode="auto">
            <a:xfrm>
              <a:off x="3234" y="432"/>
              <a:ext cx="1872" cy="576"/>
              <a:chOff x="3234" y="432"/>
              <a:chExt cx="1872" cy="576"/>
            </a:xfrm>
          </p:grpSpPr>
          <p:sp>
            <p:nvSpPr>
              <p:cNvPr id="8247" name="AutoShape 41"/>
              <p:cNvSpPr>
                <a:spLocks noChangeArrowheads="1"/>
              </p:cNvSpPr>
              <p:nvPr/>
            </p:nvSpPr>
            <p:spPr bwMode="auto">
              <a:xfrm>
                <a:off x="3234" y="432"/>
                <a:ext cx="1872" cy="576"/>
              </a:xfrm>
              <a:prstGeom prst="roundRect">
                <a:avLst>
                  <a:gd name="adj" fmla="val 9898"/>
                </a:avLst>
              </a:prstGeom>
              <a:solidFill>
                <a:srgbClr val="FF9900">
                  <a:alpha val="79000"/>
                </a:srgbClr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pic>
            <p:nvPicPr>
              <p:cNvPr id="8248" name="Picture 42" descr="Picture 5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49" t="9692" r="1950" b="25743"/>
              <a:stretch>
                <a:fillRect/>
              </a:stretch>
            </p:blipFill>
            <p:spPr bwMode="auto">
              <a:xfrm>
                <a:off x="3292" y="688"/>
                <a:ext cx="175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49" name="Rectangle 43"/>
              <p:cNvSpPr>
                <a:spLocks noChangeArrowheads="1"/>
              </p:cNvSpPr>
              <p:nvPr/>
            </p:nvSpPr>
            <p:spPr bwMode="auto">
              <a:xfrm>
                <a:off x="3316" y="500"/>
                <a:ext cx="11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300"/>
                  <a:t>Product portfolio</a:t>
                </a:r>
              </a:p>
            </p:txBody>
          </p:sp>
        </p:grpSp>
        <p:grpSp>
          <p:nvGrpSpPr>
            <p:cNvPr id="8231" name="Group 44"/>
            <p:cNvGrpSpPr>
              <a:grpSpLocks/>
            </p:cNvGrpSpPr>
            <p:nvPr/>
          </p:nvGrpSpPr>
          <p:grpSpPr bwMode="auto">
            <a:xfrm>
              <a:off x="3160" y="1096"/>
              <a:ext cx="2120" cy="1736"/>
              <a:chOff x="2880" y="288"/>
              <a:chExt cx="2120" cy="1736"/>
            </a:xfrm>
          </p:grpSpPr>
          <p:sp>
            <p:nvSpPr>
              <p:cNvPr id="8240" name="AutoShape 45"/>
              <p:cNvSpPr>
                <a:spLocks noChangeArrowheads="1"/>
              </p:cNvSpPr>
              <p:nvPr/>
            </p:nvSpPr>
            <p:spPr bwMode="auto">
              <a:xfrm>
                <a:off x="3189" y="632"/>
                <a:ext cx="1481" cy="1026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5715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41" name="Oval 46"/>
              <p:cNvSpPr>
                <a:spLocks noChangeArrowheads="1"/>
              </p:cNvSpPr>
              <p:nvPr/>
            </p:nvSpPr>
            <p:spPr bwMode="auto">
              <a:xfrm>
                <a:off x="2880" y="1344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F7FB2E"/>
                  </a:gs>
                  <a:gs pos="100000">
                    <a:srgbClr val="DA8700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42" name="Oval 47"/>
              <p:cNvSpPr>
                <a:spLocks noChangeArrowheads="1"/>
              </p:cNvSpPr>
              <p:nvPr/>
            </p:nvSpPr>
            <p:spPr bwMode="auto">
              <a:xfrm>
                <a:off x="4320" y="1344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F7FB2E"/>
                  </a:gs>
                  <a:gs pos="100000">
                    <a:srgbClr val="DA8700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43" name="Oval 48"/>
              <p:cNvSpPr>
                <a:spLocks noChangeArrowheads="1"/>
              </p:cNvSpPr>
              <p:nvPr/>
            </p:nvSpPr>
            <p:spPr bwMode="auto">
              <a:xfrm>
                <a:off x="3594" y="288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F7FB2E"/>
                  </a:gs>
                  <a:gs pos="100000">
                    <a:srgbClr val="DA8700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44" name="Rectangle 49"/>
              <p:cNvSpPr>
                <a:spLocks noChangeArrowheads="1"/>
              </p:cNvSpPr>
              <p:nvPr/>
            </p:nvSpPr>
            <p:spPr bwMode="auto">
              <a:xfrm>
                <a:off x="3621" y="517"/>
                <a:ext cx="606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1800"/>
                  <a:t>Offer</a:t>
                </a:r>
              </a:p>
            </p:txBody>
          </p:sp>
          <p:sp>
            <p:nvSpPr>
              <p:cNvPr id="8245" name="Rectangle 50"/>
              <p:cNvSpPr>
                <a:spLocks noChangeArrowheads="1"/>
              </p:cNvSpPr>
              <p:nvPr/>
            </p:nvSpPr>
            <p:spPr bwMode="auto">
              <a:xfrm>
                <a:off x="2905" y="1528"/>
                <a:ext cx="606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GB" sz="1400"/>
                  <a:t>People </a:t>
                </a:r>
                <a:br>
                  <a:rPr lang="en-GB" sz="1400"/>
                </a:br>
                <a:r>
                  <a:rPr lang="en-GB" sz="1400"/>
                  <a:t>&amp; culture</a:t>
                </a:r>
              </a:p>
            </p:txBody>
          </p:sp>
          <p:sp>
            <p:nvSpPr>
              <p:cNvPr id="8246" name="Rectangle 51"/>
              <p:cNvSpPr>
                <a:spLocks noChangeArrowheads="1"/>
              </p:cNvSpPr>
              <p:nvPr/>
            </p:nvSpPr>
            <p:spPr bwMode="auto">
              <a:xfrm>
                <a:off x="4332" y="1528"/>
                <a:ext cx="632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GB" sz="1400"/>
                  <a:t>Business</a:t>
                </a:r>
                <a:br>
                  <a:rPr lang="en-GB" sz="1400"/>
                </a:br>
                <a:r>
                  <a:rPr lang="en-GB" sz="1400"/>
                  <a:t>processes</a:t>
                </a:r>
              </a:p>
            </p:txBody>
          </p:sp>
        </p:grpSp>
        <p:grpSp>
          <p:nvGrpSpPr>
            <p:cNvPr id="8232" name="Group 52"/>
            <p:cNvGrpSpPr>
              <a:grpSpLocks/>
            </p:cNvGrpSpPr>
            <p:nvPr/>
          </p:nvGrpSpPr>
          <p:grpSpPr bwMode="auto">
            <a:xfrm>
              <a:off x="3160" y="1096"/>
              <a:ext cx="2120" cy="1733"/>
              <a:chOff x="507" y="280"/>
              <a:chExt cx="2120" cy="1733"/>
            </a:xfrm>
          </p:grpSpPr>
          <p:sp>
            <p:nvSpPr>
              <p:cNvPr id="8233" name="AutoShape 53"/>
              <p:cNvSpPr>
                <a:spLocks noChangeArrowheads="1"/>
              </p:cNvSpPr>
              <p:nvPr/>
            </p:nvSpPr>
            <p:spPr bwMode="auto">
              <a:xfrm>
                <a:off x="816" y="624"/>
                <a:ext cx="1481" cy="102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5715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34" name="Oval 54"/>
              <p:cNvSpPr>
                <a:spLocks noChangeArrowheads="1"/>
              </p:cNvSpPr>
              <p:nvPr/>
            </p:nvSpPr>
            <p:spPr bwMode="auto">
              <a:xfrm>
                <a:off x="1947" y="1333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3B3B3B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35" name="Oval 55"/>
              <p:cNvSpPr>
                <a:spLocks noChangeArrowheads="1"/>
              </p:cNvSpPr>
              <p:nvPr/>
            </p:nvSpPr>
            <p:spPr bwMode="auto">
              <a:xfrm>
                <a:off x="1221" y="280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F7FB2E"/>
                  </a:gs>
                  <a:gs pos="100000">
                    <a:srgbClr val="DA8700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36" name="Oval 56"/>
              <p:cNvSpPr>
                <a:spLocks noChangeArrowheads="1"/>
              </p:cNvSpPr>
              <p:nvPr/>
            </p:nvSpPr>
            <p:spPr bwMode="auto">
              <a:xfrm>
                <a:off x="507" y="1333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3B3B3B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37" name="Rectangle 57"/>
              <p:cNvSpPr>
                <a:spLocks noChangeArrowheads="1"/>
              </p:cNvSpPr>
              <p:nvPr/>
            </p:nvSpPr>
            <p:spPr bwMode="auto">
              <a:xfrm>
                <a:off x="1248" y="509"/>
                <a:ext cx="606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1800"/>
                  <a:t>Offer</a:t>
                </a:r>
                <a:endParaRPr lang="en-GB" sz="1800" b="1"/>
              </a:p>
            </p:txBody>
          </p:sp>
          <p:sp>
            <p:nvSpPr>
              <p:cNvPr id="8238" name="Rectangle 58"/>
              <p:cNvSpPr>
                <a:spLocks noChangeArrowheads="1"/>
              </p:cNvSpPr>
              <p:nvPr/>
            </p:nvSpPr>
            <p:spPr bwMode="auto">
              <a:xfrm>
                <a:off x="532" y="1520"/>
                <a:ext cx="606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GB" sz="1400"/>
                  <a:t>People </a:t>
                </a:r>
                <a:br>
                  <a:rPr lang="en-GB" sz="1400"/>
                </a:br>
                <a:r>
                  <a:rPr lang="en-GB" sz="1400"/>
                  <a:t>&amp; culture</a:t>
                </a:r>
              </a:p>
            </p:txBody>
          </p:sp>
          <p:sp>
            <p:nvSpPr>
              <p:cNvPr id="8239" name="Rectangle 59"/>
              <p:cNvSpPr>
                <a:spLocks noChangeArrowheads="1"/>
              </p:cNvSpPr>
              <p:nvPr/>
            </p:nvSpPr>
            <p:spPr bwMode="auto">
              <a:xfrm>
                <a:off x="1959" y="1520"/>
                <a:ext cx="632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GB" sz="1400"/>
                  <a:t>Business</a:t>
                </a:r>
                <a:br>
                  <a:rPr lang="en-GB" sz="1400"/>
                </a:br>
                <a:r>
                  <a:rPr lang="en-GB" sz="1400"/>
                  <a:t>processes</a:t>
                </a:r>
              </a:p>
            </p:txBody>
          </p:sp>
        </p:grpSp>
      </p:grpSp>
      <p:grpSp>
        <p:nvGrpSpPr>
          <p:cNvPr id="60455" name="Group 39"/>
          <p:cNvGrpSpPr>
            <a:grpSpLocks/>
          </p:cNvGrpSpPr>
          <p:nvPr/>
        </p:nvGrpSpPr>
        <p:grpSpPr bwMode="auto">
          <a:xfrm>
            <a:off x="5010150" y="685800"/>
            <a:ext cx="3130673" cy="3538251"/>
            <a:chOff x="3154" y="432"/>
            <a:chExt cx="2120" cy="2396"/>
          </a:xfrm>
        </p:grpSpPr>
        <p:sp>
          <p:nvSpPr>
            <p:cNvPr id="8218" name="AutoShape 10"/>
            <p:cNvSpPr>
              <a:spLocks noChangeArrowheads="1"/>
            </p:cNvSpPr>
            <p:nvPr/>
          </p:nvSpPr>
          <p:spPr bwMode="auto">
            <a:xfrm>
              <a:off x="3234" y="432"/>
              <a:ext cx="1872" cy="576"/>
            </a:xfrm>
            <a:prstGeom prst="roundRect">
              <a:avLst>
                <a:gd name="adj" fmla="val 9898"/>
              </a:avLst>
            </a:prstGeom>
            <a:solidFill>
              <a:srgbClr val="7F7F7F"/>
            </a:solidFill>
            <a:ln w="38100">
              <a:solidFill>
                <a:srgbClr val="7F7F7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pic>
          <p:nvPicPr>
            <p:cNvPr id="8219" name="Picture 11" descr="Picture 5"/>
            <p:cNvPicPr>
              <a:picLocks noChangeAspect="1" noChangeArrowheads="1"/>
            </p:cNvPicPr>
            <p:nvPr/>
          </p:nvPicPr>
          <p:blipFill>
            <a:blip r:embed="rId3" cstate="print">
              <a:lum bright="-36000" contrast="-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9" t="9692" r="1950" b="25743"/>
            <a:stretch>
              <a:fillRect/>
            </a:stretch>
          </p:blipFill>
          <p:spPr bwMode="auto">
            <a:xfrm>
              <a:off x="3292" y="688"/>
              <a:ext cx="1756" cy="263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rgbClr val="7F7F7F"/>
              </a:solidFill>
              <a:miter lim="800000"/>
              <a:headEnd/>
              <a:tailEnd/>
            </a:ln>
          </p:spPr>
        </p:pic>
        <p:grpSp>
          <p:nvGrpSpPr>
            <p:cNvPr id="8220" name="Group 29"/>
            <p:cNvGrpSpPr>
              <a:grpSpLocks/>
            </p:cNvGrpSpPr>
            <p:nvPr/>
          </p:nvGrpSpPr>
          <p:grpSpPr bwMode="auto">
            <a:xfrm>
              <a:off x="3154" y="1092"/>
              <a:ext cx="2120" cy="1736"/>
              <a:chOff x="2880" y="2160"/>
              <a:chExt cx="2120" cy="1736"/>
            </a:xfrm>
          </p:grpSpPr>
          <p:sp>
            <p:nvSpPr>
              <p:cNvPr id="8221" name="AutoShape 30"/>
              <p:cNvSpPr>
                <a:spLocks noChangeArrowheads="1"/>
              </p:cNvSpPr>
              <p:nvPr/>
            </p:nvSpPr>
            <p:spPr bwMode="auto">
              <a:xfrm>
                <a:off x="3189" y="2504"/>
                <a:ext cx="1481" cy="1026"/>
              </a:xfrm>
              <a:prstGeom prst="triangle">
                <a:avLst>
                  <a:gd name="adj" fmla="val 50000"/>
                </a:avLst>
              </a:prstGeom>
              <a:noFill/>
              <a:ln w="5715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22" name="Oval 31"/>
              <p:cNvSpPr>
                <a:spLocks noChangeArrowheads="1"/>
              </p:cNvSpPr>
              <p:nvPr/>
            </p:nvSpPr>
            <p:spPr bwMode="auto">
              <a:xfrm>
                <a:off x="3600" y="2160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3B3B3B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23" name="Oval 32"/>
              <p:cNvSpPr>
                <a:spLocks noChangeArrowheads="1"/>
              </p:cNvSpPr>
              <p:nvPr/>
            </p:nvSpPr>
            <p:spPr bwMode="auto">
              <a:xfrm>
                <a:off x="4320" y="3213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3B3B3B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24" name="Oval 33"/>
              <p:cNvSpPr>
                <a:spLocks noChangeArrowheads="1"/>
              </p:cNvSpPr>
              <p:nvPr/>
            </p:nvSpPr>
            <p:spPr bwMode="auto">
              <a:xfrm>
                <a:off x="2880" y="3213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3B3B3B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25" name="Rectangle 34"/>
              <p:cNvSpPr>
                <a:spLocks noChangeArrowheads="1"/>
              </p:cNvSpPr>
              <p:nvPr/>
            </p:nvSpPr>
            <p:spPr bwMode="auto">
              <a:xfrm>
                <a:off x="3621" y="2389"/>
                <a:ext cx="606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GB" sz="1800"/>
                  <a:t>Offer</a:t>
                </a:r>
              </a:p>
            </p:txBody>
          </p:sp>
          <p:sp>
            <p:nvSpPr>
              <p:cNvPr id="8226" name="Oval 35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F7FB2E"/>
                  </a:gs>
                  <a:gs pos="100000">
                    <a:srgbClr val="DA8700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27" name="Oval 36"/>
              <p:cNvSpPr>
                <a:spLocks noChangeArrowheads="1"/>
              </p:cNvSpPr>
              <p:nvPr/>
            </p:nvSpPr>
            <p:spPr bwMode="auto">
              <a:xfrm>
                <a:off x="4320" y="3216"/>
                <a:ext cx="680" cy="680"/>
              </a:xfrm>
              <a:prstGeom prst="ellipse">
                <a:avLst/>
              </a:prstGeom>
              <a:gradFill rotWithShape="0">
                <a:gsLst>
                  <a:gs pos="0">
                    <a:srgbClr val="F7FB2E"/>
                  </a:gs>
                  <a:gs pos="100000">
                    <a:srgbClr val="DA8700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8228" name="Rectangle 37"/>
              <p:cNvSpPr>
                <a:spLocks noChangeArrowheads="1"/>
              </p:cNvSpPr>
              <p:nvPr/>
            </p:nvSpPr>
            <p:spPr bwMode="auto">
              <a:xfrm>
                <a:off x="2905" y="3400"/>
                <a:ext cx="606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GB" sz="1400"/>
                  <a:t>People </a:t>
                </a:r>
                <a:br>
                  <a:rPr lang="en-GB" sz="1400"/>
                </a:br>
                <a:r>
                  <a:rPr lang="en-GB" sz="1400"/>
                  <a:t>&amp; culture</a:t>
                </a:r>
              </a:p>
            </p:txBody>
          </p:sp>
          <p:sp>
            <p:nvSpPr>
              <p:cNvPr id="8229" name="Rectangle 38"/>
              <p:cNvSpPr>
                <a:spLocks noChangeArrowheads="1"/>
              </p:cNvSpPr>
              <p:nvPr/>
            </p:nvSpPr>
            <p:spPr bwMode="auto">
              <a:xfrm>
                <a:off x="4332" y="3400"/>
                <a:ext cx="632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GB" sz="1400" dirty="0"/>
                  <a:t>Business</a:t>
                </a:r>
                <a:br>
                  <a:rPr lang="en-GB" sz="1400" dirty="0"/>
                </a:br>
                <a:r>
                  <a:rPr lang="en-GB" sz="1400" dirty="0"/>
                  <a:t>processes</a:t>
                </a:r>
              </a:p>
            </p:txBody>
          </p:sp>
        </p:grpSp>
      </p:grp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609600" y="2487613"/>
            <a:ext cx="2362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Each year you have the opportunity to invest in development of your </a:t>
            </a:r>
            <a:r>
              <a:rPr lang="en-GB" sz="1100" b="1" dirty="0"/>
              <a:t>People</a:t>
            </a:r>
            <a:r>
              <a:rPr lang="en-GB" sz="1100" dirty="0"/>
              <a:t> to go </a:t>
            </a:r>
            <a:r>
              <a:rPr lang="en-GB" sz="1100" b="1" dirty="0"/>
              <a:t>one step</a:t>
            </a:r>
            <a:r>
              <a:rPr lang="en-GB" sz="1100" dirty="0">
                <a:solidFill>
                  <a:srgbClr val="00AEC6"/>
                </a:solidFill>
              </a:rPr>
              <a:t> </a:t>
            </a:r>
            <a:r>
              <a:rPr lang="en-GB" sz="1100" dirty="0"/>
              <a:t>up the “People performance thermometer”.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Investment: </a:t>
            </a:r>
            <a:r>
              <a:rPr lang="en-GB" sz="1100" dirty="0" smtClean="0"/>
              <a:t>3M</a:t>
            </a:r>
            <a:endParaRPr lang="en-GB" sz="1100" dirty="0"/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604838" y="1828800"/>
            <a:ext cx="2362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It is equally important that you </a:t>
            </a:r>
            <a:r>
              <a:rPr lang="en-GB" sz="1100" b="1" dirty="0"/>
              <a:t>develop</a:t>
            </a:r>
            <a:r>
              <a:rPr lang="en-GB" sz="1100" dirty="0"/>
              <a:t> your People and Processes</a:t>
            </a:r>
            <a:r>
              <a:rPr lang="en-GB" sz="1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198" name="Rectangle 4"/>
          <p:cNvSpPr>
            <a:spLocks noChangeArrowheads="1"/>
          </p:cNvSpPr>
          <p:nvPr/>
        </p:nvSpPr>
        <p:spPr bwMode="auto">
          <a:xfrm>
            <a:off x="604838" y="1238250"/>
            <a:ext cx="23622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About development </a:t>
            </a:r>
            <a:br>
              <a:rPr lang="en-GB" sz="1100" dirty="0"/>
            </a:br>
            <a:r>
              <a:rPr lang="en-GB" sz="1100" dirty="0"/>
              <a:t>of </a:t>
            </a:r>
            <a:r>
              <a:rPr lang="en-GB" sz="1100" b="1" dirty="0"/>
              <a:t>people &amp; processes…</a:t>
            </a:r>
          </a:p>
        </p:txBody>
      </p:sp>
      <p:pic>
        <p:nvPicPr>
          <p:cNvPr id="8199" name="Picture 5" descr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037" y="1238250"/>
            <a:ext cx="9683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Line 6"/>
          <p:cNvSpPr>
            <a:spLocks noChangeShapeType="1"/>
          </p:cNvSpPr>
          <p:nvPr/>
        </p:nvSpPr>
        <p:spPr bwMode="auto">
          <a:xfrm>
            <a:off x="604838" y="1628775"/>
            <a:ext cx="24431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Rectangle 7"/>
          <p:cNvSpPr>
            <a:spLocks noChangeArrowheads="1"/>
          </p:cNvSpPr>
          <p:nvPr/>
        </p:nvSpPr>
        <p:spPr bwMode="auto">
          <a:xfrm>
            <a:off x="604838" y="304800"/>
            <a:ext cx="41830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1. In a nutshell: People &amp; Processes</a:t>
            </a:r>
          </a:p>
        </p:txBody>
      </p:sp>
      <p:sp>
        <p:nvSpPr>
          <p:cNvPr id="8202" name="Rectangle 12"/>
          <p:cNvSpPr>
            <a:spLocks noChangeArrowheads="1"/>
          </p:cNvSpPr>
          <p:nvPr/>
        </p:nvSpPr>
        <p:spPr bwMode="auto">
          <a:xfrm>
            <a:off x="5264150" y="793750"/>
            <a:ext cx="17653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F7F7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7F7F7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/>
              <a:t>Product portfolio</a:t>
            </a:r>
          </a:p>
        </p:txBody>
      </p:sp>
      <p:grpSp>
        <p:nvGrpSpPr>
          <p:cNvPr id="60489" name="Group 73"/>
          <p:cNvGrpSpPr>
            <a:grpSpLocks/>
          </p:cNvGrpSpPr>
          <p:nvPr/>
        </p:nvGrpSpPr>
        <p:grpSpPr bwMode="auto">
          <a:xfrm>
            <a:off x="7308307" y="4077073"/>
            <a:ext cx="788254" cy="2035615"/>
            <a:chOff x="4670" y="2608"/>
            <a:chExt cx="558" cy="1441"/>
          </a:xfrm>
        </p:grpSpPr>
        <p:sp>
          <p:nvSpPr>
            <p:cNvPr id="8216" name="Rectangle 62"/>
            <p:cNvSpPr>
              <a:spLocks noChangeArrowheads="1"/>
            </p:cNvSpPr>
            <p:nvPr/>
          </p:nvSpPr>
          <p:spPr bwMode="auto">
            <a:xfrm>
              <a:off x="4670" y="3722"/>
              <a:ext cx="5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000" dirty="0"/>
                <a:t>Process performance ladder</a:t>
              </a:r>
            </a:p>
          </p:txBody>
        </p:sp>
        <p:pic>
          <p:nvPicPr>
            <p:cNvPr id="8217" name="Picture 64" descr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4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391" t="16612" r="5434" b="7555"/>
            <a:stretch>
              <a:fillRect/>
            </a:stretch>
          </p:blipFill>
          <p:spPr bwMode="auto">
            <a:xfrm>
              <a:off x="4671" y="2608"/>
              <a:ext cx="528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488" name="Group 72"/>
          <p:cNvGrpSpPr>
            <a:grpSpLocks/>
          </p:cNvGrpSpPr>
          <p:nvPr/>
        </p:nvGrpSpPr>
        <p:grpSpPr bwMode="auto">
          <a:xfrm>
            <a:off x="5004048" y="4077071"/>
            <a:ext cx="949294" cy="2035614"/>
            <a:chOff x="3160" y="2592"/>
            <a:chExt cx="672" cy="1441"/>
          </a:xfrm>
        </p:grpSpPr>
        <p:sp>
          <p:nvSpPr>
            <p:cNvPr id="8214" name="Rectangle 61"/>
            <p:cNvSpPr>
              <a:spLocks noChangeArrowheads="1"/>
            </p:cNvSpPr>
            <p:nvPr/>
          </p:nvSpPr>
          <p:spPr bwMode="auto">
            <a:xfrm>
              <a:off x="3160" y="3706"/>
              <a:ext cx="6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000" dirty="0"/>
                <a:t>People performance thermometer</a:t>
              </a:r>
            </a:p>
          </p:txBody>
        </p:sp>
        <p:pic>
          <p:nvPicPr>
            <p:cNvPr id="8215" name="Picture 63" descr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3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2" t="17545" r="53755" b="5882"/>
            <a:stretch>
              <a:fillRect/>
            </a:stretch>
          </p:blipFill>
          <p:spPr bwMode="auto">
            <a:xfrm>
              <a:off x="3230" y="2592"/>
              <a:ext cx="532" cy="1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0487" name="Rectangle 71"/>
          <p:cNvSpPr>
            <a:spLocks noChangeArrowheads="1"/>
          </p:cNvSpPr>
          <p:nvPr/>
        </p:nvSpPr>
        <p:spPr bwMode="auto">
          <a:xfrm>
            <a:off x="609600" y="3600450"/>
            <a:ext cx="2362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Each year you can also invest in development of your </a:t>
            </a:r>
            <a:r>
              <a:rPr lang="en-GB" sz="1100" b="1" dirty="0"/>
              <a:t>Processes</a:t>
            </a:r>
            <a:r>
              <a:rPr lang="en-GB" sz="1100" dirty="0"/>
              <a:t> and thus go </a:t>
            </a:r>
            <a:r>
              <a:rPr lang="en-GB" sz="1100" b="1" dirty="0"/>
              <a:t>one step</a:t>
            </a:r>
            <a:r>
              <a:rPr lang="en-GB" sz="1100" dirty="0"/>
              <a:t> up the “Process performance ladder”.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Investment: </a:t>
            </a:r>
            <a:r>
              <a:rPr lang="en-GB" sz="1100" dirty="0" smtClean="0"/>
              <a:t>3M.</a:t>
            </a:r>
            <a:endParaRPr lang="en-GB" sz="1100" dirty="0"/>
          </a:p>
        </p:txBody>
      </p:sp>
      <p:sp>
        <p:nvSpPr>
          <p:cNvPr id="60490" name="AutoShape 74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12088" y="6309320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60491" name="AutoShape 75"/>
          <p:cNvSpPr>
            <a:spLocks noChangeArrowheads="1"/>
          </p:cNvSpPr>
          <p:nvPr/>
        </p:nvSpPr>
        <p:spPr bwMode="auto">
          <a:xfrm rot="5400000">
            <a:off x="874838" y="2229870"/>
            <a:ext cx="180000" cy="72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vert="vert270"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60492" name="AutoShape 76"/>
          <p:cNvSpPr>
            <a:spLocks noChangeArrowheads="1"/>
          </p:cNvSpPr>
          <p:nvPr/>
        </p:nvSpPr>
        <p:spPr bwMode="auto">
          <a:xfrm rot="5400000">
            <a:off x="874747" y="3338949"/>
            <a:ext cx="180181" cy="72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vert="vert270"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60493" name="Oval 77"/>
          <p:cNvSpPr>
            <a:spLocks noChangeArrowheads="1"/>
          </p:cNvSpPr>
          <p:nvPr/>
        </p:nvSpPr>
        <p:spPr bwMode="auto">
          <a:xfrm>
            <a:off x="5213939" y="4907668"/>
            <a:ext cx="215607" cy="214899"/>
          </a:xfrm>
          <a:prstGeom prst="ellips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>
            <a:glow rad="12700">
              <a:schemeClr val="tx1"/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60494" name="Oval 78"/>
          <p:cNvSpPr>
            <a:spLocks noChangeArrowheads="1"/>
          </p:cNvSpPr>
          <p:nvPr/>
        </p:nvSpPr>
        <p:spPr bwMode="auto">
          <a:xfrm>
            <a:off x="7439250" y="5111400"/>
            <a:ext cx="202411" cy="201746"/>
          </a:xfrm>
          <a:prstGeom prst="ellips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>
            <a:glow rad="12700">
              <a:schemeClr val="tx1"/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60495" name="AutoShape 79"/>
          <p:cNvSpPr>
            <a:spLocks noChangeArrowheads="1"/>
          </p:cNvSpPr>
          <p:nvPr/>
        </p:nvSpPr>
        <p:spPr bwMode="auto">
          <a:xfrm>
            <a:off x="4388439" y="4812418"/>
            <a:ext cx="675395" cy="465931"/>
          </a:xfrm>
          <a:prstGeom prst="rightArrow">
            <a:avLst>
              <a:gd name="adj1" fmla="val 50000"/>
              <a:gd name="adj2" fmla="val 52053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sv-SE" sz="1600" dirty="0" smtClean="0"/>
              <a:t>3M</a:t>
            </a:r>
            <a:endParaRPr lang="en-US" sz="1600" dirty="0"/>
          </a:p>
        </p:txBody>
      </p:sp>
      <p:sp>
        <p:nvSpPr>
          <p:cNvPr id="60496" name="AutoShape 80"/>
          <p:cNvSpPr>
            <a:spLocks noChangeArrowheads="1"/>
          </p:cNvSpPr>
          <p:nvPr/>
        </p:nvSpPr>
        <p:spPr bwMode="auto">
          <a:xfrm>
            <a:off x="6661611" y="5015117"/>
            <a:ext cx="675395" cy="465930"/>
          </a:xfrm>
          <a:prstGeom prst="rightArrow">
            <a:avLst>
              <a:gd name="adj1" fmla="val 50000"/>
              <a:gd name="adj2" fmla="val 52053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sv-SE" sz="1600" dirty="0" smtClean="0"/>
              <a:t>3M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5E-6 1.79736E-6 C -2.5E-6 -0.00393 0.00087 -0.02383 0.00087 -0.02776 " pathEditMode="relative" rAng="0" ptsTypes="ff">
                                      <p:cBhvr>
                                        <p:cTn id="24" dur="3800" fill="hold"/>
                                        <p:tgtEl>
                                          <p:spTgt spid="60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38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4.16667E-6 -4.44444E-6 C -4.16667E-6 -0.00393 0.00087 -0.02384 0.00087 -0.02777 " pathEditMode="relative" rAng="0" ptsTypes="ff">
                                      <p:cBhvr>
                                        <p:cTn id="28" dur="3800" fill="hold"/>
                                        <p:tgtEl>
                                          <p:spTgt spid="60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38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6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0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66667E-6 1.11111E-6 C -1.66667E-6 -0.00394 0.00087 -0.02338 0.00087 -0.02732 " pathEditMode="relative" rAng="0" ptsTypes="ff">
                                      <p:cBhvr>
                                        <p:cTn id="44" dur="3800" fill="hold"/>
                                        <p:tgtEl>
                                          <p:spTgt spid="60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36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6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4.16667E-6 -4.44444E-6 C -4.16667E-6 -0.00393 0.00087 -0.02384 0.00087 -0.02777 " pathEditMode="relative" rAng="0" ptsTypes="ff">
                                      <p:cBhvr>
                                        <p:cTn id="51" dur="3800" fill="hold"/>
                                        <p:tgtEl>
                                          <p:spTgt spid="60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38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/>
      <p:bldP spid="60490" grpId="0" animBg="1"/>
      <p:bldP spid="60491" grpId="0" animBg="1"/>
      <p:bldP spid="60492" grpId="0" animBg="1"/>
      <p:bldP spid="60493" grpId="0" animBg="1"/>
      <p:bldP spid="60493" grpId="1" animBg="1"/>
      <p:bldP spid="60494" grpId="0" animBg="1"/>
      <p:bldP spid="60494" grpId="1" animBg="1"/>
      <p:bldP spid="60495" grpId="0" animBg="1"/>
      <p:bldP spid="60495" grpId="1" animBg="1"/>
      <p:bldP spid="60496" grpId="0" animBg="1"/>
      <p:bldP spid="6049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22300" y="1328738"/>
            <a:ext cx="30400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en-GB" sz="1500" b="1">
                <a:solidFill>
                  <a:srgbClr val="00AEC6"/>
                </a:solidFill>
              </a:rPr>
              <a:t>What you offer</a:t>
            </a:r>
            <a:endParaRPr lang="en-GB" sz="1600">
              <a:solidFill>
                <a:srgbClr val="00AEC6"/>
              </a:solidFill>
            </a:endParaRPr>
          </a:p>
        </p:txBody>
      </p:sp>
      <p:sp>
        <p:nvSpPr>
          <p:cNvPr id="9219" name="Rectangle 20"/>
          <p:cNvSpPr>
            <a:spLocks noChangeArrowheads="1"/>
          </p:cNvSpPr>
          <p:nvPr/>
        </p:nvSpPr>
        <p:spPr bwMode="auto">
          <a:xfrm>
            <a:off x="609600" y="1989138"/>
            <a:ext cx="3429000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chemeClr val="bg1"/>
                </a:solidFill>
              </a:rPr>
              <a:t>From the start you only have your core offer (C</a:t>
            </a:r>
            <a:r>
              <a:rPr lang="en-US" sz="800">
                <a:solidFill>
                  <a:schemeClr val="bg1"/>
                </a:solidFill>
              </a:rPr>
              <a:t>OR</a:t>
            </a:r>
            <a:r>
              <a:rPr lang="en-US" sz="1200">
                <a:solidFill>
                  <a:schemeClr val="bg1"/>
                </a:solidFill>
              </a:rPr>
              <a:t>).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609600" y="2895600"/>
            <a:ext cx="3581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/>
              <a:t>It is up to you to decide which of the other five products you want to offer and when to launch them. 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It all depends on </a:t>
            </a:r>
            <a:r>
              <a:rPr lang="en-US" sz="1100" b="1" dirty="0"/>
              <a:t>which customers you want to attract.</a:t>
            </a:r>
            <a:endParaRPr lang="en-GB" sz="1100" b="1" dirty="0"/>
          </a:p>
        </p:txBody>
      </p:sp>
      <p:sp>
        <p:nvSpPr>
          <p:cNvPr id="9221" name="Rectangle 83"/>
          <p:cNvSpPr>
            <a:spLocks noChangeArrowheads="1"/>
          </p:cNvSpPr>
          <p:nvPr/>
        </p:nvSpPr>
        <p:spPr bwMode="auto">
          <a:xfrm>
            <a:off x="609600" y="1845404"/>
            <a:ext cx="3040063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en-GB" sz="1400" b="1" dirty="0">
                <a:solidFill>
                  <a:srgbClr val="00AEC6"/>
                </a:solidFill>
              </a:rPr>
              <a:t>Develop your product portfolio</a:t>
            </a:r>
            <a:endParaRPr lang="en-GB" sz="1400" dirty="0">
              <a:solidFill>
                <a:srgbClr val="00AEC6"/>
              </a:solidFill>
            </a:endParaRPr>
          </a:p>
        </p:txBody>
      </p:sp>
      <p:grpSp>
        <p:nvGrpSpPr>
          <p:cNvPr id="27831" name="Group 183"/>
          <p:cNvGrpSpPr>
            <a:grpSpLocks/>
          </p:cNvGrpSpPr>
          <p:nvPr/>
        </p:nvGrpSpPr>
        <p:grpSpPr bwMode="auto">
          <a:xfrm>
            <a:off x="4953000" y="2136775"/>
            <a:ext cx="1198563" cy="1370013"/>
            <a:chOff x="3120" y="1346"/>
            <a:chExt cx="755" cy="863"/>
          </a:xfrm>
        </p:grpSpPr>
        <p:grpSp>
          <p:nvGrpSpPr>
            <p:cNvPr id="9327" name="Group 87"/>
            <p:cNvGrpSpPr>
              <a:grpSpLocks/>
            </p:cNvGrpSpPr>
            <p:nvPr/>
          </p:nvGrpSpPr>
          <p:grpSpPr bwMode="auto">
            <a:xfrm>
              <a:off x="3120" y="1346"/>
              <a:ext cx="755" cy="154"/>
              <a:chOff x="2154" y="2881"/>
              <a:chExt cx="1097" cy="225"/>
            </a:xfrm>
          </p:grpSpPr>
          <p:grpSp>
            <p:nvGrpSpPr>
              <p:cNvPr id="9361" name="Group 88"/>
              <p:cNvGrpSpPr>
                <a:grpSpLocks/>
              </p:cNvGrpSpPr>
              <p:nvPr/>
            </p:nvGrpSpPr>
            <p:grpSpPr bwMode="auto">
              <a:xfrm>
                <a:off x="2154" y="2881"/>
                <a:ext cx="1097" cy="184"/>
                <a:chOff x="2321" y="2931"/>
                <a:chExt cx="1097" cy="184"/>
              </a:xfrm>
            </p:grpSpPr>
            <p:sp>
              <p:nvSpPr>
                <p:cNvPr id="9363" name="Rectangle 89"/>
                <p:cNvSpPr>
                  <a:spLocks noChangeArrowheads="1"/>
                </p:cNvSpPr>
                <p:nvPr/>
              </p:nvSpPr>
              <p:spPr bwMode="auto">
                <a:xfrm>
                  <a:off x="2321" y="2931"/>
                  <a:ext cx="1097" cy="18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500" b="1">
                    <a:solidFill>
                      <a:schemeClr val="bg1"/>
                    </a:solidFill>
                    <a:latin typeface="Arial Narrow" pitchFamily="34" charset="0"/>
                  </a:endParaRPr>
                </a:p>
              </p:txBody>
            </p:sp>
            <p:grpSp>
              <p:nvGrpSpPr>
                <p:cNvPr id="9364" name="Group 90"/>
                <p:cNvGrpSpPr>
                  <a:grpSpLocks/>
                </p:cNvGrpSpPr>
                <p:nvPr/>
              </p:nvGrpSpPr>
              <p:grpSpPr bwMode="auto">
                <a:xfrm>
                  <a:off x="2336" y="2939"/>
                  <a:ext cx="1067" cy="168"/>
                  <a:chOff x="2334" y="2939"/>
                  <a:chExt cx="1067" cy="168"/>
                </a:xfrm>
              </p:grpSpPr>
              <p:sp>
                <p:nvSpPr>
                  <p:cNvPr id="936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2334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66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2515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67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2697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68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2878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69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3060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70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</p:grpSp>
          </p:grpSp>
          <p:sp>
            <p:nvSpPr>
              <p:cNvPr id="9362" name="Rectangle 97"/>
              <p:cNvSpPr>
                <a:spLocks noChangeArrowheads="1"/>
              </p:cNvSpPr>
              <p:nvPr/>
            </p:nvSpPr>
            <p:spPr bwMode="auto">
              <a:xfrm>
                <a:off x="2160" y="3079"/>
                <a:ext cx="1088" cy="27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grpSp>
          <p:nvGrpSpPr>
            <p:cNvPr id="9328" name="Group 98"/>
            <p:cNvGrpSpPr>
              <a:grpSpLocks/>
            </p:cNvGrpSpPr>
            <p:nvPr/>
          </p:nvGrpSpPr>
          <p:grpSpPr bwMode="auto">
            <a:xfrm>
              <a:off x="3120" y="2054"/>
              <a:ext cx="754" cy="155"/>
              <a:chOff x="2154" y="2881"/>
              <a:chExt cx="1097" cy="225"/>
            </a:xfrm>
          </p:grpSpPr>
          <p:grpSp>
            <p:nvGrpSpPr>
              <p:cNvPr id="9351" name="Group 99"/>
              <p:cNvGrpSpPr>
                <a:grpSpLocks/>
              </p:cNvGrpSpPr>
              <p:nvPr/>
            </p:nvGrpSpPr>
            <p:grpSpPr bwMode="auto">
              <a:xfrm>
                <a:off x="2154" y="2881"/>
                <a:ext cx="1097" cy="184"/>
                <a:chOff x="2321" y="2931"/>
                <a:chExt cx="1097" cy="184"/>
              </a:xfrm>
            </p:grpSpPr>
            <p:sp>
              <p:nvSpPr>
                <p:cNvPr id="9353" name="Rectangle 100"/>
                <p:cNvSpPr>
                  <a:spLocks noChangeArrowheads="1"/>
                </p:cNvSpPr>
                <p:nvPr/>
              </p:nvSpPr>
              <p:spPr bwMode="auto">
                <a:xfrm>
                  <a:off x="2321" y="2931"/>
                  <a:ext cx="1097" cy="18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500" b="1">
                    <a:solidFill>
                      <a:schemeClr val="bg1"/>
                    </a:solidFill>
                    <a:latin typeface="Arial Narrow" pitchFamily="34" charset="0"/>
                  </a:endParaRPr>
                </a:p>
              </p:txBody>
            </p:sp>
            <p:grpSp>
              <p:nvGrpSpPr>
                <p:cNvPr id="9354" name="Group 101"/>
                <p:cNvGrpSpPr>
                  <a:grpSpLocks/>
                </p:cNvGrpSpPr>
                <p:nvPr/>
              </p:nvGrpSpPr>
              <p:grpSpPr bwMode="auto">
                <a:xfrm>
                  <a:off x="2336" y="2939"/>
                  <a:ext cx="1067" cy="168"/>
                  <a:chOff x="2334" y="2939"/>
                  <a:chExt cx="1067" cy="168"/>
                </a:xfrm>
              </p:grpSpPr>
              <p:sp>
                <p:nvSpPr>
                  <p:cNvPr id="9355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2334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56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2515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57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2697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58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2878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59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3060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60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</p:grpSp>
          </p:grpSp>
          <p:sp>
            <p:nvSpPr>
              <p:cNvPr id="9352" name="Rectangle 108"/>
              <p:cNvSpPr>
                <a:spLocks noChangeArrowheads="1"/>
              </p:cNvSpPr>
              <p:nvPr/>
            </p:nvSpPr>
            <p:spPr bwMode="auto">
              <a:xfrm>
                <a:off x="2160" y="3079"/>
                <a:ext cx="1088" cy="27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grpSp>
          <p:nvGrpSpPr>
            <p:cNvPr id="9329" name="Group 109"/>
            <p:cNvGrpSpPr>
              <a:grpSpLocks/>
            </p:cNvGrpSpPr>
            <p:nvPr/>
          </p:nvGrpSpPr>
          <p:grpSpPr bwMode="auto">
            <a:xfrm>
              <a:off x="3120" y="1581"/>
              <a:ext cx="755" cy="154"/>
              <a:chOff x="2154" y="2881"/>
              <a:chExt cx="1097" cy="225"/>
            </a:xfrm>
          </p:grpSpPr>
          <p:grpSp>
            <p:nvGrpSpPr>
              <p:cNvPr id="9341" name="Group 110"/>
              <p:cNvGrpSpPr>
                <a:grpSpLocks/>
              </p:cNvGrpSpPr>
              <p:nvPr/>
            </p:nvGrpSpPr>
            <p:grpSpPr bwMode="auto">
              <a:xfrm>
                <a:off x="2154" y="2881"/>
                <a:ext cx="1097" cy="184"/>
                <a:chOff x="2321" y="2931"/>
                <a:chExt cx="1097" cy="184"/>
              </a:xfrm>
            </p:grpSpPr>
            <p:sp>
              <p:nvSpPr>
                <p:cNvPr id="9343" name="Rectangle 111"/>
                <p:cNvSpPr>
                  <a:spLocks noChangeArrowheads="1"/>
                </p:cNvSpPr>
                <p:nvPr/>
              </p:nvSpPr>
              <p:spPr bwMode="auto">
                <a:xfrm>
                  <a:off x="2321" y="2931"/>
                  <a:ext cx="1097" cy="18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500" b="1">
                    <a:solidFill>
                      <a:schemeClr val="bg1"/>
                    </a:solidFill>
                    <a:latin typeface="Arial Narrow" pitchFamily="34" charset="0"/>
                  </a:endParaRPr>
                </a:p>
              </p:txBody>
            </p:sp>
            <p:grpSp>
              <p:nvGrpSpPr>
                <p:cNvPr id="9344" name="Group 112"/>
                <p:cNvGrpSpPr>
                  <a:grpSpLocks/>
                </p:cNvGrpSpPr>
                <p:nvPr/>
              </p:nvGrpSpPr>
              <p:grpSpPr bwMode="auto">
                <a:xfrm>
                  <a:off x="2336" y="2939"/>
                  <a:ext cx="1067" cy="168"/>
                  <a:chOff x="2334" y="2939"/>
                  <a:chExt cx="1067" cy="168"/>
                </a:xfrm>
              </p:grpSpPr>
              <p:sp>
                <p:nvSpPr>
                  <p:cNvPr id="9345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2334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46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2515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47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2697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48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2878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49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3060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50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</p:grpSp>
          </p:grpSp>
          <p:sp>
            <p:nvSpPr>
              <p:cNvPr id="9342" name="Rectangle 119"/>
              <p:cNvSpPr>
                <a:spLocks noChangeArrowheads="1"/>
              </p:cNvSpPr>
              <p:nvPr/>
            </p:nvSpPr>
            <p:spPr bwMode="auto">
              <a:xfrm>
                <a:off x="2160" y="3079"/>
                <a:ext cx="1088" cy="27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grpSp>
          <p:nvGrpSpPr>
            <p:cNvPr id="9330" name="Group 120"/>
            <p:cNvGrpSpPr>
              <a:grpSpLocks/>
            </p:cNvGrpSpPr>
            <p:nvPr/>
          </p:nvGrpSpPr>
          <p:grpSpPr bwMode="auto">
            <a:xfrm>
              <a:off x="3120" y="1817"/>
              <a:ext cx="754" cy="155"/>
              <a:chOff x="2154" y="2881"/>
              <a:chExt cx="1097" cy="225"/>
            </a:xfrm>
          </p:grpSpPr>
          <p:grpSp>
            <p:nvGrpSpPr>
              <p:cNvPr id="9331" name="Group 121"/>
              <p:cNvGrpSpPr>
                <a:grpSpLocks/>
              </p:cNvGrpSpPr>
              <p:nvPr/>
            </p:nvGrpSpPr>
            <p:grpSpPr bwMode="auto">
              <a:xfrm>
                <a:off x="2154" y="2881"/>
                <a:ext cx="1097" cy="184"/>
                <a:chOff x="2321" y="2931"/>
                <a:chExt cx="1097" cy="184"/>
              </a:xfrm>
            </p:grpSpPr>
            <p:sp>
              <p:nvSpPr>
                <p:cNvPr id="9333" name="Rectangle 122"/>
                <p:cNvSpPr>
                  <a:spLocks noChangeArrowheads="1"/>
                </p:cNvSpPr>
                <p:nvPr/>
              </p:nvSpPr>
              <p:spPr bwMode="auto">
                <a:xfrm>
                  <a:off x="2321" y="2931"/>
                  <a:ext cx="1097" cy="18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500" b="1">
                    <a:solidFill>
                      <a:schemeClr val="bg1"/>
                    </a:solidFill>
                    <a:latin typeface="Arial Narrow" pitchFamily="34" charset="0"/>
                  </a:endParaRPr>
                </a:p>
              </p:txBody>
            </p:sp>
            <p:grpSp>
              <p:nvGrpSpPr>
                <p:cNvPr id="9334" name="Group 123"/>
                <p:cNvGrpSpPr>
                  <a:grpSpLocks/>
                </p:cNvGrpSpPr>
                <p:nvPr/>
              </p:nvGrpSpPr>
              <p:grpSpPr bwMode="auto">
                <a:xfrm>
                  <a:off x="2336" y="2939"/>
                  <a:ext cx="1067" cy="168"/>
                  <a:chOff x="2334" y="2939"/>
                  <a:chExt cx="1067" cy="168"/>
                </a:xfrm>
              </p:grpSpPr>
              <p:sp>
                <p:nvSpPr>
                  <p:cNvPr id="9335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2334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36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2515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37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2697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38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2878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39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3060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B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IM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  <p:sp>
                <p:nvSpPr>
                  <p:cNvPr id="9340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3242" y="2939"/>
                    <a:ext cx="159" cy="16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rgbClr val="00683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8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E</a:t>
                    </a:r>
                    <a:r>
                      <a:rPr lang="sv-SE" sz="500" b="1" dirty="0">
                        <a:solidFill>
                          <a:schemeClr val="bg1"/>
                        </a:solidFill>
                        <a:latin typeface="Arial Narrow" pitchFamily="34" charset="0"/>
                      </a:rPr>
                      <a:t>NT</a:t>
                    </a:r>
                    <a:endParaRPr lang="en-US" sz="500" b="1" dirty="0">
                      <a:solidFill>
                        <a:schemeClr val="bg1"/>
                      </a:solidFill>
                      <a:latin typeface="Arial Narrow" pitchFamily="34" charset="0"/>
                    </a:endParaRPr>
                  </a:p>
                </p:txBody>
              </p:sp>
            </p:grpSp>
          </p:grpSp>
          <p:sp>
            <p:nvSpPr>
              <p:cNvPr id="9332" name="Rectangle 130"/>
              <p:cNvSpPr>
                <a:spLocks noChangeArrowheads="1"/>
              </p:cNvSpPr>
              <p:nvPr/>
            </p:nvSpPr>
            <p:spPr bwMode="auto">
              <a:xfrm>
                <a:off x="2160" y="3079"/>
                <a:ext cx="1088" cy="27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grpSp>
        <p:nvGrpSpPr>
          <p:cNvPr id="27779" name="Group 131"/>
          <p:cNvGrpSpPr>
            <a:grpSpLocks/>
          </p:cNvGrpSpPr>
          <p:nvPr/>
        </p:nvGrpSpPr>
        <p:grpSpPr bwMode="auto">
          <a:xfrm>
            <a:off x="4953000" y="2135188"/>
            <a:ext cx="200025" cy="1325562"/>
            <a:chOff x="2880" y="972"/>
            <a:chExt cx="126" cy="835"/>
          </a:xfrm>
        </p:grpSpPr>
        <p:sp>
          <p:nvSpPr>
            <p:cNvPr id="9323" name="Rectangle 132"/>
            <p:cNvSpPr>
              <a:spLocks noChangeArrowheads="1"/>
            </p:cNvSpPr>
            <p:nvPr/>
          </p:nvSpPr>
          <p:spPr bwMode="auto">
            <a:xfrm>
              <a:off x="2880" y="972"/>
              <a:ext cx="126" cy="126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>
                  <a:solidFill>
                    <a:schemeClr val="bg1"/>
                  </a:solidFill>
                  <a:latin typeface="Arial Narrow" pitchFamily="34" charset="0"/>
                </a:rPr>
                <a:t>C</a:t>
              </a:r>
              <a:r>
                <a:rPr lang="sv-SE" sz="500" b="1">
                  <a:solidFill>
                    <a:schemeClr val="bg1"/>
                  </a:solidFill>
                  <a:latin typeface="Arial Narrow" pitchFamily="34" charset="0"/>
                </a:rPr>
                <a:t>OR</a:t>
              </a:r>
              <a:endParaRPr lang="en-US" sz="500" b="1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24" name="Rectangle 133"/>
            <p:cNvSpPr>
              <a:spLocks noChangeArrowheads="1"/>
            </p:cNvSpPr>
            <p:nvPr/>
          </p:nvSpPr>
          <p:spPr bwMode="auto">
            <a:xfrm>
              <a:off x="2880" y="1680"/>
              <a:ext cx="126" cy="127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>
                  <a:solidFill>
                    <a:schemeClr val="bg1"/>
                  </a:solidFill>
                  <a:latin typeface="Arial Narrow" pitchFamily="34" charset="0"/>
                </a:rPr>
                <a:t>C</a:t>
              </a:r>
              <a:r>
                <a:rPr lang="sv-SE" sz="500" b="1">
                  <a:solidFill>
                    <a:schemeClr val="bg1"/>
                  </a:solidFill>
                  <a:latin typeface="Arial Narrow" pitchFamily="34" charset="0"/>
                </a:rPr>
                <a:t>OR</a:t>
              </a:r>
              <a:endParaRPr lang="en-US" sz="500" b="1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25" name="Rectangle 134"/>
            <p:cNvSpPr>
              <a:spLocks noChangeArrowheads="1"/>
            </p:cNvSpPr>
            <p:nvPr/>
          </p:nvSpPr>
          <p:spPr bwMode="auto">
            <a:xfrm>
              <a:off x="2880" y="1207"/>
              <a:ext cx="126" cy="126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C</a:t>
              </a:r>
              <a:r>
                <a:rPr lang="sv-SE" sz="500" b="1" dirty="0">
                  <a:solidFill>
                    <a:schemeClr val="bg1"/>
                  </a:solidFill>
                  <a:latin typeface="Arial Narrow" pitchFamily="34" charset="0"/>
                </a:rPr>
                <a:t>OR</a:t>
              </a:r>
              <a:endParaRPr lang="en-US" sz="5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26" name="Rectangle 135"/>
            <p:cNvSpPr>
              <a:spLocks noChangeArrowheads="1"/>
            </p:cNvSpPr>
            <p:nvPr/>
          </p:nvSpPr>
          <p:spPr bwMode="auto">
            <a:xfrm>
              <a:off x="2880" y="1443"/>
              <a:ext cx="126" cy="127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>
                  <a:solidFill>
                    <a:schemeClr val="bg1"/>
                  </a:solidFill>
                  <a:latin typeface="Arial Narrow" pitchFamily="34" charset="0"/>
                </a:rPr>
                <a:t>C</a:t>
              </a:r>
              <a:r>
                <a:rPr lang="sv-SE" sz="500" b="1">
                  <a:solidFill>
                    <a:schemeClr val="bg1"/>
                  </a:solidFill>
                  <a:latin typeface="Arial Narrow" pitchFamily="34" charset="0"/>
                </a:rPr>
                <a:t>OR</a:t>
              </a:r>
              <a:endParaRPr lang="en-US" sz="500" b="1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</p:grpSp>
      <p:grpSp>
        <p:nvGrpSpPr>
          <p:cNvPr id="27784" name="Group 136"/>
          <p:cNvGrpSpPr>
            <a:grpSpLocks/>
          </p:cNvGrpSpPr>
          <p:nvPr/>
        </p:nvGrpSpPr>
        <p:grpSpPr bwMode="auto">
          <a:xfrm>
            <a:off x="5153025" y="2135188"/>
            <a:ext cx="998538" cy="1325562"/>
            <a:chOff x="3006" y="972"/>
            <a:chExt cx="629" cy="835"/>
          </a:xfrm>
        </p:grpSpPr>
        <p:sp>
          <p:nvSpPr>
            <p:cNvPr id="9318" name="Rectangle 137"/>
            <p:cNvSpPr>
              <a:spLocks noChangeArrowheads="1"/>
            </p:cNvSpPr>
            <p:nvPr/>
          </p:nvSpPr>
          <p:spPr bwMode="auto">
            <a:xfrm>
              <a:off x="3006" y="972"/>
              <a:ext cx="126" cy="126"/>
            </a:xfrm>
            <a:prstGeom prst="rect">
              <a:avLst/>
            </a:prstGeom>
            <a:solidFill>
              <a:srgbClr val="00683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E</a:t>
              </a:r>
              <a:r>
                <a:rPr lang="en-US" sz="500" b="1" dirty="0">
                  <a:solidFill>
                    <a:schemeClr val="bg1"/>
                  </a:solidFill>
                  <a:latin typeface="Arial Narrow" pitchFamily="34" charset="0"/>
                </a:rPr>
                <a:t>CO</a:t>
              </a:r>
            </a:p>
          </p:txBody>
        </p:sp>
        <p:sp>
          <p:nvSpPr>
            <p:cNvPr id="9319" name="Rectangle 138"/>
            <p:cNvSpPr>
              <a:spLocks noChangeArrowheads="1"/>
            </p:cNvSpPr>
            <p:nvPr/>
          </p:nvSpPr>
          <p:spPr bwMode="auto">
            <a:xfrm>
              <a:off x="3258" y="972"/>
              <a:ext cx="126" cy="126"/>
            </a:xfrm>
            <a:prstGeom prst="rect">
              <a:avLst/>
            </a:prstGeom>
            <a:solidFill>
              <a:srgbClr val="00683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E</a:t>
              </a:r>
              <a:r>
                <a:rPr lang="sv-SE" sz="500" b="1" dirty="0">
                  <a:solidFill>
                    <a:schemeClr val="bg1"/>
                  </a:solidFill>
                  <a:latin typeface="Arial Narrow" pitchFamily="34" charset="0"/>
                </a:rPr>
                <a:t>NT</a:t>
              </a:r>
              <a:endParaRPr lang="en-US" sz="5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20" name="Rectangle 139"/>
            <p:cNvSpPr>
              <a:spLocks noChangeArrowheads="1"/>
            </p:cNvSpPr>
            <p:nvPr/>
          </p:nvSpPr>
          <p:spPr bwMode="auto">
            <a:xfrm>
              <a:off x="3509" y="1680"/>
              <a:ext cx="126" cy="127"/>
            </a:xfrm>
            <a:prstGeom prst="rect">
              <a:avLst/>
            </a:prstGeom>
            <a:solidFill>
              <a:srgbClr val="00683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P</a:t>
              </a:r>
              <a:r>
                <a:rPr lang="sv-SE" sz="500" b="1" dirty="0">
                  <a:solidFill>
                    <a:schemeClr val="bg1"/>
                  </a:solidFill>
                  <a:latin typeface="Arial Narrow" pitchFamily="34" charset="0"/>
                </a:rPr>
                <a:t>RO</a:t>
              </a:r>
              <a:endParaRPr lang="en-US" sz="5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21" name="Rectangle 140"/>
            <p:cNvSpPr>
              <a:spLocks noChangeArrowheads="1"/>
            </p:cNvSpPr>
            <p:nvPr/>
          </p:nvSpPr>
          <p:spPr bwMode="auto">
            <a:xfrm>
              <a:off x="3384" y="1207"/>
              <a:ext cx="126" cy="126"/>
            </a:xfrm>
            <a:prstGeom prst="rect">
              <a:avLst/>
            </a:prstGeom>
            <a:solidFill>
              <a:srgbClr val="00683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D</a:t>
              </a:r>
              <a:r>
                <a:rPr lang="sv-SE" sz="500" b="1" dirty="0">
                  <a:solidFill>
                    <a:schemeClr val="bg1"/>
                  </a:solidFill>
                  <a:latin typeface="Arial Narrow" pitchFamily="34" charset="0"/>
                </a:rPr>
                <a:t>AT</a:t>
              </a:r>
              <a:endParaRPr lang="en-US" sz="5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22" name="Rectangle 141"/>
            <p:cNvSpPr>
              <a:spLocks noChangeArrowheads="1"/>
            </p:cNvSpPr>
            <p:nvPr/>
          </p:nvSpPr>
          <p:spPr bwMode="auto">
            <a:xfrm>
              <a:off x="3509" y="1443"/>
              <a:ext cx="126" cy="127"/>
            </a:xfrm>
            <a:prstGeom prst="rect">
              <a:avLst/>
            </a:prstGeom>
            <a:solidFill>
              <a:srgbClr val="00683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P</a:t>
              </a:r>
              <a:r>
                <a:rPr lang="sv-SE" sz="500" b="1" dirty="0">
                  <a:solidFill>
                    <a:schemeClr val="bg1"/>
                  </a:solidFill>
                  <a:latin typeface="Arial Narrow" pitchFamily="34" charset="0"/>
                </a:rPr>
                <a:t>RO</a:t>
              </a:r>
              <a:endParaRPr lang="en-US" sz="5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</p:grpSp>
      <p:grpSp>
        <p:nvGrpSpPr>
          <p:cNvPr id="27790" name="Group 142"/>
          <p:cNvGrpSpPr>
            <a:grpSpLocks/>
          </p:cNvGrpSpPr>
          <p:nvPr/>
        </p:nvGrpSpPr>
        <p:grpSpPr bwMode="auto">
          <a:xfrm>
            <a:off x="5353050" y="2508250"/>
            <a:ext cx="598488" cy="952500"/>
            <a:chOff x="3132" y="1207"/>
            <a:chExt cx="377" cy="600"/>
          </a:xfrm>
        </p:grpSpPr>
        <p:sp>
          <p:nvSpPr>
            <p:cNvPr id="9314" name="Rectangle 143"/>
            <p:cNvSpPr>
              <a:spLocks noChangeArrowheads="1"/>
            </p:cNvSpPr>
            <p:nvPr/>
          </p:nvSpPr>
          <p:spPr bwMode="auto">
            <a:xfrm>
              <a:off x="3132" y="1680"/>
              <a:ext cx="126" cy="127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>
                  <a:solidFill>
                    <a:schemeClr val="bg1"/>
                  </a:solidFill>
                  <a:latin typeface="Arial Narrow" pitchFamily="34" charset="0"/>
                </a:rPr>
                <a:t>B</a:t>
              </a:r>
              <a:r>
                <a:rPr lang="sv-SE" sz="500" b="1">
                  <a:solidFill>
                    <a:schemeClr val="bg1"/>
                  </a:solidFill>
                  <a:latin typeface="Arial Narrow" pitchFamily="34" charset="0"/>
                </a:rPr>
                <a:t>IM</a:t>
              </a:r>
              <a:endParaRPr lang="en-US" sz="500" b="1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15" name="Rectangle 144"/>
            <p:cNvSpPr>
              <a:spLocks noChangeArrowheads="1"/>
            </p:cNvSpPr>
            <p:nvPr/>
          </p:nvSpPr>
          <p:spPr bwMode="auto">
            <a:xfrm>
              <a:off x="3132" y="1207"/>
              <a:ext cx="126" cy="126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>
                  <a:solidFill>
                    <a:schemeClr val="bg1"/>
                  </a:solidFill>
                  <a:latin typeface="Arial Narrow" pitchFamily="34" charset="0"/>
                </a:rPr>
                <a:t>B</a:t>
              </a:r>
              <a:r>
                <a:rPr lang="sv-SE" sz="500" b="1">
                  <a:solidFill>
                    <a:schemeClr val="bg1"/>
                  </a:solidFill>
                  <a:latin typeface="Arial Narrow" pitchFamily="34" charset="0"/>
                </a:rPr>
                <a:t>IM</a:t>
              </a:r>
              <a:endParaRPr lang="en-US" sz="500" b="1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16" name="Rectangle 145"/>
            <p:cNvSpPr>
              <a:spLocks noChangeArrowheads="1"/>
            </p:cNvSpPr>
            <p:nvPr/>
          </p:nvSpPr>
          <p:spPr bwMode="auto">
            <a:xfrm>
              <a:off x="3383" y="1443"/>
              <a:ext cx="126" cy="127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>
                  <a:solidFill>
                    <a:schemeClr val="bg1"/>
                  </a:solidFill>
                  <a:latin typeface="Arial Narrow" pitchFamily="34" charset="0"/>
                </a:rPr>
                <a:t>D</a:t>
              </a:r>
              <a:r>
                <a:rPr lang="sv-SE" sz="500" b="1">
                  <a:solidFill>
                    <a:schemeClr val="bg1"/>
                  </a:solidFill>
                  <a:latin typeface="Arial Narrow" pitchFamily="34" charset="0"/>
                </a:rPr>
                <a:t>AT</a:t>
              </a:r>
              <a:endParaRPr lang="en-US" sz="500" b="1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9317" name="Rectangle 146"/>
            <p:cNvSpPr>
              <a:spLocks noChangeArrowheads="1"/>
            </p:cNvSpPr>
            <p:nvPr/>
          </p:nvSpPr>
          <p:spPr bwMode="auto">
            <a:xfrm>
              <a:off x="3258" y="1443"/>
              <a:ext cx="125" cy="127"/>
            </a:xfrm>
            <a:prstGeom prst="rect">
              <a:avLst/>
            </a:prstGeom>
            <a:solidFill>
              <a:srgbClr val="F3000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800" b="1" dirty="0">
                  <a:solidFill>
                    <a:schemeClr val="bg1"/>
                  </a:solidFill>
                  <a:latin typeface="Arial Narrow" pitchFamily="34" charset="0"/>
                </a:rPr>
                <a:t>E</a:t>
              </a:r>
              <a:r>
                <a:rPr lang="sv-SE" sz="500" b="1" dirty="0">
                  <a:solidFill>
                    <a:schemeClr val="bg1"/>
                  </a:solidFill>
                  <a:latin typeface="Arial Narrow" pitchFamily="34" charset="0"/>
                </a:rPr>
                <a:t>NT</a:t>
              </a:r>
              <a:endParaRPr lang="en-US" sz="5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</p:grpSp>
      <p:sp>
        <p:nvSpPr>
          <p:cNvPr id="27795" name="Rectangle 147"/>
          <p:cNvSpPr>
            <a:spLocks noChangeArrowheads="1"/>
          </p:cNvSpPr>
          <p:nvPr/>
        </p:nvSpPr>
        <p:spPr bwMode="auto">
          <a:xfrm>
            <a:off x="6248400" y="2133600"/>
            <a:ext cx="236220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marL="109538" lvl="1" indent="-107950">
              <a:spcAft>
                <a:spcPts val="400"/>
              </a:spcAft>
              <a:buFontTx/>
              <a:buChar char="•"/>
            </a:pPr>
            <a:r>
              <a:rPr lang="en-US" sz="1100" dirty="0"/>
              <a:t>There are some products that the customers </a:t>
            </a:r>
            <a:r>
              <a:rPr lang="en-US" sz="1100" i="1" dirty="0"/>
              <a:t>demand</a:t>
            </a:r>
            <a:r>
              <a:rPr lang="en-US" sz="1100" dirty="0"/>
              <a:t> from you. </a:t>
            </a:r>
            <a:br>
              <a:rPr lang="en-US" sz="1100" dirty="0"/>
            </a:br>
            <a:r>
              <a:rPr lang="en-US" sz="1100" dirty="0"/>
              <a:t>We call them </a:t>
            </a:r>
            <a:r>
              <a:rPr lang="en-US" sz="1100" b="1" dirty="0">
                <a:solidFill>
                  <a:srgbClr val="FF0000"/>
                </a:solidFill>
              </a:rPr>
              <a:t>PRIMARY</a:t>
            </a:r>
            <a:r>
              <a:rPr lang="en-US" sz="1100" dirty="0"/>
              <a:t> needs.</a:t>
            </a:r>
            <a:endParaRPr lang="en-GB" sz="1100" dirty="0"/>
          </a:p>
        </p:txBody>
      </p:sp>
      <p:sp>
        <p:nvSpPr>
          <p:cNvPr id="27796" name="Rectangle 148"/>
          <p:cNvSpPr>
            <a:spLocks noChangeArrowheads="1"/>
          </p:cNvSpPr>
          <p:nvPr/>
        </p:nvSpPr>
        <p:spPr bwMode="auto">
          <a:xfrm>
            <a:off x="6248400" y="2895600"/>
            <a:ext cx="236220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marL="127000" lvl="1" indent="-125413">
              <a:spcAft>
                <a:spcPts val="400"/>
              </a:spcAft>
              <a:buFontTx/>
              <a:buChar char="•"/>
            </a:pPr>
            <a:r>
              <a:rPr lang="en-US" sz="1100" dirty="0"/>
              <a:t>On top of that, there are products that they </a:t>
            </a:r>
            <a:r>
              <a:rPr lang="en-US" sz="1100" i="1" dirty="0"/>
              <a:t>would like</a:t>
            </a:r>
            <a:r>
              <a:rPr lang="en-US" sz="1100" dirty="0"/>
              <a:t> you to have.</a:t>
            </a:r>
            <a:br>
              <a:rPr lang="en-US" sz="1100" dirty="0"/>
            </a:br>
            <a:r>
              <a:rPr lang="en-US" sz="1100" dirty="0"/>
              <a:t>We call them </a:t>
            </a:r>
            <a:r>
              <a:rPr lang="en-US" sz="1100" b="1" dirty="0">
                <a:solidFill>
                  <a:srgbClr val="006831"/>
                </a:solidFill>
              </a:rPr>
              <a:t>SECONDARY</a:t>
            </a:r>
            <a:r>
              <a:rPr lang="en-US" sz="1100" dirty="0"/>
              <a:t> needs.</a:t>
            </a:r>
            <a:endParaRPr lang="en-GB" sz="1100" dirty="0"/>
          </a:p>
        </p:txBody>
      </p:sp>
      <p:grpSp>
        <p:nvGrpSpPr>
          <p:cNvPr id="27797" name="Group 149"/>
          <p:cNvGrpSpPr>
            <a:grpSpLocks/>
          </p:cNvGrpSpPr>
          <p:nvPr/>
        </p:nvGrpSpPr>
        <p:grpSpPr bwMode="auto">
          <a:xfrm>
            <a:off x="4953000" y="3760790"/>
            <a:ext cx="3657600" cy="982663"/>
            <a:chOff x="2880" y="1872"/>
            <a:chExt cx="2352" cy="619"/>
          </a:xfrm>
        </p:grpSpPr>
        <p:sp>
          <p:nvSpPr>
            <p:cNvPr id="9312" name="Rectangle 150"/>
            <p:cNvSpPr>
              <a:spLocks noChangeArrowheads="1"/>
            </p:cNvSpPr>
            <p:nvPr/>
          </p:nvSpPr>
          <p:spPr bwMode="auto">
            <a:xfrm>
              <a:off x="2885" y="1872"/>
              <a:ext cx="191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Excellent delivery</a:t>
              </a:r>
              <a:endParaRPr lang="en-GB" sz="1400" dirty="0">
                <a:solidFill>
                  <a:srgbClr val="00AEC6"/>
                </a:solidFill>
              </a:endParaRPr>
            </a:p>
          </p:txBody>
        </p:sp>
        <p:sp>
          <p:nvSpPr>
            <p:cNvPr id="9313" name="Rectangle 151"/>
            <p:cNvSpPr>
              <a:spLocks noChangeArrowheads="1"/>
            </p:cNvSpPr>
            <p:nvPr/>
          </p:nvSpPr>
          <p:spPr bwMode="auto">
            <a:xfrm>
              <a:off x="2880" y="2016"/>
              <a:ext cx="2352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dirty="0"/>
                <a:t>The customers also expect you to “deliver with excellence”: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/>
                <a:t>They want your </a:t>
              </a:r>
              <a:r>
                <a:rPr lang="en-US" sz="1000" b="1" dirty="0"/>
                <a:t>PEOPLE</a:t>
              </a:r>
              <a:r>
                <a:rPr lang="en-US" sz="1100" dirty="0"/>
                <a:t> to be knowledgeable and “easy to work with”.</a:t>
              </a:r>
              <a:r>
                <a:rPr lang="en-GB" sz="1100" dirty="0"/>
                <a:t> They want your business </a:t>
              </a:r>
              <a:r>
                <a:rPr lang="en-GB" sz="1000" b="1" dirty="0"/>
                <a:t>PROCESSES</a:t>
              </a:r>
              <a:r>
                <a:rPr lang="en-GB" sz="1100" dirty="0"/>
                <a:t> to be smooth and effective.</a:t>
              </a:r>
            </a:p>
          </p:txBody>
        </p:sp>
      </p:grpSp>
      <p:grpSp>
        <p:nvGrpSpPr>
          <p:cNvPr id="27806" name="Group 158"/>
          <p:cNvGrpSpPr>
            <a:grpSpLocks/>
          </p:cNvGrpSpPr>
          <p:nvPr/>
        </p:nvGrpSpPr>
        <p:grpSpPr bwMode="auto">
          <a:xfrm>
            <a:off x="4953000" y="4984750"/>
            <a:ext cx="3657600" cy="736600"/>
            <a:chOff x="2880" y="1872"/>
            <a:chExt cx="2352" cy="464"/>
          </a:xfrm>
        </p:grpSpPr>
        <p:sp>
          <p:nvSpPr>
            <p:cNvPr id="9310" name="Rectangle 159"/>
            <p:cNvSpPr>
              <a:spLocks noChangeArrowheads="1"/>
            </p:cNvSpPr>
            <p:nvPr/>
          </p:nvSpPr>
          <p:spPr bwMode="auto">
            <a:xfrm>
              <a:off x="2885" y="1872"/>
              <a:ext cx="191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Value for money</a:t>
              </a:r>
              <a:endParaRPr lang="en-GB" sz="1400" dirty="0">
                <a:solidFill>
                  <a:srgbClr val="00AEC6"/>
                </a:solidFill>
              </a:endParaRPr>
            </a:p>
          </p:txBody>
        </p:sp>
        <p:sp>
          <p:nvSpPr>
            <p:cNvPr id="9311" name="Rectangle 160"/>
            <p:cNvSpPr>
              <a:spLocks noChangeArrowheads="1"/>
            </p:cNvSpPr>
            <p:nvPr/>
          </p:nvSpPr>
          <p:spPr bwMode="auto">
            <a:xfrm>
              <a:off x="2880" y="2016"/>
              <a:ext cx="2352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dirty="0"/>
                <a:t>Last but not least:  All customers want a “good price” – even if some customers are more sensitive to the price than others.</a:t>
              </a:r>
              <a:endParaRPr lang="en-GB" sz="1100" dirty="0"/>
            </a:p>
          </p:txBody>
        </p:sp>
      </p:grpSp>
      <p:sp>
        <p:nvSpPr>
          <p:cNvPr id="27811" name="AutoShape 163"/>
          <p:cNvSpPr>
            <a:spLocks noChangeArrowheads="1"/>
          </p:cNvSpPr>
          <p:nvPr/>
        </p:nvSpPr>
        <p:spPr bwMode="auto">
          <a:xfrm>
            <a:off x="4953000" y="1340768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9231" name="Rectangle 164"/>
          <p:cNvSpPr>
            <a:spLocks noChangeArrowheads="1"/>
          </p:cNvSpPr>
          <p:nvPr/>
        </p:nvSpPr>
        <p:spPr bwMode="auto">
          <a:xfrm>
            <a:off x="639763" y="228600"/>
            <a:ext cx="75136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1" hangingPunct="1"/>
            <a:endParaRPr lang="en-GB" sz="4400" dirty="0">
              <a:solidFill>
                <a:schemeClr val="tx2"/>
              </a:solidFill>
            </a:endParaRPr>
          </a:p>
        </p:txBody>
      </p:sp>
      <p:sp>
        <p:nvSpPr>
          <p:cNvPr id="9233" name="Rectangle 170"/>
          <p:cNvSpPr>
            <a:spLocks noChangeArrowheads="1"/>
          </p:cNvSpPr>
          <p:nvPr/>
        </p:nvSpPr>
        <p:spPr bwMode="auto">
          <a:xfrm>
            <a:off x="604838" y="304800"/>
            <a:ext cx="76247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1. In a nutshell: Summary of the key elements in the simulation</a:t>
            </a:r>
          </a:p>
        </p:txBody>
      </p:sp>
      <p:pic>
        <p:nvPicPr>
          <p:cNvPr id="9234" name="Picture 173" descr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04"/>
          <a:stretch/>
        </p:blipFill>
        <p:spPr bwMode="auto">
          <a:xfrm>
            <a:off x="684213" y="2255839"/>
            <a:ext cx="2628900" cy="48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825" name="Picture 177" descr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8" t="23480" r="47974" b="9966"/>
          <a:stretch>
            <a:fillRect/>
          </a:stretch>
        </p:blipFill>
        <p:spPr bwMode="auto">
          <a:xfrm>
            <a:off x="1628775" y="2309813"/>
            <a:ext cx="423863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826" name="Picture 178" descr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25" t="23480" r="32495" b="9966"/>
          <a:stretch>
            <a:fillRect/>
          </a:stretch>
        </p:blipFill>
        <p:spPr bwMode="auto">
          <a:xfrm>
            <a:off x="2054225" y="2309813"/>
            <a:ext cx="42227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832" name="Group 184"/>
          <p:cNvGrpSpPr>
            <a:grpSpLocks/>
          </p:cNvGrpSpPr>
          <p:nvPr/>
        </p:nvGrpSpPr>
        <p:grpSpPr bwMode="auto">
          <a:xfrm>
            <a:off x="4953000" y="1498600"/>
            <a:ext cx="3733800" cy="438150"/>
            <a:chOff x="3120" y="944"/>
            <a:chExt cx="2352" cy="276"/>
          </a:xfrm>
        </p:grpSpPr>
        <p:sp>
          <p:nvSpPr>
            <p:cNvPr id="9307" name="Rectangle 85"/>
            <p:cNvSpPr>
              <a:spLocks noChangeArrowheads="1"/>
            </p:cNvSpPr>
            <p:nvPr/>
          </p:nvSpPr>
          <p:spPr bwMode="auto">
            <a:xfrm>
              <a:off x="3120" y="944"/>
              <a:ext cx="191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GB" sz="1500" b="1" dirty="0">
                  <a:solidFill>
                    <a:srgbClr val="00AEC6"/>
                  </a:solidFill>
                </a:rPr>
                <a:t>What the customers want</a:t>
              </a:r>
              <a:endParaRPr lang="en-GB" sz="1500" dirty="0">
                <a:solidFill>
                  <a:srgbClr val="00AEC6"/>
                </a:solidFill>
              </a:endParaRPr>
            </a:p>
          </p:txBody>
        </p:sp>
        <p:sp>
          <p:nvSpPr>
            <p:cNvPr id="9308" name="Rectangle 86"/>
            <p:cNvSpPr>
              <a:spLocks noChangeArrowheads="1"/>
            </p:cNvSpPr>
            <p:nvPr/>
          </p:nvSpPr>
          <p:spPr bwMode="auto">
            <a:xfrm>
              <a:off x="3120" y="1104"/>
              <a:ext cx="2352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dirty="0"/>
                <a:t>Different customers have different </a:t>
              </a:r>
              <a:r>
                <a:rPr lang="en-US" sz="1200" b="1" dirty="0"/>
                <a:t>product needs</a:t>
              </a:r>
              <a:r>
                <a:rPr lang="en-US" sz="1200" dirty="0"/>
                <a:t>.</a:t>
              </a:r>
              <a:endParaRPr lang="en-GB" sz="1200" dirty="0"/>
            </a:p>
          </p:txBody>
        </p:sp>
      </p:grpSp>
      <p:sp>
        <p:nvSpPr>
          <p:cNvPr id="9238" name="Line 180"/>
          <p:cNvSpPr>
            <a:spLocks noChangeShapeType="1"/>
          </p:cNvSpPr>
          <p:nvPr/>
        </p:nvSpPr>
        <p:spPr bwMode="auto">
          <a:xfrm>
            <a:off x="604838" y="3657600"/>
            <a:ext cx="36623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30" name="AutoShape 182"/>
          <p:cNvSpPr>
            <a:spLocks noChangeArrowheads="1"/>
          </p:cNvSpPr>
          <p:nvPr/>
        </p:nvSpPr>
        <p:spPr bwMode="auto">
          <a:xfrm rot="5400000">
            <a:off x="5229547" y="3318266"/>
            <a:ext cx="180000" cy="72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vert="vert270" lIns="0" tIns="0" rIns="0" bIns="3600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27833" name="AutoShape 185"/>
          <p:cNvSpPr>
            <a:spLocks noChangeArrowheads="1"/>
          </p:cNvSpPr>
          <p:nvPr/>
        </p:nvSpPr>
        <p:spPr bwMode="auto">
          <a:xfrm>
            <a:off x="624250" y="3573016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27842" name="AutoShape 194"/>
          <p:cNvSpPr>
            <a:spLocks noChangeArrowheads="1"/>
          </p:cNvSpPr>
          <p:nvPr/>
        </p:nvSpPr>
        <p:spPr bwMode="auto">
          <a:xfrm>
            <a:off x="4949856" y="4795087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grpSp>
        <p:nvGrpSpPr>
          <p:cNvPr id="27843" name="Group 195"/>
          <p:cNvGrpSpPr>
            <a:grpSpLocks/>
          </p:cNvGrpSpPr>
          <p:nvPr/>
        </p:nvGrpSpPr>
        <p:grpSpPr bwMode="auto">
          <a:xfrm>
            <a:off x="606425" y="3644900"/>
            <a:ext cx="3522662" cy="2144713"/>
            <a:chOff x="382" y="2296"/>
            <a:chExt cx="2219" cy="1351"/>
          </a:xfrm>
        </p:grpSpPr>
        <p:sp>
          <p:nvSpPr>
            <p:cNvPr id="9303" name="Rectangle 196"/>
            <p:cNvSpPr>
              <a:spLocks noChangeArrowheads="1"/>
            </p:cNvSpPr>
            <p:nvPr/>
          </p:nvSpPr>
          <p:spPr bwMode="auto">
            <a:xfrm>
              <a:off x="397" y="2296"/>
              <a:ext cx="220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Develop your People and Processes</a:t>
              </a:r>
              <a:endParaRPr lang="en-GB" sz="1400" dirty="0">
                <a:solidFill>
                  <a:srgbClr val="00AEC6"/>
                </a:solidFill>
              </a:endParaRPr>
            </a:p>
          </p:txBody>
        </p:sp>
        <p:sp>
          <p:nvSpPr>
            <p:cNvPr id="9304" name="Rectangle 197"/>
            <p:cNvSpPr>
              <a:spLocks noChangeArrowheads="1"/>
            </p:cNvSpPr>
            <p:nvPr/>
          </p:nvSpPr>
          <p:spPr bwMode="auto">
            <a:xfrm>
              <a:off x="1488" y="2550"/>
              <a:ext cx="1112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dirty="0"/>
                <a:t>It takes many years and a lot of resources to develop the performance of your people and processes. </a:t>
              </a:r>
            </a:p>
            <a:p>
              <a:pPr>
                <a:spcAft>
                  <a:spcPts val="600"/>
                </a:spcAft>
              </a:pPr>
              <a:r>
                <a:rPr lang="en-US" sz="1100" dirty="0"/>
                <a:t>How you decide to </a:t>
              </a:r>
              <a:r>
                <a:rPr lang="en-US" sz="1100" b="1" dirty="0"/>
                <a:t>prioritize</a:t>
              </a:r>
              <a:r>
                <a:rPr lang="en-US" sz="1100" dirty="0"/>
                <a:t> depends on what you believe is most important to the customers you are targeting.</a:t>
              </a:r>
            </a:p>
          </p:txBody>
        </p:sp>
        <p:pic>
          <p:nvPicPr>
            <p:cNvPr id="9306" name="Picture 199" descr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3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5" t="3186" r="3290" b="5882"/>
            <a:stretch>
              <a:fillRect/>
            </a:stretch>
          </p:blipFill>
          <p:spPr bwMode="auto">
            <a:xfrm>
              <a:off x="382" y="2508"/>
              <a:ext cx="1049" cy="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848" name="Oval 200"/>
          <p:cNvSpPr>
            <a:spLocks noChangeArrowheads="1"/>
          </p:cNvSpPr>
          <p:nvPr/>
        </p:nvSpPr>
        <p:spPr bwMode="auto">
          <a:xfrm>
            <a:off x="1622425" y="5413375"/>
            <a:ext cx="222250" cy="222250"/>
          </a:xfrm>
          <a:prstGeom prst="ellips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7849" name="Oval 201"/>
          <p:cNvSpPr>
            <a:spLocks noChangeArrowheads="1"/>
          </p:cNvSpPr>
          <p:nvPr/>
        </p:nvSpPr>
        <p:spPr bwMode="auto">
          <a:xfrm>
            <a:off x="762000" y="5438775"/>
            <a:ext cx="222250" cy="222250"/>
          </a:xfrm>
          <a:prstGeom prst="ellips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7850" name="AutoShape 20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451725" y="5916613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grpSp>
        <p:nvGrpSpPr>
          <p:cNvPr id="27916" name="Group 268"/>
          <p:cNvGrpSpPr>
            <a:grpSpLocks/>
          </p:cNvGrpSpPr>
          <p:nvPr/>
        </p:nvGrpSpPr>
        <p:grpSpPr bwMode="auto">
          <a:xfrm>
            <a:off x="6175375" y="933450"/>
            <a:ext cx="2276475" cy="538163"/>
            <a:chOff x="3946" y="511"/>
            <a:chExt cx="1434" cy="339"/>
          </a:xfrm>
        </p:grpSpPr>
        <p:grpSp>
          <p:nvGrpSpPr>
            <p:cNvPr id="9261" name="Group 207"/>
            <p:cNvGrpSpPr>
              <a:grpSpLocks/>
            </p:cNvGrpSpPr>
            <p:nvPr/>
          </p:nvGrpSpPr>
          <p:grpSpPr bwMode="auto">
            <a:xfrm>
              <a:off x="4790" y="754"/>
              <a:ext cx="199" cy="72"/>
              <a:chOff x="3538" y="1728"/>
              <a:chExt cx="199" cy="72"/>
            </a:xfrm>
          </p:grpSpPr>
          <p:sp>
            <p:nvSpPr>
              <p:cNvPr id="9297" name="Rectangle 208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9298" name="Group 209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9299" name="Rectangle 210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300" name="Rectangle 211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301" name="Rectangle 212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302" name="Rectangle 213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9262" name="Group 214"/>
            <p:cNvGrpSpPr>
              <a:grpSpLocks/>
            </p:cNvGrpSpPr>
            <p:nvPr/>
          </p:nvGrpSpPr>
          <p:grpSpPr bwMode="auto">
            <a:xfrm>
              <a:off x="5030" y="562"/>
              <a:ext cx="199" cy="72"/>
              <a:chOff x="3538" y="1728"/>
              <a:chExt cx="199" cy="72"/>
            </a:xfrm>
          </p:grpSpPr>
          <p:sp>
            <p:nvSpPr>
              <p:cNvPr id="9291" name="Rectangle 215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9292" name="Group 216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9293" name="Rectangle 217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94" name="Rectangle 218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95" name="Rectangle 219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96" name="Rectangle 220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9263" name="Group 221"/>
            <p:cNvGrpSpPr>
              <a:grpSpLocks/>
            </p:cNvGrpSpPr>
            <p:nvPr/>
          </p:nvGrpSpPr>
          <p:grpSpPr bwMode="auto">
            <a:xfrm>
              <a:off x="4673" y="511"/>
              <a:ext cx="199" cy="72"/>
              <a:chOff x="3538" y="1728"/>
              <a:chExt cx="199" cy="72"/>
            </a:xfrm>
          </p:grpSpPr>
          <p:sp>
            <p:nvSpPr>
              <p:cNvPr id="9285" name="Rectangle 222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9286" name="Group 223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9287" name="Rectangle 224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88" name="Rectangle 225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89" name="Rectangle 226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90" name="Rectangle 227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9264" name="Group 228"/>
            <p:cNvGrpSpPr>
              <a:grpSpLocks/>
            </p:cNvGrpSpPr>
            <p:nvPr/>
          </p:nvGrpSpPr>
          <p:grpSpPr bwMode="auto">
            <a:xfrm>
              <a:off x="4347" y="670"/>
              <a:ext cx="199" cy="72"/>
              <a:chOff x="3538" y="1728"/>
              <a:chExt cx="199" cy="72"/>
            </a:xfrm>
          </p:grpSpPr>
          <p:sp>
            <p:nvSpPr>
              <p:cNvPr id="9279" name="Rectangle 229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9280" name="Group 230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9281" name="Rectangle 231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82" name="Rectangle 232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83" name="Rectangle 233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84" name="Rectangle 234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9265" name="Group 235"/>
            <p:cNvGrpSpPr>
              <a:grpSpLocks/>
            </p:cNvGrpSpPr>
            <p:nvPr/>
          </p:nvGrpSpPr>
          <p:grpSpPr bwMode="auto">
            <a:xfrm>
              <a:off x="3946" y="613"/>
              <a:ext cx="199" cy="72"/>
              <a:chOff x="3538" y="1728"/>
              <a:chExt cx="199" cy="72"/>
            </a:xfrm>
          </p:grpSpPr>
          <p:sp>
            <p:nvSpPr>
              <p:cNvPr id="9273" name="Rectangle 236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9274" name="Group 237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9275" name="Rectangle 238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76" name="Rectangle 239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77" name="Rectangle 240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78" name="Rectangle 241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9266" name="Group 242"/>
            <p:cNvGrpSpPr>
              <a:grpSpLocks/>
            </p:cNvGrpSpPr>
            <p:nvPr/>
          </p:nvGrpSpPr>
          <p:grpSpPr bwMode="auto">
            <a:xfrm>
              <a:off x="5181" y="778"/>
              <a:ext cx="199" cy="72"/>
              <a:chOff x="3538" y="1728"/>
              <a:chExt cx="199" cy="72"/>
            </a:xfrm>
          </p:grpSpPr>
          <p:sp>
            <p:nvSpPr>
              <p:cNvPr id="9267" name="Rectangle 243"/>
              <p:cNvSpPr>
                <a:spLocks noChangeArrowheads="1"/>
              </p:cNvSpPr>
              <p:nvPr/>
            </p:nvSpPr>
            <p:spPr bwMode="auto">
              <a:xfrm>
                <a:off x="3538" y="1728"/>
                <a:ext cx="199" cy="69"/>
              </a:xfrm>
              <a:prstGeom prst="rect">
                <a:avLst/>
              </a:prstGeom>
              <a:solidFill>
                <a:srgbClr val="D7FA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201600" prstMaterial="legacyMatte">
                <a:bevelT w="13500" h="13500" prst="angle"/>
                <a:bevelB w="13500" h="13500" prst="angle"/>
                <a:extrusionClr>
                  <a:srgbClr val="D7FAFF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9268" name="Group 244"/>
              <p:cNvGrpSpPr>
                <a:grpSpLocks/>
              </p:cNvGrpSpPr>
              <p:nvPr/>
            </p:nvGrpSpPr>
            <p:grpSpPr bwMode="auto">
              <a:xfrm>
                <a:off x="3561" y="1753"/>
                <a:ext cx="150" cy="47"/>
                <a:chOff x="3561" y="1734"/>
                <a:chExt cx="150" cy="66"/>
              </a:xfrm>
            </p:grpSpPr>
            <p:sp>
              <p:nvSpPr>
                <p:cNvPr id="9269" name="Rectangle 245"/>
                <p:cNvSpPr>
                  <a:spLocks noChangeArrowheads="1"/>
                </p:cNvSpPr>
                <p:nvPr/>
              </p:nvSpPr>
              <p:spPr bwMode="auto">
                <a:xfrm flipH="1">
                  <a:off x="3684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70" name="Rectangle 246"/>
                <p:cNvSpPr>
                  <a:spLocks noChangeArrowheads="1"/>
                </p:cNvSpPr>
                <p:nvPr/>
              </p:nvSpPr>
              <p:spPr bwMode="auto">
                <a:xfrm flipH="1">
                  <a:off x="3643" y="1734"/>
                  <a:ext cx="27" cy="6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71" name="Rectangle 247"/>
                <p:cNvSpPr>
                  <a:spLocks noChangeArrowheads="1"/>
                </p:cNvSpPr>
                <p:nvPr/>
              </p:nvSpPr>
              <p:spPr bwMode="auto">
                <a:xfrm flipH="1">
                  <a:off x="3602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272" name="Rectangle 248"/>
                <p:cNvSpPr>
                  <a:spLocks noChangeArrowheads="1"/>
                </p:cNvSpPr>
                <p:nvPr/>
              </p:nvSpPr>
              <p:spPr bwMode="auto">
                <a:xfrm flipH="1">
                  <a:off x="3561" y="1734"/>
                  <a:ext cx="27" cy="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</p:grpSp>
      <p:grpSp>
        <p:nvGrpSpPr>
          <p:cNvPr id="9249" name="Group 256"/>
          <p:cNvGrpSpPr>
            <a:grpSpLocks/>
          </p:cNvGrpSpPr>
          <p:nvPr/>
        </p:nvGrpSpPr>
        <p:grpSpPr bwMode="auto">
          <a:xfrm>
            <a:off x="3302601" y="1004263"/>
            <a:ext cx="512762" cy="555625"/>
            <a:chOff x="3092" y="949"/>
            <a:chExt cx="634" cy="654"/>
          </a:xfrm>
        </p:grpSpPr>
        <p:sp>
          <p:nvSpPr>
            <p:cNvPr id="9250" name="Rectangle 257"/>
            <p:cNvSpPr>
              <a:spLocks noChangeArrowheads="1"/>
            </p:cNvSpPr>
            <p:nvPr/>
          </p:nvSpPr>
          <p:spPr bwMode="auto">
            <a:xfrm>
              <a:off x="3092" y="1140"/>
              <a:ext cx="634" cy="463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sv-SE"/>
            </a:p>
          </p:txBody>
        </p:sp>
        <p:grpSp>
          <p:nvGrpSpPr>
            <p:cNvPr id="9251" name="Group 258"/>
            <p:cNvGrpSpPr>
              <a:grpSpLocks/>
            </p:cNvGrpSpPr>
            <p:nvPr/>
          </p:nvGrpSpPr>
          <p:grpSpPr bwMode="auto">
            <a:xfrm>
              <a:off x="3167" y="1201"/>
              <a:ext cx="507" cy="156"/>
              <a:chOff x="672" y="720"/>
              <a:chExt cx="999" cy="288"/>
            </a:xfrm>
          </p:grpSpPr>
          <p:sp>
            <p:nvSpPr>
              <p:cNvPr id="9257" name="Rectangle 259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231" cy="28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258" name="Rectangle 260"/>
              <p:cNvSpPr>
                <a:spLocks noChangeArrowheads="1"/>
              </p:cNvSpPr>
              <p:nvPr/>
            </p:nvSpPr>
            <p:spPr bwMode="auto">
              <a:xfrm>
                <a:off x="928" y="720"/>
                <a:ext cx="231" cy="28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259" name="Rectangle 261"/>
              <p:cNvSpPr>
                <a:spLocks noChangeArrowheads="1"/>
              </p:cNvSpPr>
              <p:nvPr/>
            </p:nvSpPr>
            <p:spPr bwMode="auto">
              <a:xfrm>
                <a:off x="1184" y="720"/>
                <a:ext cx="231" cy="28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260" name="Rectangle 262"/>
              <p:cNvSpPr>
                <a:spLocks noChangeArrowheads="1"/>
              </p:cNvSpPr>
              <p:nvPr/>
            </p:nvSpPr>
            <p:spPr bwMode="auto">
              <a:xfrm>
                <a:off x="1440" y="720"/>
                <a:ext cx="231" cy="28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9252" name="Rectangle 263"/>
            <p:cNvSpPr>
              <a:spLocks noChangeArrowheads="1"/>
            </p:cNvSpPr>
            <p:nvPr/>
          </p:nvSpPr>
          <p:spPr bwMode="auto">
            <a:xfrm>
              <a:off x="3167" y="1396"/>
              <a:ext cx="117" cy="156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D2D2D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253" name="Rectangle 264"/>
            <p:cNvSpPr>
              <a:spLocks noChangeArrowheads="1"/>
            </p:cNvSpPr>
            <p:nvPr/>
          </p:nvSpPr>
          <p:spPr bwMode="auto">
            <a:xfrm>
              <a:off x="3297" y="1396"/>
              <a:ext cx="117" cy="20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D2D2D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254" name="Rectangle 265"/>
            <p:cNvSpPr>
              <a:spLocks noChangeArrowheads="1"/>
            </p:cNvSpPr>
            <p:nvPr/>
          </p:nvSpPr>
          <p:spPr bwMode="auto">
            <a:xfrm>
              <a:off x="3427" y="1396"/>
              <a:ext cx="117" cy="156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D2D2D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255" name="Rectangle 266"/>
            <p:cNvSpPr>
              <a:spLocks noChangeArrowheads="1"/>
            </p:cNvSpPr>
            <p:nvPr/>
          </p:nvSpPr>
          <p:spPr bwMode="auto">
            <a:xfrm>
              <a:off x="3557" y="1396"/>
              <a:ext cx="117" cy="156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D2D2D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256" name="Rectangle 267"/>
            <p:cNvSpPr>
              <a:spLocks noChangeArrowheads="1"/>
            </p:cNvSpPr>
            <p:nvPr/>
          </p:nvSpPr>
          <p:spPr bwMode="auto">
            <a:xfrm>
              <a:off x="3164" y="949"/>
              <a:ext cx="400" cy="159"/>
            </a:xfrm>
            <a:prstGeom prst="rect">
              <a:avLst/>
            </a:prstGeom>
            <a:pattFill prst="dkVert">
              <a:fgClr>
                <a:srgbClr val="FF7C80"/>
              </a:fgClr>
              <a:bgClr>
                <a:srgbClr val="FF9999"/>
              </a:bgClr>
            </a:patt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800" dirty="0">
                  <a:solidFill>
                    <a:schemeClr val="bg1"/>
                  </a:solidFill>
                </a:rPr>
                <a:t>Alpha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4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8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8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700"/>
                                        <p:tgtEl>
                                          <p:spTgt spid="2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86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2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74" presetID="0" presetClass="path" presetSubtype="0" accel="50000" decel="50000" fill="hold" grpId="1" nodeType="after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3.33333E-6 4.44444E-6 C -3.33333E-6 -0.01112 -0.00017 -0.05 -3.33333E-6 -0.06621 C 0.00035 -0.0757 0.00018 -0.09306 0.00105 -0.09723 " pathEditMode="relative" rAng="0" ptsTypes="fff">
                                      <p:cBhvr>
                                        <p:cTn id="75" dur="6700" fill="hold"/>
                                        <p:tgtEl>
                                          <p:spTgt spid="278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4861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50000" decel="5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3.88889E-6 7.40741E-7 C 0.00017 -0.0162 0.00017 -0.05556 0.00034 -0.07176 " pathEditMode="relative" rAng="0" ptsTypes="ff">
                                      <p:cBhvr>
                                        <p:cTn id="77" dur="9600" fill="hold"/>
                                        <p:tgtEl>
                                          <p:spTgt spid="278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41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9" grpId="0"/>
      <p:bldP spid="27795" grpId="0"/>
      <p:bldP spid="27796" grpId="0"/>
      <p:bldP spid="27811" grpId="0" animBg="1"/>
      <p:bldP spid="27830" grpId="0" animBg="1"/>
      <p:bldP spid="27833" grpId="0" animBg="1"/>
      <p:bldP spid="27842" grpId="0" animBg="1"/>
      <p:bldP spid="27848" grpId="0" animBg="1"/>
      <p:bldP spid="27848" grpId="1" animBg="1"/>
      <p:bldP spid="27849" grpId="0" animBg="1"/>
      <p:bldP spid="27849" grpId="1" animBg="1"/>
      <p:bldP spid="278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4" descr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24489" r="1178" b="53561"/>
          <a:stretch>
            <a:fillRect/>
          </a:stretch>
        </p:blipFill>
        <p:spPr bwMode="auto">
          <a:xfrm>
            <a:off x="0" y="0"/>
            <a:ext cx="178911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3" name="Group 3"/>
          <p:cNvGrpSpPr>
            <a:grpSpLocks/>
          </p:cNvGrpSpPr>
          <p:nvPr/>
        </p:nvGrpSpPr>
        <p:grpSpPr bwMode="auto">
          <a:xfrm>
            <a:off x="604838" y="-623043"/>
            <a:ext cx="8158162" cy="2208"/>
            <a:chOff x="381" y="1026"/>
            <a:chExt cx="4707" cy="2208"/>
          </a:xfrm>
        </p:grpSpPr>
        <p:sp>
          <p:nvSpPr>
            <p:cNvPr id="10296" name="Line 4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297" name="Line 5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2166" name="AutoShape 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68316" y="6165304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2043975" y="404664"/>
            <a:ext cx="5191125" cy="43204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CHAPTER 2</a:t>
            </a:r>
          </a:p>
        </p:txBody>
      </p:sp>
      <p:sp>
        <p:nvSpPr>
          <p:cNvPr id="10246" name="Rectangle 8"/>
          <p:cNvSpPr>
            <a:spLocks noChangeArrowheads="1"/>
          </p:cNvSpPr>
          <p:nvPr/>
        </p:nvSpPr>
        <p:spPr bwMode="auto">
          <a:xfrm>
            <a:off x="604838" y="1307405"/>
            <a:ext cx="66103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rgbClr val="00AEC6"/>
                </a:solidFill>
              </a:rPr>
              <a:t>Customer segmentation</a:t>
            </a:r>
            <a:endParaRPr lang="en-GB" sz="2000" i="1" dirty="0">
              <a:solidFill>
                <a:srgbClr val="00AEC6"/>
              </a:solidFill>
            </a:endParaRPr>
          </a:p>
        </p:txBody>
      </p:sp>
      <p:sp>
        <p:nvSpPr>
          <p:cNvPr id="10247" name="Rectangle 9"/>
          <p:cNvSpPr>
            <a:spLocks noChangeArrowheads="1"/>
          </p:cNvSpPr>
          <p:nvPr/>
        </p:nvSpPr>
        <p:spPr bwMode="auto">
          <a:xfrm>
            <a:off x="652463" y="1757363"/>
            <a:ext cx="3532187" cy="85248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You can not be “all things to all customers”. </a:t>
            </a:r>
            <a:br>
              <a:rPr lang="en-GB" sz="1100" dirty="0"/>
            </a:br>
            <a:r>
              <a:rPr lang="en-GB" sz="1100" dirty="0"/>
              <a:t>You have to make a choice.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For that reason, knowing your customers is key to success…</a:t>
            </a:r>
          </a:p>
        </p:txBody>
      </p:sp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1323975" y="3700463"/>
            <a:ext cx="2897188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dirty="0"/>
              <a:t>From a </a:t>
            </a:r>
            <a:r>
              <a:rPr lang="en-GB" sz="1300" b="1" dirty="0"/>
              <a:t>blurred picture</a:t>
            </a:r>
            <a:r>
              <a:rPr lang="en-GB" sz="1300" dirty="0">
                <a:solidFill>
                  <a:srgbClr val="00AEC6"/>
                </a:solidFill>
              </a:rPr>
              <a:t> </a:t>
            </a:r>
            <a:r>
              <a:rPr lang="en-GB" sz="1300" dirty="0"/>
              <a:t>with customers all over the place…</a:t>
            </a:r>
          </a:p>
        </p:txBody>
      </p:sp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1343025" y="4270375"/>
            <a:ext cx="2897188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dirty="0"/>
              <a:t>… to a </a:t>
            </a:r>
            <a:r>
              <a:rPr lang="en-GB" sz="1300" b="1" dirty="0"/>
              <a:t>few categories </a:t>
            </a:r>
            <a:r>
              <a:rPr lang="en-GB" sz="1300" dirty="0"/>
              <a:t>of customers with similar needs and preferences</a:t>
            </a:r>
          </a:p>
        </p:txBody>
      </p:sp>
      <p:grpSp>
        <p:nvGrpSpPr>
          <p:cNvPr id="92178" name="Group 18"/>
          <p:cNvGrpSpPr>
            <a:grpSpLocks/>
          </p:cNvGrpSpPr>
          <p:nvPr/>
        </p:nvGrpSpPr>
        <p:grpSpPr bwMode="auto">
          <a:xfrm>
            <a:off x="5068888" y="2009775"/>
            <a:ext cx="3514725" cy="3797300"/>
            <a:chOff x="2680" y="808"/>
            <a:chExt cx="2852" cy="3080"/>
          </a:xfrm>
        </p:grpSpPr>
        <p:grpSp>
          <p:nvGrpSpPr>
            <p:cNvPr id="10284" name="Group 19"/>
            <p:cNvGrpSpPr>
              <a:grpSpLocks/>
            </p:cNvGrpSpPr>
            <p:nvPr/>
          </p:nvGrpSpPr>
          <p:grpSpPr bwMode="auto">
            <a:xfrm>
              <a:off x="2680" y="2032"/>
              <a:ext cx="2852" cy="414"/>
              <a:chOff x="2680" y="1848"/>
              <a:chExt cx="2852" cy="414"/>
            </a:xfrm>
          </p:grpSpPr>
          <p:grpSp>
            <p:nvGrpSpPr>
              <p:cNvPr id="10290" name="Group 20"/>
              <p:cNvGrpSpPr>
                <a:grpSpLocks/>
              </p:cNvGrpSpPr>
              <p:nvPr/>
            </p:nvGrpSpPr>
            <p:grpSpPr bwMode="auto">
              <a:xfrm>
                <a:off x="2680" y="1848"/>
                <a:ext cx="1389" cy="403"/>
                <a:chOff x="269" y="1857"/>
                <a:chExt cx="1389" cy="403"/>
              </a:xfrm>
            </p:grpSpPr>
            <p:sp>
              <p:nvSpPr>
                <p:cNvPr id="10294" name="Rectangle 21"/>
                <p:cNvSpPr>
                  <a:spLocks noChangeArrowheads="1"/>
                </p:cNvSpPr>
                <p:nvPr/>
              </p:nvSpPr>
              <p:spPr bwMode="auto">
                <a:xfrm>
                  <a:off x="269" y="1857"/>
                  <a:ext cx="1296" cy="2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>
                    <a:spcAft>
                      <a:spcPts val="600"/>
                    </a:spcAft>
                  </a:pPr>
                  <a:r>
                    <a:rPr lang="en-GB" sz="1000" b="1">
                      <a:solidFill>
                        <a:schemeClr val="bg1"/>
                      </a:solidFill>
                    </a:rPr>
                    <a:t>Price</a:t>
                  </a:r>
                </a:p>
              </p:txBody>
            </p:sp>
            <p:sp>
              <p:nvSpPr>
                <p:cNvPr id="10295" name="AutoShape 22"/>
                <p:cNvSpPr>
                  <a:spLocks noChangeArrowheads="1"/>
                </p:cNvSpPr>
                <p:nvPr/>
              </p:nvSpPr>
              <p:spPr bwMode="auto">
                <a:xfrm rot="16200000">
                  <a:off x="852" y="1454"/>
                  <a:ext cx="227" cy="1385"/>
                </a:xfrm>
                <a:prstGeom prst="upArrow">
                  <a:avLst>
                    <a:gd name="adj1" fmla="val 34074"/>
                    <a:gd name="adj2" fmla="val 71524"/>
                  </a:avLst>
                </a:prstGeom>
                <a:solidFill>
                  <a:srgbClr val="009900">
                    <a:alpha val="40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  <p:grpSp>
            <p:nvGrpSpPr>
              <p:cNvPr id="10291" name="Group 23"/>
              <p:cNvGrpSpPr>
                <a:grpSpLocks/>
              </p:cNvGrpSpPr>
              <p:nvPr/>
            </p:nvGrpSpPr>
            <p:grpSpPr bwMode="auto">
              <a:xfrm>
                <a:off x="4104" y="1860"/>
                <a:ext cx="1428" cy="402"/>
                <a:chOff x="1457" y="1857"/>
                <a:chExt cx="1428" cy="402"/>
              </a:xfrm>
            </p:grpSpPr>
            <p:sp>
              <p:nvSpPr>
                <p:cNvPr id="1029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8" y="1857"/>
                  <a:ext cx="84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 algn="r">
                    <a:spcAft>
                      <a:spcPts val="600"/>
                    </a:spcAft>
                  </a:pPr>
                  <a:r>
                    <a:rPr lang="en-GB" sz="1000" b="1">
                      <a:solidFill>
                        <a:schemeClr val="bg1"/>
                      </a:solidFill>
                    </a:rPr>
                    <a:t>Value</a:t>
                  </a:r>
                </a:p>
              </p:txBody>
            </p:sp>
            <p:sp>
              <p:nvSpPr>
                <p:cNvPr id="10293" name="AutoShape 25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057" y="1432"/>
                  <a:ext cx="227" cy="1428"/>
                </a:xfrm>
                <a:prstGeom prst="upArrow">
                  <a:avLst>
                    <a:gd name="adj1" fmla="val 34074"/>
                    <a:gd name="adj2" fmla="val 72962"/>
                  </a:avLst>
                </a:prstGeom>
                <a:solidFill>
                  <a:srgbClr val="009900">
                    <a:alpha val="40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10285" name="Group 26"/>
            <p:cNvGrpSpPr>
              <a:grpSpLocks/>
            </p:cNvGrpSpPr>
            <p:nvPr/>
          </p:nvGrpSpPr>
          <p:grpSpPr bwMode="auto">
            <a:xfrm>
              <a:off x="3440" y="808"/>
              <a:ext cx="1297" cy="3080"/>
              <a:chOff x="3334" y="758"/>
              <a:chExt cx="1297" cy="3080"/>
            </a:xfrm>
          </p:grpSpPr>
          <p:sp>
            <p:nvSpPr>
              <p:cNvPr id="10286" name="Rectangle 27"/>
              <p:cNvSpPr>
                <a:spLocks noChangeArrowheads="1"/>
              </p:cNvSpPr>
              <p:nvPr/>
            </p:nvSpPr>
            <p:spPr bwMode="auto">
              <a:xfrm>
                <a:off x="3335" y="758"/>
                <a:ext cx="1296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ctr">
                  <a:spcAft>
                    <a:spcPts val="600"/>
                  </a:spcAft>
                </a:pPr>
                <a:r>
                  <a:rPr lang="en-GB" sz="1000" b="1">
                    <a:solidFill>
                      <a:schemeClr val="bg1"/>
                    </a:solidFill>
                  </a:rPr>
                  <a:t>Many needs</a:t>
                </a:r>
              </a:p>
            </p:txBody>
          </p:sp>
          <p:sp>
            <p:nvSpPr>
              <p:cNvPr id="10287" name="Rectangle 28"/>
              <p:cNvSpPr>
                <a:spLocks noChangeArrowheads="1"/>
              </p:cNvSpPr>
              <p:nvPr/>
            </p:nvSpPr>
            <p:spPr bwMode="auto">
              <a:xfrm>
                <a:off x="3334" y="3626"/>
                <a:ext cx="129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ctr">
                  <a:spcAft>
                    <a:spcPts val="600"/>
                  </a:spcAft>
                </a:pPr>
                <a:r>
                  <a:rPr lang="en-GB" sz="1000" b="1">
                    <a:solidFill>
                      <a:schemeClr val="bg1"/>
                    </a:solidFill>
                  </a:rPr>
                  <a:t>Basic needs</a:t>
                </a:r>
              </a:p>
            </p:txBody>
          </p:sp>
          <p:sp>
            <p:nvSpPr>
              <p:cNvPr id="10288" name="AutoShape 29"/>
              <p:cNvSpPr>
                <a:spLocks noChangeArrowheads="1"/>
              </p:cNvSpPr>
              <p:nvPr/>
            </p:nvSpPr>
            <p:spPr bwMode="auto">
              <a:xfrm>
                <a:off x="3869" y="1000"/>
                <a:ext cx="227" cy="1300"/>
              </a:xfrm>
              <a:prstGeom prst="upArrow">
                <a:avLst>
                  <a:gd name="adj1" fmla="val 34074"/>
                  <a:gd name="adj2" fmla="val 71524"/>
                </a:avLst>
              </a:prstGeom>
              <a:solidFill>
                <a:srgbClr val="009900">
                  <a:alpha val="4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289" name="AutoShape 30"/>
              <p:cNvSpPr>
                <a:spLocks noChangeArrowheads="1"/>
              </p:cNvSpPr>
              <p:nvPr/>
            </p:nvSpPr>
            <p:spPr bwMode="auto">
              <a:xfrm flipV="1">
                <a:off x="3869" y="2300"/>
                <a:ext cx="227" cy="1312"/>
              </a:xfrm>
              <a:prstGeom prst="upArrow">
                <a:avLst>
                  <a:gd name="adj1" fmla="val 34074"/>
                  <a:gd name="adj2" fmla="val 72962"/>
                </a:avLst>
              </a:prstGeom>
              <a:solidFill>
                <a:srgbClr val="009900">
                  <a:alpha val="4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grpSp>
        <p:nvGrpSpPr>
          <p:cNvPr id="92191" name="Group 31"/>
          <p:cNvGrpSpPr>
            <a:grpSpLocks/>
          </p:cNvGrpSpPr>
          <p:nvPr/>
        </p:nvGrpSpPr>
        <p:grpSpPr bwMode="auto">
          <a:xfrm>
            <a:off x="5462588" y="2590800"/>
            <a:ext cx="2768600" cy="2422525"/>
            <a:chOff x="2996" y="1298"/>
            <a:chExt cx="2246" cy="1966"/>
          </a:xfrm>
        </p:grpSpPr>
        <p:pic>
          <p:nvPicPr>
            <p:cNvPr id="10260" name="Picture 32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8" y="1413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1" name="Picture 33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3" y="1380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2" name="Picture 34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" y="1691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3" name="Picture 35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7" y="2008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4" name="Picture 36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2" y="2431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5" name="Picture 37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5" y="2651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6" name="Picture 38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0" y="2746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7" name="Picture 39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5" y="300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8" name="Picture 40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" y="3060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9" name="Picture 41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" y="2395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0" name="Picture 42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" y="269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1" name="Picture 43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3" y="2985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2" name="Picture 44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1" y="2425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3" name="Picture 45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0" y="2003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4" name="Picture 46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1" y="1670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5" name="Picture 47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9" y="2259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6" name="Picture 48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" y="2938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7" name="Picture 49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9" y="269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8" name="Picture 50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9" y="1298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9" name="Picture 51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0" y="1663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0" name="Picture 52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" y="151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1" name="Picture 53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7" y="1942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2" name="Picture 54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" y="1624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Picture 55" descr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" y="198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216" name="Group 56"/>
          <p:cNvGrpSpPr>
            <a:grpSpLocks/>
          </p:cNvGrpSpPr>
          <p:nvPr/>
        </p:nvGrpSpPr>
        <p:grpSpPr bwMode="auto">
          <a:xfrm>
            <a:off x="5330825" y="2348880"/>
            <a:ext cx="3016250" cy="2851150"/>
            <a:chOff x="2703" y="981"/>
            <a:chExt cx="2445" cy="2313"/>
          </a:xfrm>
        </p:grpSpPr>
        <p:sp>
          <p:nvSpPr>
            <p:cNvPr id="10255" name="Oval 57"/>
            <p:cNvSpPr>
              <a:spLocks noChangeArrowheads="1"/>
            </p:cNvSpPr>
            <p:nvPr/>
          </p:nvSpPr>
          <p:spPr bwMode="auto">
            <a:xfrm>
              <a:off x="2703" y="981"/>
              <a:ext cx="1175" cy="1254"/>
            </a:xfrm>
            <a:prstGeom prst="ellipse">
              <a:avLst/>
            </a:prstGeom>
            <a:solidFill>
              <a:schemeClr val="bg1">
                <a:alpha val="87842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3600" b="1" dirty="0">
                  <a:solidFill>
                    <a:srgbClr val="009900"/>
                  </a:solidFill>
                  <a:cs typeface="Arial" pitchFamily="34" charset="0"/>
                </a:rPr>
                <a:t>S</a:t>
              </a:r>
              <a:endParaRPr lang="en-US" sz="36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0256" name="Oval 58"/>
            <p:cNvSpPr>
              <a:spLocks noChangeArrowheads="1"/>
            </p:cNvSpPr>
            <p:nvPr/>
          </p:nvSpPr>
          <p:spPr bwMode="auto">
            <a:xfrm>
              <a:off x="2884" y="2040"/>
              <a:ext cx="1089" cy="1254"/>
            </a:xfrm>
            <a:prstGeom prst="ellipse">
              <a:avLst/>
            </a:prstGeom>
            <a:solidFill>
              <a:schemeClr val="bg1">
                <a:alpha val="87842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3600" b="1" dirty="0">
                  <a:solidFill>
                    <a:srgbClr val="009900"/>
                  </a:solidFill>
                  <a:cs typeface="Arial" pitchFamily="34" charset="0"/>
                </a:rPr>
                <a:t>T</a:t>
              </a:r>
              <a:endParaRPr lang="en-US" sz="36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0257" name="Oval 59"/>
            <p:cNvSpPr>
              <a:spLocks noChangeArrowheads="1"/>
            </p:cNvSpPr>
            <p:nvPr/>
          </p:nvSpPr>
          <p:spPr bwMode="auto">
            <a:xfrm>
              <a:off x="3852" y="2341"/>
              <a:ext cx="1296" cy="878"/>
            </a:xfrm>
            <a:prstGeom prst="ellipse">
              <a:avLst/>
            </a:prstGeom>
            <a:solidFill>
              <a:schemeClr val="bg1">
                <a:alpha val="87842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3600" b="1" dirty="0">
                  <a:solidFill>
                    <a:srgbClr val="009900"/>
                  </a:solidFill>
                  <a:cs typeface="Arial" pitchFamily="34" charset="0"/>
                </a:rPr>
                <a:t>A</a:t>
              </a:r>
              <a:endParaRPr lang="en-US" sz="36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0258" name="Oval 60"/>
            <p:cNvSpPr>
              <a:spLocks noChangeArrowheads="1"/>
            </p:cNvSpPr>
            <p:nvPr/>
          </p:nvSpPr>
          <p:spPr bwMode="auto">
            <a:xfrm>
              <a:off x="3728" y="1409"/>
              <a:ext cx="921" cy="1157"/>
            </a:xfrm>
            <a:prstGeom prst="ellipse">
              <a:avLst/>
            </a:prstGeom>
            <a:solidFill>
              <a:schemeClr val="bg1">
                <a:alpha val="87842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3600" b="1" dirty="0">
                  <a:solidFill>
                    <a:srgbClr val="009900"/>
                  </a:solidFill>
                  <a:cs typeface="Arial" pitchFamily="34" charset="0"/>
                </a:rPr>
                <a:t>M</a:t>
              </a:r>
              <a:endParaRPr lang="en-US" sz="36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0259" name="Oval 61"/>
            <p:cNvSpPr>
              <a:spLocks noChangeArrowheads="1"/>
            </p:cNvSpPr>
            <p:nvPr/>
          </p:nvSpPr>
          <p:spPr bwMode="auto">
            <a:xfrm>
              <a:off x="3878" y="981"/>
              <a:ext cx="1160" cy="832"/>
            </a:xfrm>
            <a:prstGeom prst="ellipse">
              <a:avLst/>
            </a:prstGeom>
            <a:solidFill>
              <a:schemeClr val="bg1">
                <a:alpha val="87842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3600" b="1">
                  <a:solidFill>
                    <a:srgbClr val="009900"/>
                  </a:solidFill>
                  <a:cs typeface="Arial" pitchFamily="34" charset="0"/>
                </a:rPr>
                <a:t>P</a:t>
              </a:r>
              <a:endParaRPr lang="en-US" sz="3600" b="1">
                <a:solidFill>
                  <a:srgbClr val="009900"/>
                </a:solidFill>
                <a:cs typeface="Arial" pitchFamily="34" charset="0"/>
              </a:endParaRPr>
            </a:p>
          </p:txBody>
        </p:sp>
      </p:grpSp>
      <p:sp>
        <p:nvSpPr>
          <p:cNvPr id="92222" name="Rectangle 62"/>
          <p:cNvSpPr>
            <a:spLocks noChangeArrowheads="1"/>
          </p:cNvSpPr>
          <p:nvPr/>
        </p:nvSpPr>
        <p:spPr bwMode="auto">
          <a:xfrm>
            <a:off x="652463" y="2811463"/>
            <a:ext cx="3532187" cy="6572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500" b="1" dirty="0">
                <a:solidFill>
                  <a:srgbClr val="00AEC6"/>
                </a:solidFill>
              </a:rPr>
              <a:t>In this chapter</a:t>
            </a:r>
            <a:r>
              <a:rPr lang="en-GB" sz="1500" dirty="0">
                <a:solidFill>
                  <a:srgbClr val="00AEC6"/>
                </a:solidFill>
              </a:rPr>
              <a:t>…</a:t>
            </a:r>
            <a:endParaRPr lang="en-GB" sz="1100" dirty="0">
              <a:solidFill>
                <a:srgbClr val="00AEC6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1100" dirty="0"/>
              <a:t>… we will show you how the customer knowledge is organized in the simulation:</a:t>
            </a:r>
          </a:p>
        </p:txBody>
      </p:sp>
      <p:sp>
        <p:nvSpPr>
          <p:cNvPr id="92223" name="AutoShape 63"/>
          <p:cNvSpPr>
            <a:spLocks noChangeArrowheads="1"/>
          </p:cNvSpPr>
          <p:nvPr/>
        </p:nvSpPr>
        <p:spPr bwMode="auto">
          <a:xfrm>
            <a:off x="1323975" y="4189554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0" y="9906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AEC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2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2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6" grpId="0" animBg="1"/>
      <p:bldP spid="92170" grpId="0"/>
      <p:bldP spid="92171" grpId="0"/>
      <p:bldP spid="92222" grpId="0"/>
      <p:bldP spid="922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52"/>
          <p:cNvGrpSpPr>
            <a:grpSpLocks/>
          </p:cNvGrpSpPr>
          <p:nvPr/>
        </p:nvGrpSpPr>
        <p:grpSpPr bwMode="auto">
          <a:xfrm>
            <a:off x="1233488" y="2247900"/>
            <a:ext cx="2376487" cy="828675"/>
            <a:chOff x="909" y="2448"/>
            <a:chExt cx="1497" cy="522"/>
          </a:xfrm>
        </p:grpSpPr>
        <p:sp>
          <p:nvSpPr>
            <p:cNvPr id="15404" name="Rectangle 44"/>
            <p:cNvSpPr>
              <a:spLocks noChangeArrowheads="1"/>
            </p:cNvSpPr>
            <p:nvPr/>
          </p:nvSpPr>
          <p:spPr bwMode="auto">
            <a:xfrm>
              <a:off x="909" y="2448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05" name="Rectangle 45"/>
            <p:cNvSpPr>
              <a:spLocks noChangeArrowheads="1"/>
            </p:cNvSpPr>
            <p:nvPr/>
          </p:nvSpPr>
          <p:spPr bwMode="auto">
            <a:xfrm>
              <a:off x="1296" y="2448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06" name="Rectangle 46"/>
            <p:cNvSpPr>
              <a:spLocks noChangeArrowheads="1"/>
            </p:cNvSpPr>
            <p:nvPr/>
          </p:nvSpPr>
          <p:spPr bwMode="auto">
            <a:xfrm>
              <a:off x="1695" y="2466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07" name="Rectangle 47"/>
            <p:cNvSpPr>
              <a:spLocks noChangeArrowheads="1"/>
            </p:cNvSpPr>
            <p:nvPr/>
          </p:nvSpPr>
          <p:spPr bwMode="auto">
            <a:xfrm>
              <a:off x="2097" y="2472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08" name="Rectangle 48"/>
            <p:cNvSpPr>
              <a:spLocks noChangeArrowheads="1"/>
            </p:cNvSpPr>
            <p:nvPr/>
          </p:nvSpPr>
          <p:spPr bwMode="auto">
            <a:xfrm>
              <a:off x="954" y="2739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09" name="Rectangle 49"/>
            <p:cNvSpPr>
              <a:spLocks noChangeArrowheads="1"/>
            </p:cNvSpPr>
            <p:nvPr/>
          </p:nvSpPr>
          <p:spPr bwMode="auto">
            <a:xfrm>
              <a:off x="1344" y="2754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10" name="Rectangle 50"/>
            <p:cNvSpPr>
              <a:spLocks noChangeArrowheads="1"/>
            </p:cNvSpPr>
            <p:nvPr/>
          </p:nvSpPr>
          <p:spPr bwMode="auto">
            <a:xfrm>
              <a:off x="1752" y="2763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5411" name="Rectangle 51"/>
            <p:cNvSpPr>
              <a:spLocks noChangeArrowheads="1"/>
            </p:cNvSpPr>
            <p:nvPr/>
          </p:nvSpPr>
          <p:spPr bwMode="auto">
            <a:xfrm>
              <a:off x="2136" y="2760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</p:grp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604838" y="1434436"/>
            <a:ext cx="3352800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/>
              <a:t>Here are a few examples: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6965950" y="1743075"/>
            <a:ext cx="1873250" cy="768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200" dirty="0"/>
              <a:t>Some customers have </a:t>
            </a:r>
            <a:r>
              <a:rPr lang="en-GB" sz="1200" b="1" dirty="0"/>
              <a:t>many needs</a:t>
            </a:r>
            <a:r>
              <a:rPr lang="en-GB" sz="1200" dirty="0"/>
              <a:t> and look for a broad range</a:t>
            </a:r>
            <a:r>
              <a:rPr lang="en-GB" sz="1200" b="1" dirty="0"/>
              <a:t> </a:t>
            </a:r>
            <a:r>
              <a:rPr lang="en-GB" sz="1200" dirty="0"/>
              <a:t>of products…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6965950" y="5013325"/>
            <a:ext cx="1422400" cy="768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200" dirty="0"/>
              <a:t>… other customers only need a </a:t>
            </a:r>
            <a:r>
              <a:rPr lang="en-GB" sz="1200" b="1" dirty="0"/>
              <a:t>few basic </a:t>
            </a:r>
            <a:r>
              <a:rPr lang="en-GB" sz="1200" dirty="0"/>
              <a:t>products.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457825" y="1282700"/>
            <a:ext cx="205740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 algn="ctr">
              <a:spcAft>
                <a:spcPts val="600"/>
              </a:spcAft>
            </a:pPr>
            <a:r>
              <a:rPr lang="en-GB" sz="1400" b="1" dirty="0">
                <a:solidFill>
                  <a:srgbClr val="00AEC6"/>
                </a:solidFill>
              </a:rPr>
              <a:t>Many needs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5456238" y="5835650"/>
            <a:ext cx="20574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 algn="ctr">
              <a:spcAft>
                <a:spcPts val="600"/>
              </a:spcAft>
            </a:pPr>
            <a:r>
              <a:rPr lang="en-GB" sz="1400" b="1" dirty="0">
                <a:solidFill>
                  <a:srgbClr val="00AEC6"/>
                </a:solidFill>
              </a:rPr>
              <a:t>Basic needs</a:t>
            </a:r>
          </a:p>
        </p:txBody>
      </p:sp>
      <p:sp>
        <p:nvSpPr>
          <p:cNvPr id="15370" name="AutoShape 10"/>
          <p:cNvSpPr>
            <a:spLocks noChangeArrowheads="1"/>
          </p:cNvSpPr>
          <p:nvPr/>
        </p:nvSpPr>
        <p:spPr bwMode="auto">
          <a:xfrm>
            <a:off x="6305550" y="1666875"/>
            <a:ext cx="360363" cy="2050157"/>
          </a:xfrm>
          <a:prstGeom prst="upArrow">
            <a:avLst>
              <a:gd name="adj1" fmla="val 34074"/>
              <a:gd name="adj2" fmla="val 71523"/>
            </a:avLst>
          </a:prstGeom>
          <a:solidFill>
            <a:srgbClr val="009900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5371" name="AutoShape 11"/>
          <p:cNvSpPr>
            <a:spLocks noChangeArrowheads="1"/>
          </p:cNvSpPr>
          <p:nvPr/>
        </p:nvSpPr>
        <p:spPr bwMode="auto">
          <a:xfrm flipV="1">
            <a:off x="6305550" y="3717031"/>
            <a:ext cx="360363" cy="2096393"/>
          </a:xfrm>
          <a:prstGeom prst="upArrow">
            <a:avLst>
              <a:gd name="adj1" fmla="val 34074"/>
              <a:gd name="adj2" fmla="val 72962"/>
            </a:avLst>
          </a:prstGeom>
          <a:solidFill>
            <a:srgbClr val="009900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sv-SE"/>
          </a:p>
        </p:txBody>
      </p:sp>
      <p:pic>
        <p:nvPicPr>
          <p:cNvPr id="15372" name="Picture 12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75" y="2254250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4" name="Picture 14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613" y="2290763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5" name="Picture 15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463" y="2733675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6" name="Picture 16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25" y="2247900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7" name="Picture 17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2747963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8" name="Picture 18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8" y="2281238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9" name="Picture 19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338" y="2752725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1" name="Rectangle 24"/>
          <p:cNvSpPr>
            <a:spLocks noChangeArrowheads="1"/>
          </p:cNvSpPr>
          <p:nvPr/>
        </p:nvSpPr>
        <p:spPr bwMode="auto">
          <a:xfrm>
            <a:off x="604838" y="980728"/>
            <a:ext cx="3052762" cy="43338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Segmentation: </a:t>
            </a:r>
            <a:r>
              <a:rPr lang="en-GB" sz="1100" dirty="0"/>
              <a:t>A map showing customers with similar needs and preferences as clusters.</a:t>
            </a:r>
          </a:p>
        </p:txBody>
      </p:sp>
      <p:sp>
        <p:nvSpPr>
          <p:cNvPr id="11282" name="Rectangle 28"/>
          <p:cNvSpPr>
            <a:spLocks noChangeArrowheads="1"/>
          </p:cNvSpPr>
          <p:nvPr/>
        </p:nvSpPr>
        <p:spPr bwMode="auto">
          <a:xfrm>
            <a:off x="604838" y="304800"/>
            <a:ext cx="70151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>
                <a:solidFill>
                  <a:srgbClr val="00AEC6"/>
                </a:solidFill>
              </a:rPr>
              <a:t>2. Customer segmentation: Product needs</a:t>
            </a:r>
          </a:p>
        </p:txBody>
      </p:sp>
      <p:grpSp>
        <p:nvGrpSpPr>
          <p:cNvPr id="11283" name="Group 29"/>
          <p:cNvGrpSpPr>
            <a:grpSpLocks/>
          </p:cNvGrpSpPr>
          <p:nvPr/>
        </p:nvGrpSpPr>
        <p:grpSpPr bwMode="auto">
          <a:xfrm>
            <a:off x="604838" y="1628775"/>
            <a:ext cx="3052762" cy="2305050"/>
            <a:chOff x="381" y="1152"/>
            <a:chExt cx="1539" cy="2208"/>
          </a:xfrm>
        </p:grpSpPr>
        <p:sp>
          <p:nvSpPr>
            <p:cNvPr id="11291" name="Line 30"/>
            <p:cNvSpPr>
              <a:spLocks noChangeShapeType="1"/>
            </p:cNvSpPr>
            <p:nvPr/>
          </p:nvSpPr>
          <p:spPr bwMode="auto">
            <a:xfrm>
              <a:off x="381" y="1152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292" name="Line 31"/>
            <p:cNvSpPr>
              <a:spLocks noChangeShapeType="1"/>
            </p:cNvSpPr>
            <p:nvPr/>
          </p:nvSpPr>
          <p:spPr bwMode="auto">
            <a:xfrm>
              <a:off x="381" y="3360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1284" name="Rectangle 32"/>
          <p:cNvSpPr>
            <a:spLocks noChangeArrowheads="1"/>
          </p:cNvSpPr>
          <p:nvPr/>
        </p:nvSpPr>
        <p:spPr bwMode="auto">
          <a:xfrm>
            <a:off x="604838" y="1752600"/>
            <a:ext cx="2290762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First step: </a:t>
            </a:r>
            <a:r>
              <a:rPr lang="en-GB" sz="1100" dirty="0"/>
              <a:t>Different product needs</a:t>
            </a:r>
            <a:r>
              <a:rPr lang="en-GB" sz="1100" dirty="0">
                <a:solidFill>
                  <a:srgbClr val="00AEC6"/>
                </a:solidFill>
              </a:rPr>
              <a:t>.</a:t>
            </a:r>
          </a:p>
        </p:txBody>
      </p:sp>
      <p:sp>
        <p:nvSpPr>
          <p:cNvPr id="15394" name="Rectangle 34"/>
          <p:cNvSpPr>
            <a:spLocks noChangeArrowheads="1"/>
          </p:cNvSpPr>
          <p:nvPr/>
        </p:nvSpPr>
        <p:spPr bwMode="auto">
          <a:xfrm>
            <a:off x="1295400" y="3200400"/>
            <a:ext cx="2362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>
                <a:solidFill>
                  <a:schemeClr val="bg1"/>
                </a:solidFill>
              </a:rPr>
              <a:t>Eight customers (example). </a:t>
            </a:r>
          </a:p>
          <a:p>
            <a:pPr>
              <a:spcAft>
                <a:spcPts val="600"/>
              </a:spcAft>
            </a:pPr>
            <a:r>
              <a:rPr lang="en-GB" sz="1100">
                <a:solidFill>
                  <a:schemeClr val="bg1"/>
                </a:solidFill>
              </a:rPr>
              <a:t>What do they have in common? </a:t>
            </a:r>
            <a:br>
              <a:rPr lang="en-GB" sz="1100">
                <a:solidFill>
                  <a:schemeClr val="bg1"/>
                </a:solidFill>
              </a:rPr>
            </a:br>
            <a:r>
              <a:rPr lang="en-GB" sz="1100">
                <a:solidFill>
                  <a:schemeClr val="bg1"/>
                </a:solidFill>
              </a:rPr>
              <a:t>What makes them different? </a:t>
            </a:r>
          </a:p>
        </p:txBody>
      </p:sp>
      <p:pic>
        <p:nvPicPr>
          <p:cNvPr id="15373" name="Picture 13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716213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15" name="AutoShape 55"/>
          <p:cNvSpPr>
            <a:spLocks noChangeArrowheads="1"/>
          </p:cNvSpPr>
          <p:nvPr/>
        </p:nvSpPr>
        <p:spPr bwMode="auto">
          <a:xfrm>
            <a:off x="616152" y="3948525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15417" name="AutoShape 57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18422" y="6237312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15418" name="Rectangle 58"/>
          <p:cNvSpPr>
            <a:spLocks noChangeArrowheads="1"/>
          </p:cNvSpPr>
          <p:nvPr/>
        </p:nvSpPr>
        <p:spPr bwMode="auto">
          <a:xfrm>
            <a:off x="5334000" y="2279650"/>
            <a:ext cx="2819400" cy="768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400" dirty="0"/>
              <a:t>A segmentation model is a way of “mapping” customers based on their needs and preferences.</a:t>
            </a:r>
          </a:p>
        </p:txBody>
      </p:sp>
      <p:sp>
        <p:nvSpPr>
          <p:cNvPr id="15419" name="Rectangle 59"/>
          <p:cNvSpPr>
            <a:spLocks noChangeArrowheads="1"/>
          </p:cNvSpPr>
          <p:nvPr/>
        </p:nvSpPr>
        <p:spPr bwMode="auto">
          <a:xfrm>
            <a:off x="1116013" y="2205038"/>
            <a:ext cx="2663825" cy="165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9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.00261 0.00023 C 0.04531 0.00069 0.20295 0.01966 0.25903 0.00347 C 0.31511 -0.01272 0.32275 -0.07564 0.33941 -0.09646 " pathEditMode="fixed" rAng="0" ptsTypes="aaa">
                                      <p:cBhvr>
                                        <p:cTn id="36" dur="40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40" y="-386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016 0.00093 C 0.04481 0.01226 0.18873 0.06292 0.26929 0.06848 C 0.34984 0.07403 0.43856 0.04095 0.48318 0.03378 " pathEditMode="fixed" rAng="0" ptsTypes="aaa">
                                      <p:cBhvr>
                                        <p:cTn id="38" dur="3500" fill="hold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67" y="365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.00035 -0.00092 C 0.02778 0.00532 0.09636 0.02267 0.16511 0.03678 C 0.23386 0.05089 0.36146 0.07449 0.4132 0.08443 " pathEditMode="fixed" rAng="0" ptsTypes="aaa">
                                      <p:cBhvr>
                                        <p:cTn id="40" dur="32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42" y="425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0086 0.00023 C 0.07135 0.01921 0.33402 0.09907 0.4243 0.11296 C 0.51458 0.12685 0.51753 0.08958 0.54201 0.08356 " pathEditMode="fixed" rAng="0" ptsTypes="aaa">
                                      <p:cBhvr>
                                        <p:cTn id="42" dur="39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66" y="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97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9700"/>
                            </p:stCondLst>
                            <p:childTnLst>
                              <p:par>
                                <p:cTn id="55" presetID="0" presetClass="path" presetSubtype="0" accel="50000" decel="5000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0104 0.00116 C 0.02309 0.00671 0.09114 -0.01527 0.13368 0.034 C 0.17621 0.08328 0.22118 0.23849 0.25607 0.29725 C 0.29097 0.356 0.325 0.36757 0.34305 0.38607 " pathEditMode="fixed" rAng="0" ptsTypes="aaaa">
                                      <p:cBhvr>
                                        <p:cTn id="56" dur="21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01" y="184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007 0.00023 C 0.01789 0.00671 0.07466 0.00116 0.10487 0.03932 C 0.13507 0.07749 0.10816 0.1795 0.18247 0.22901 C 0.25678 0.27851 0.47379 0.3139 0.55053 0.33634 " pathEditMode="fixed" rAng="0" ptsTypes="aaaa">
                                      <p:cBhvr>
                                        <p:cTn id="58" dur="28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83" y="1679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00087 -0.00046 C 0.01128 0.02383 0.00417 0.11405 0.06319 0.14527 C 0.12222 0.1765 0.29792 0.1772 0.35486 0.18761 C 0.4118 0.19802 0.39427 0.20403 0.40451 0.20819 " pathEditMode="fixed" rAng="0" ptsTypes="aaaa">
                                      <p:cBhvr>
                                        <p:cTn id="60" dur="19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38" y="1043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-0.00087 0.00069 C 0.0191 0.01573 0.06528 0.07009 0.1191 0.0916 C 0.17292 0.11311 0.26337 0.1189 0.32257 0.12931 C 0.38177 0.13972 0.44305 0.14851 0.47465 0.1536 " pathEditMode="fixed" rAng="0" ptsTypes="aaaa">
                                      <p:cBhvr>
                                        <p:cTn id="62" dur="14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67" y="7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41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67" grpId="0"/>
      <p:bldP spid="15368" grpId="0"/>
      <p:bldP spid="15369" grpId="0"/>
      <p:bldP spid="15370" grpId="0" animBg="1"/>
      <p:bldP spid="15371" grpId="0" animBg="1"/>
      <p:bldP spid="15394" grpId="0"/>
      <p:bldP spid="15415" grpId="0" animBg="1"/>
      <p:bldP spid="15417" grpId="0" animBg="1"/>
      <p:bldP spid="15418" grpId="0"/>
      <p:bldP spid="15418" grpId="1"/>
      <p:bldP spid="154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4211638" y="3225802"/>
            <a:ext cx="2211388" cy="641351"/>
            <a:chOff x="242" y="1857"/>
            <a:chExt cx="1393" cy="404"/>
          </a:xfrm>
        </p:grpSpPr>
        <p:sp>
          <p:nvSpPr>
            <p:cNvPr id="12350" name="Rectangle 3"/>
            <p:cNvSpPr>
              <a:spLocks noChangeArrowheads="1"/>
            </p:cNvSpPr>
            <p:nvPr/>
          </p:nvSpPr>
          <p:spPr bwMode="auto">
            <a:xfrm>
              <a:off x="269" y="1857"/>
              <a:ext cx="129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Price</a:t>
              </a:r>
            </a:p>
          </p:txBody>
        </p:sp>
        <p:sp>
          <p:nvSpPr>
            <p:cNvPr id="12351" name="AutoShape 4"/>
            <p:cNvSpPr>
              <a:spLocks noChangeArrowheads="1"/>
            </p:cNvSpPr>
            <p:nvPr/>
          </p:nvSpPr>
          <p:spPr bwMode="auto">
            <a:xfrm rot="16200000">
              <a:off x="825" y="1451"/>
              <a:ext cx="227" cy="1393"/>
            </a:xfrm>
            <a:prstGeom prst="upArrow">
              <a:avLst>
                <a:gd name="adj1" fmla="val 34074"/>
                <a:gd name="adj2" fmla="val 71524"/>
              </a:avLst>
            </a:prstGeom>
            <a:solidFill>
              <a:srgbClr val="009900">
                <a:alpha val="4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6545262" y="3244850"/>
            <a:ext cx="2274886" cy="639763"/>
            <a:chOff x="1476" y="1857"/>
            <a:chExt cx="1433" cy="403"/>
          </a:xfrm>
        </p:grpSpPr>
        <p:sp>
          <p:nvSpPr>
            <p:cNvPr id="12348" name="Rectangle 6"/>
            <p:cNvSpPr>
              <a:spLocks noChangeArrowheads="1"/>
            </p:cNvSpPr>
            <p:nvPr/>
          </p:nvSpPr>
          <p:spPr bwMode="auto">
            <a:xfrm>
              <a:off x="2018" y="1857"/>
              <a:ext cx="84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r">
                <a:spcAft>
                  <a:spcPts val="6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Value</a:t>
              </a:r>
            </a:p>
          </p:txBody>
        </p:sp>
        <p:sp>
          <p:nvSpPr>
            <p:cNvPr id="12349" name="AutoShape 7"/>
            <p:cNvSpPr>
              <a:spLocks noChangeArrowheads="1"/>
            </p:cNvSpPr>
            <p:nvPr/>
          </p:nvSpPr>
          <p:spPr bwMode="auto">
            <a:xfrm rot="16200000" flipV="1">
              <a:off x="2079" y="1430"/>
              <a:ext cx="227" cy="1433"/>
            </a:xfrm>
            <a:prstGeom prst="upArrow">
              <a:avLst>
                <a:gd name="adj1" fmla="val 34074"/>
                <a:gd name="adj2" fmla="val 72962"/>
              </a:avLst>
            </a:prstGeom>
            <a:solidFill>
              <a:srgbClr val="009900">
                <a:alpha val="4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2292" name="Group 8"/>
          <p:cNvGrpSpPr>
            <a:grpSpLocks/>
          </p:cNvGrpSpPr>
          <p:nvPr/>
        </p:nvGrpSpPr>
        <p:grpSpPr bwMode="auto">
          <a:xfrm>
            <a:off x="5461000" y="1282700"/>
            <a:ext cx="2058988" cy="4889500"/>
            <a:chOff x="3334" y="758"/>
            <a:chExt cx="1297" cy="3080"/>
          </a:xfrm>
        </p:grpSpPr>
        <p:sp>
          <p:nvSpPr>
            <p:cNvPr id="12344" name="Rectangle 9"/>
            <p:cNvSpPr>
              <a:spLocks noChangeArrowheads="1"/>
            </p:cNvSpPr>
            <p:nvPr/>
          </p:nvSpPr>
          <p:spPr bwMode="auto">
            <a:xfrm>
              <a:off x="3335" y="758"/>
              <a:ext cx="129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en-GB" sz="1400" b="1">
                  <a:solidFill>
                    <a:schemeClr val="bg1"/>
                  </a:solidFill>
                </a:rPr>
                <a:t>Many needs</a:t>
              </a:r>
            </a:p>
          </p:txBody>
        </p:sp>
        <p:sp>
          <p:nvSpPr>
            <p:cNvPr id="12345" name="Rectangle 10"/>
            <p:cNvSpPr>
              <a:spLocks noChangeArrowheads="1"/>
            </p:cNvSpPr>
            <p:nvPr/>
          </p:nvSpPr>
          <p:spPr bwMode="auto">
            <a:xfrm>
              <a:off x="3334" y="3626"/>
              <a:ext cx="12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en-GB" sz="1400" b="1">
                  <a:solidFill>
                    <a:schemeClr val="bg1"/>
                  </a:solidFill>
                </a:rPr>
                <a:t>Basic needs</a:t>
              </a:r>
            </a:p>
          </p:txBody>
        </p:sp>
        <p:sp>
          <p:nvSpPr>
            <p:cNvPr id="12346" name="AutoShape 11"/>
            <p:cNvSpPr>
              <a:spLocks noChangeArrowheads="1"/>
            </p:cNvSpPr>
            <p:nvPr/>
          </p:nvSpPr>
          <p:spPr bwMode="auto">
            <a:xfrm>
              <a:off x="3869" y="1000"/>
              <a:ext cx="227" cy="1272"/>
            </a:xfrm>
            <a:prstGeom prst="upArrow">
              <a:avLst>
                <a:gd name="adj1" fmla="val 34074"/>
                <a:gd name="adj2" fmla="val 71524"/>
              </a:avLst>
            </a:prstGeom>
            <a:solidFill>
              <a:srgbClr val="009900">
                <a:alpha val="4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347" name="AutoShape 12"/>
            <p:cNvSpPr>
              <a:spLocks noChangeArrowheads="1"/>
            </p:cNvSpPr>
            <p:nvPr/>
          </p:nvSpPr>
          <p:spPr bwMode="auto">
            <a:xfrm flipV="1">
              <a:off x="3869" y="2272"/>
              <a:ext cx="227" cy="1340"/>
            </a:xfrm>
            <a:prstGeom prst="upArrow">
              <a:avLst>
                <a:gd name="adj1" fmla="val 34074"/>
                <a:gd name="adj2" fmla="val 72962"/>
              </a:avLst>
            </a:prstGeom>
            <a:solidFill>
              <a:srgbClr val="009900">
                <a:alpha val="4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pic>
        <p:nvPicPr>
          <p:cNvPr id="17421" name="Picture 13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2093913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2" name="Picture 14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2481263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3" name="Picture 15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2867025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4" name="Picture 16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3298825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5" name="Picture 17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3802063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6" name="Picture 18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4186238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7" name="Picture 19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4568825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8" name="Picture 20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4946650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60" name="Group 52"/>
          <p:cNvGrpSpPr>
            <a:grpSpLocks/>
          </p:cNvGrpSpPr>
          <p:nvPr/>
        </p:nvGrpSpPr>
        <p:grpSpPr bwMode="auto">
          <a:xfrm>
            <a:off x="4756150" y="2060575"/>
            <a:ext cx="3565525" cy="3121025"/>
            <a:chOff x="2888" y="1108"/>
            <a:chExt cx="2246" cy="1966"/>
          </a:xfrm>
        </p:grpSpPr>
        <p:grpSp>
          <p:nvGrpSpPr>
            <p:cNvPr id="12323" name="Group 51"/>
            <p:cNvGrpSpPr>
              <a:grpSpLocks/>
            </p:cNvGrpSpPr>
            <p:nvPr/>
          </p:nvGrpSpPr>
          <p:grpSpPr bwMode="auto">
            <a:xfrm>
              <a:off x="3251" y="2205"/>
              <a:ext cx="717" cy="869"/>
              <a:chOff x="3251" y="2205"/>
              <a:chExt cx="717" cy="869"/>
            </a:xfrm>
          </p:grpSpPr>
          <p:pic>
            <p:nvPicPr>
              <p:cNvPr id="12340" name="Picture 23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51" y="2870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41" name="Picture 24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50" y="2205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42" name="Picture 25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0" y="250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43" name="Picture 26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05" y="2795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324" name="Group 50"/>
            <p:cNvGrpSpPr>
              <a:grpSpLocks/>
            </p:cNvGrpSpPr>
            <p:nvPr/>
          </p:nvGrpSpPr>
          <p:grpSpPr bwMode="auto">
            <a:xfrm>
              <a:off x="3992" y="1480"/>
              <a:ext cx="652" cy="959"/>
              <a:chOff x="3992" y="1480"/>
              <a:chExt cx="652" cy="959"/>
            </a:xfrm>
          </p:grpSpPr>
          <p:pic>
            <p:nvPicPr>
              <p:cNvPr id="12336" name="Picture 28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3" y="2235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7" name="Picture 29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92" y="1813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8" name="Picture 30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63" y="1480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9" name="Picture 31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1" y="2069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325" name="Group 49"/>
            <p:cNvGrpSpPr>
              <a:grpSpLocks/>
            </p:cNvGrpSpPr>
            <p:nvPr/>
          </p:nvGrpSpPr>
          <p:grpSpPr bwMode="auto">
            <a:xfrm>
              <a:off x="4242" y="2507"/>
              <a:ext cx="892" cy="445"/>
              <a:chOff x="4242" y="2507"/>
              <a:chExt cx="892" cy="445"/>
            </a:xfrm>
          </p:grpSpPr>
          <p:pic>
            <p:nvPicPr>
              <p:cNvPr id="12334" name="Picture 33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2" y="2748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5" name="Picture 34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1" y="250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326" name="Group 48"/>
            <p:cNvGrpSpPr>
              <a:grpSpLocks/>
            </p:cNvGrpSpPr>
            <p:nvPr/>
          </p:nvGrpSpPr>
          <p:grpSpPr bwMode="auto">
            <a:xfrm>
              <a:off x="4281" y="1108"/>
              <a:ext cx="724" cy="569"/>
              <a:chOff x="4281" y="1108"/>
              <a:chExt cx="724" cy="569"/>
            </a:xfrm>
          </p:grpSpPr>
          <p:pic>
            <p:nvPicPr>
              <p:cNvPr id="12332" name="Picture 36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81" y="1108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3" name="Picture 37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42" y="1473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327" name="Group 47"/>
            <p:cNvGrpSpPr>
              <a:grpSpLocks/>
            </p:cNvGrpSpPr>
            <p:nvPr/>
          </p:nvGrpSpPr>
          <p:grpSpPr bwMode="auto">
            <a:xfrm>
              <a:off x="2888" y="1327"/>
              <a:ext cx="1035" cy="674"/>
              <a:chOff x="2888" y="1327"/>
              <a:chExt cx="1035" cy="674"/>
            </a:xfrm>
          </p:grpSpPr>
          <p:pic>
            <p:nvPicPr>
              <p:cNvPr id="12328" name="Picture 39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0" y="132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29" name="Picture 40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9" y="1752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0" name="Picture 41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8" y="1434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31" name="Picture 42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61" y="179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7452" name="Rectangle 44"/>
          <p:cNvSpPr>
            <a:spLocks noChangeArrowheads="1"/>
          </p:cNvSpPr>
          <p:nvPr/>
        </p:nvSpPr>
        <p:spPr bwMode="auto">
          <a:xfrm>
            <a:off x="7467600" y="1504950"/>
            <a:ext cx="15240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200" dirty="0"/>
              <a:t>… other are less price sensitive and look for the </a:t>
            </a:r>
            <a:r>
              <a:rPr lang="en-US" sz="1200" b="1" dirty="0"/>
              <a:t>highest value.</a:t>
            </a:r>
          </a:p>
        </p:txBody>
      </p:sp>
      <p:sp>
        <p:nvSpPr>
          <p:cNvPr id="12303" name="Rectangle 55"/>
          <p:cNvSpPr>
            <a:spLocks noChangeArrowheads="1"/>
          </p:cNvSpPr>
          <p:nvPr/>
        </p:nvSpPr>
        <p:spPr bwMode="auto">
          <a:xfrm>
            <a:off x="600075" y="2098159"/>
            <a:ext cx="3352800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/>
              <a:t>Here are a few examples:</a:t>
            </a:r>
          </a:p>
        </p:txBody>
      </p:sp>
      <p:sp>
        <p:nvSpPr>
          <p:cNvPr id="12304" name="Rectangle 56"/>
          <p:cNvSpPr>
            <a:spLocks noChangeArrowheads="1"/>
          </p:cNvSpPr>
          <p:nvPr/>
        </p:nvSpPr>
        <p:spPr bwMode="auto">
          <a:xfrm>
            <a:off x="562600" y="1195413"/>
            <a:ext cx="3052762" cy="43338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Segmentation</a:t>
            </a:r>
            <a:r>
              <a:rPr lang="en-GB" sz="1100" dirty="0">
                <a:solidFill>
                  <a:srgbClr val="00AEC6"/>
                </a:solidFill>
              </a:rPr>
              <a:t>: </a:t>
            </a:r>
            <a:r>
              <a:rPr lang="en-GB" sz="1100" dirty="0"/>
              <a:t>A map showing customers with similar needs and preferences as clusters.</a:t>
            </a:r>
          </a:p>
        </p:txBody>
      </p:sp>
      <p:sp>
        <p:nvSpPr>
          <p:cNvPr id="17466" name="Rectangle 58"/>
          <p:cNvSpPr>
            <a:spLocks noChangeArrowheads="1"/>
          </p:cNvSpPr>
          <p:nvPr/>
        </p:nvSpPr>
        <p:spPr bwMode="auto">
          <a:xfrm>
            <a:off x="604838" y="1752600"/>
            <a:ext cx="2671762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Second step: </a:t>
            </a:r>
            <a:r>
              <a:rPr lang="en-GB" sz="1100" dirty="0"/>
              <a:t>Different views on price.</a:t>
            </a:r>
          </a:p>
        </p:txBody>
      </p:sp>
      <p:grpSp>
        <p:nvGrpSpPr>
          <p:cNvPr id="12306" name="Group 59"/>
          <p:cNvGrpSpPr>
            <a:grpSpLocks/>
          </p:cNvGrpSpPr>
          <p:nvPr/>
        </p:nvGrpSpPr>
        <p:grpSpPr bwMode="auto">
          <a:xfrm>
            <a:off x="604838" y="1628775"/>
            <a:ext cx="3052762" cy="2305050"/>
            <a:chOff x="381" y="1152"/>
            <a:chExt cx="1539" cy="2208"/>
          </a:xfrm>
        </p:grpSpPr>
        <p:sp>
          <p:nvSpPr>
            <p:cNvPr id="12321" name="Line 60"/>
            <p:cNvSpPr>
              <a:spLocks noChangeShapeType="1"/>
            </p:cNvSpPr>
            <p:nvPr/>
          </p:nvSpPr>
          <p:spPr bwMode="auto">
            <a:xfrm>
              <a:off x="381" y="1152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322" name="Line 61"/>
            <p:cNvSpPr>
              <a:spLocks noChangeShapeType="1"/>
            </p:cNvSpPr>
            <p:nvPr/>
          </p:nvSpPr>
          <p:spPr bwMode="auto">
            <a:xfrm>
              <a:off x="381" y="3360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451" name="Rectangle 43"/>
          <p:cNvSpPr>
            <a:spLocks noChangeArrowheads="1"/>
          </p:cNvSpPr>
          <p:nvPr/>
        </p:nvSpPr>
        <p:spPr bwMode="auto">
          <a:xfrm>
            <a:off x="4191000" y="1504950"/>
            <a:ext cx="15240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200" dirty="0"/>
              <a:t>Some customers tend to go for the </a:t>
            </a:r>
            <a:r>
              <a:rPr lang="en-US" sz="1200" b="1" dirty="0"/>
              <a:t>lowest price</a:t>
            </a:r>
            <a:r>
              <a:rPr lang="en-US" sz="1200" dirty="0"/>
              <a:t>…</a:t>
            </a:r>
          </a:p>
        </p:txBody>
      </p:sp>
      <p:grpSp>
        <p:nvGrpSpPr>
          <p:cNvPr id="17470" name="Group 62"/>
          <p:cNvGrpSpPr>
            <a:grpSpLocks/>
          </p:cNvGrpSpPr>
          <p:nvPr/>
        </p:nvGrpSpPr>
        <p:grpSpPr bwMode="auto">
          <a:xfrm>
            <a:off x="1233488" y="2244725"/>
            <a:ext cx="2376487" cy="828675"/>
            <a:chOff x="909" y="2448"/>
            <a:chExt cx="1497" cy="522"/>
          </a:xfrm>
        </p:grpSpPr>
        <p:sp>
          <p:nvSpPr>
            <p:cNvPr id="17471" name="Rectangle 63"/>
            <p:cNvSpPr>
              <a:spLocks noChangeArrowheads="1"/>
            </p:cNvSpPr>
            <p:nvPr/>
          </p:nvSpPr>
          <p:spPr bwMode="auto">
            <a:xfrm>
              <a:off x="909" y="2448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2" name="Rectangle 64"/>
            <p:cNvSpPr>
              <a:spLocks noChangeArrowheads="1"/>
            </p:cNvSpPr>
            <p:nvPr/>
          </p:nvSpPr>
          <p:spPr bwMode="auto">
            <a:xfrm>
              <a:off x="1296" y="2448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3" name="Rectangle 65"/>
            <p:cNvSpPr>
              <a:spLocks noChangeArrowheads="1"/>
            </p:cNvSpPr>
            <p:nvPr/>
          </p:nvSpPr>
          <p:spPr bwMode="auto">
            <a:xfrm>
              <a:off x="1695" y="2466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4" name="Rectangle 66"/>
            <p:cNvSpPr>
              <a:spLocks noChangeArrowheads="1"/>
            </p:cNvSpPr>
            <p:nvPr/>
          </p:nvSpPr>
          <p:spPr bwMode="auto">
            <a:xfrm>
              <a:off x="2097" y="2472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5" name="Rectangle 67"/>
            <p:cNvSpPr>
              <a:spLocks noChangeArrowheads="1"/>
            </p:cNvSpPr>
            <p:nvPr/>
          </p:nvSpPr>
          <p:spPr bwMode="auto">
            <a:xfrm>
              <a:off x="954" y="2739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6" name="Rectangle 68"/>
            <p:cNvSpPr>
              <a:spLocks noChangeArrowheads="1"/>
            </p:cNvSpPr>
            <p:nvPr/>
          </p:nvSpPr>
          <p:spPr bwMode="auto">
            <a:xfrm>
              <a:off x="1344" y="2754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7" name="Rectangle 69"/>
            <p:cNvSpPr>
              <a:spLocks noChangeArrowheads="1"/>
            </p:cNvSpPr>
            <p:nvPr/>
          </p:nvSpPr>
          <p:spPr bwMode="auto">
            <a:xfrm>
              <a:off x="1752" y="2763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  <p:sp>
          <p:nvSpPr>
            <p:cNvPr id="17478" name="Rectangle 70"/>
            <p:cNvSpPr>
              <a:spLocks noChangeArrowheads="1"/>
            </p:cNvSpPr>
            <p:nvPr/>
          </p:nvSpPr>
          <p:spPr bwMode="auto">
            <a:xfrm>
              <a:off x="2136" y="2760"/>
              <a:ext cx="270" cy="20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sv-SE">
                <a:latin typeface="Arial" charset="0"/>
                <a:ea typeface="ＭＳ Ｐゴシック" pitchFamily="1" charset="-128"/>
              </a:endParaRPr>
            </a:p>
          </p:txBody>
        </p:sp>
      </p:grpSp>
      <p:sp>
        <p:nvSpPr>
          <p:cNvPr id="17481" name="Rectangle 73"/>
          <p:cNvSpPr>
            <a:spLocks noChangeArrowheads="1"/>
          </p:cNvSpPr>
          <p:nvPr/>
        </p:nvSpPr>
        <p:spPr bwMode="auto">
          <a:xfrm>
            <a:off x="1295400" y="3200400"/>
            <a:ext cx="2362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>
                <a:solidFill>
                  <a:schemeClr val="bg1"/>
                </a:solidFill>
              </a:rPr>
              <a:t>Eight customers (example). </a:t>
            </a:r>
          </a:p>
          <a:p>
            <a:pPr>
              <a:spcAft>
                <a:spcPts val="600"/>
              </a:spcAft>
            </a:pPr>
            <a:r>
              <a:rPr lang="en-GB" sz="1100" dirty="0">
                <a:solidFill>
                  <a:schemeClr val="bg1"/>
                </a:solidFill>
              </a:rPr>
              <a:t>What do they have in common? </a:t>
            </a:r>
            <a:br>
              <a:rPr lang="en-GB" sz="1100" dirty="0">
                <a:solidFill>
                  <a:schemeClr val="bg1"/>
                </a:solidFill>
              </a:rPr>
            </a:br>
            <a:r>
              <a:rPr lang="en-GB" sz="1100" dirty="0">
                <a:solidFill>
                  <a:schemeClr val="bg1"/>
                </a:solidFill>
              </a:rPr>
              <a:t>What makes them different? </a:t>
            </a:r>
          </a:p>
        </p:txBody>
      </p:sp>
      <p:sp>
        <p:nvSpPr>
          <p:cNvPr id="12310" name="Rectangle 75"/>
          <p:cNvSpPr>
            <a:spLocks noChangeArrowheads="1"/>
          </p:cNvSpPr>
          <p:nvPr/>
        </p:nvSpPr>
        <p:spPr bwMode="auto">
          <a:xfrm>
            <a:off x="604838" y="304800"/>
            <a:ext cx="70151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2. Customer segmentation: Sensitivity to price</a:t>
            </a:r>
          </a:p>
        </p:txBody>
      </p:sp>
      <p:sp>
        <p:nvSpPr>
          <p:cNvPr id="17484" name="AutoShape 7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17644" y="6199065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17485" name="Rectangle 77"/>
          <p:cNvSpPr>
            <a:spLocks noChangeArrowheads="1"/>
          </p:cNvSpPr>
          <p:nvPr/>
        </p:nvSpPr>
        <p:spPr bwMode="auto">
          <a:xfrm>
            <a:off x="604838" y="2517776"/>
            <a:ext cx="28194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100" dirty="0"/>
              <a:t>In the simulation there is a </a:t>
            </a:r>
            <a:r>
              <a:rPr lang="en-US" sz="1100" b="1" dirty="0"/>
              <a:t>total of 24 customers</a:t>
            </a:r>
            <a:r>
              <a:rPr lang="en-US" sz="1100" dirty="0"/>
              <a:t> and this is how they are distributed along the two axis.</a:t>
            </a:r>
          </a:p>
        </p:txBody>
      </p:sp>
      <p:sp>
        <p:nvSpPr>
          <p:cNvPr id="6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3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11022E-16 -1.05251E-6 C -0.01128 -0.00116 -0.05104 -0.01064 -0.06753 -0.00694 C -0.08403 -0.00324 -0.09271 0.01666 -0.09931 0.0229 " pathEditMode="relative" rAng="0" ptsTypes="aaa">
                                      <p:cBhvr>
                                        <p:cTn id="17" dur="4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65" y="60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11022E-16 -4.30257E-6 C -0.01285 -0.0037 -0.0599 -0.01804 -0.07691 -0.02243 C -0.09392 -0.02683 -0.09653 -0.02498 -0.10174 -0.02567 " pathEditMode="relative" rAng="0" ptsTypes="aaa">
                                      <p:cBhvr>
                                        <p:cTn id="19" dur="51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87" y="-134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1.11022E-16 -2.27851E-6 C -0.00885 -0.00115 -0.0349 -0.00809 -0.05347 -0.00671 C -0.07205 -0.00532 -0.09913 0.00579 -0.11111 0.00902 " pathEditMode="relative" rAng="0" ptsTypes="aaa">
                                      <p:cBhvr>
                                        <p:cTn id="21" dur="45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56" y="4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11022E-16 -2.452E-7 C -0.00885 -0.00601 -0.03385 -0.0303 -0.05347 -0.03539 C -0.07309 -0.04048 -0.10469 -0.03146 -0.11823 -0.03053 " pathEditMode="relative" rAng="0" ptsTypes="aaa">
                                      <p:cBhvr>
                                        <p:cTn id="23" dur="50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0" y="-20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7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1.11022E-16 -3.33796E-6 C 0.01441 -0.00046 0.06198 0.00486 0.08698 -0.00231 C 0.11198 -0.00948 0.13681 -0.03446 0.15 -0.04302 " pathEditMode="relative" rAng="0" ptsTypes="aaa">
                                      <p:cBhvr>
                                        <p:cTn id="33" dur="4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192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11022E-16 -3.57159E-6 C 0.01024 -0.00023 0.04688 0.00185 0.06181 -0.00069 C 0.07674 -0.00323 0.0842 -0.01179 0.0901 -0.0148 " pathEditMode="relative" rAng="0" ptsTypes="aaa">
                                      <p:cBhvr>
                                        <p:cTn id="35" dur="4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7" y="-64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1.11022E-16 -1.92228E-6 C 0.01076 -0.00023 0.0467 -0.00208 0.06424 -0.00139 C 0.08177 -0.00069 0.09688 0.00347 0.10538 0.00486 " pathEditMode="relative" rAng="0" ptsTypes="aaa">
                                      <p:cBhvr>
                                        <p:cTn id="37" dur="4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13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1.11022E-16 -4.6056E-6 C 0.01441 -0.00046 0.06458 0.00186 0.08698 -0.00231 C 0.10938 -0.00647 0.12483 -0.01989 0.13472 -0.02452 " pathEditMode="relative" rAng="0" ptsTypes="aaa">
                                      <p:cBhvr>
                                        <p:cTn id="39" dur="4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36" y="-11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74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94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300"/>
                                        <p:tgtEl>
                                          <p:spTgt spid="1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18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38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2" grpId="0"/>
      <p:bldP spid="17466" grpId="0"/>
      <p:bldP spid="17451" grpId="0"/>
      <p:bldP spid="17481" grpId="0"/>
      <p:bldP spid="17484" grpId="0" animBg="1"/>
      <p:bldP spid="174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4254500" y="3225800"/>
            <a:ext cx="4527550" cy="658813"/>
            <a:chOff x="2680" y="1848"/>
            <a:chExt cx="2852" cy="415"/>
          </a:xfrm>
        </p:grpSpPr>
        <p:grpSp>
          <p:nvGrpSpPr>
            <p:cNvPr id="13367" name="Group 3"/>
            <p:cNvGrpSpPr>
              <a:grpSpLocks/>
            </p:cNvGrpSpPr>
            <p:nvPr/>
          </p:nvGrpSpPr>
          <p:grpSpPr bwMode="auto">
            <a:xfrm>
              <a:off x="2680" y="1848"/>
              <a:ext cx="1392" cy="404"/>
              <a:chOff x="269" y="1857"/>
              <a:chExt cx="1392" cy="404"/>
            </a:xfrm>
          </p:grpSpPr>
          <p:sp>
            <p:nvSpPr>
              <p:cNvPr id="13371" name="Rectangle 4"/>
              <p:cNvSpPr>
                <a:spLocks noChangeArrowheads="1"/>
              </p:cNvSpPr>
              <p:nvPr/>
            </p:nvSpPr>
            <p:spPr bwMode="auto">
              <a:xfrm>
                <a:off x="269" y="1857"/>
                <a:ext cx="1296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>
                  <a:spcAft>
                    <a:spcPts val="600"/>
                  </a:spcAft>
                </a:pPr>
                <a:r>
                  <a:rPr lang="en-GB" sz="1400" b="1">
                    <a:solidFill>
                      <a:schemeClr val="bg1"/>
                    </a:solidFill>
                  </a:rPr>
                  <a:t>Price</a:t>
                </a:r>
              </a:p>
            </p:txBody>
          </p:sp>
          <p:sp>
            <p:nvSpPr>
              <p:cNvPr id="13372" name="AutoShape 5"/>
              <p:cNvSpPr>
                <a:spLocks noChangeArrowheads="1"/>
              </p:cNvSpPr>
              <p:nvPr/>
            </p:nvSpPr>
            <p:spPr bwMode="auto">
              <a:xfrm rot="16200000">
                <a:off x="853" y="1453"/>
                <a:ext cx="227" cy="1389"/>
              </a:xfrm>
              <a:prstGeom prst="upArrow">
                <a:avLst>
                  <a:gd name="adj1" fmla="val 34074"/>
                  <a:gd name="adj2" fmla="val 71524"/>
                </a:avLst>
              </a:prstGeom>
              <a:solidFill>
                <a:srgbClr val="009900">
                  <a:alpha val="4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grpSp>
          <p:nvGrpSpPr>
            <p:cNvPr id="13368" name="Group 6"/>
            <p:cNvGrpSpPr>
              <a:grpSpLocks/>
            </p:cNvGrpSpPr>
            <p:nvPr/>
          </p:nvGrpSpPr>
          <p:grpSpPr bwMode="auto">
            <a:xfrm>
              <a:off x="4125" y="1860"/>
              <a:ext cx="1407" cy="403"/>
              <a:chOff x="1478" y="1857"/>
              <a:chExt cx="1407" cy="403"/>
            </a:xfrm>
          </p:grpSpPr>
          <p:sp>
            <p:nvSpPr>
              <p:cNvPr id="13369" name="Rectangle 7"/>
              <p:cNvSpPr>
                <a:spLocks noChangeArrowheads="1"/>
              </p:cNvSpPr>
              <p:nvPr/>
            </p:nvSpPr>
            <p:spPr bwMode="auto">
              <a:xfrm>
                <a:off x="2018" y="1857"/>
                <a:ext cx="84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r">
                  <a:spcAft>
                    <a:spcPts val="600"/>
                  </a:spcAft>
                </a:pPr>
                <a:r>
                  <a:rPr lang="en-GB" sz="1400" b="1">
                    <a:solidFill>
                      <a:schemeClr val="bg1"/>
                    </a:solidFill>
                  </a:rPr>
                  <a:t>Value</a:t>
                </a:r>
              </a:p>
            </p:txBody>
          </p:sp>
          <p:sp>
            <p:nvSpPr>
              <p:cNvPr id="13370" name="AutoShape 8"/>
              <p:cNvSpPr>
                <a:spLocks noChangeArrowheads="1"/>
              </p:cNvSpPr>
              <p:nvPr/>
            </p:nvSpPr>
            <p:spPr bwMode="auto">
              <a:xfrm rot="16200000" flipV="1">
                <a:off x="2068" y="1443"/>
                <a:ext cx="227" cy="1407"/>
              </a:xfrm>
              <a:prstGeom prst="upArrow">
                <a:avLst>
                  <a:gd name="adj1" fmla="val 34074"/>
                  <a:gd name="adj2" fmla="val 72962"/>
                </a:avLst>
              </a:prstGeom>
              <a:solidFill>
                <a:srgbClr val="009900">
                  <a:alpha val="4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grpSp>
        <p:nvGrpSpPr>
          <p:cNvPr id="13315" name="Group 9"/>
          <p:cNvGrpSpPr>
            <a:grpSpLocks/>
          </p:cNvGrpSpPr>
          <p:nvPr/>
        </p:nvGrpSpPr>
        <p:grpSpPr bwMode="auto">
          <a:xfrm>
            <a:off x="5461000" y="1282700"/>
            <a:ext cx="2058988" cy="4889500"/>
            <a:chOff x="3334" y="758"/>
            <a:chExt cx="1297" cy="3080"/>
          </a:xfrm>
        </p:grpSpPr>
        <p:sp>
          <p:nvSpPr>
            <p:cNvPr id="13363" name="Rectangle 10"/>
            <p:cNvSpPr>
              <a:spLocks noChangeArrowheads="1"/>
            </p:cNvSpPr>
            <p:nvPr/>
          </p:nvSpPr>
          <p:spPr bwMode="auto">
            <a:xfrm>
              <a:off x="3335" y="758"/>
              <a:ext cx="129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en-GB" sz="1400" b="1">
                  <a:solidFill>
                    <a:schemeClr val="bg1"/>
                  </a:solidFill>
                </a:rPr>
                <a:t>Many needs</a:t>
              </a:r>
            </a:p>
          </p:txBody>
        </p:sp>
        <p:sp>
          <p:nvSpPr>
            <p:cNvPr id="13364" name="Rectangle 11"/>
            <p:cNvSpPr>
              <a:spLocks noChangeArrowheads="1"/>
            </p:cNvSpPr>
            <p:nvPr/>
          </p:nvSpPr>
          <p:spPr bwMode="auto">
            <a:xfrm>
              <a:off x="3334" y="3626"/>
              <a:ext cx="12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chemeClr val="bg1"/>
                  </a:solidFill>
                </a:rPr>
                <a:t>Basic needs</a:t>
              </a:r>
            </a:p>
          </p:txBody>
        </p:sp>
        <p:sp>
          <p:nvSpPr>
            <p:cNvPr id="13365" name="AutoShape 12"/>
            <p:cNvSpPr>
              <a:spLocks noChangeArrowheads="1"/>
            </p:cNvSpPr>
            <p:nvPr/>
          </p:nvSpPr>
          <p:spPr bwMode="auto">
            <a:xfrm>
              <a:off x="3869" y="1000"/>
              <a:ext cx="227" cy="1283"/>
            </a:xfrm>
            <a:prstGeom prst="upArrow">
              <a:avLst>
                <a:gd name="adj1" fmla="val 34074"/>
                <a:gd name="adj2" fmla="val 71524"/>
              </a:avLst>
            </a:prstGeom>
            <a:solidFill>
              <a:srgbClr val="009900">
                <a:alpha val="4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3366" name="AutoShape 13"/>
            <p:cNvSpPr>
              <a:spLocks noChangeArrowheads="1"/>
            </p:cNvSpPr>
            <p:nvPr/>
          </p:nvSpPr>
          <p:spPr bwMode="auto">
            <a:xfrm flipV="1">
              <a:off x="3869" y="2283"/>
              <a:ext cx="227" cy="1329"/>
            </a:xfrm>
            <a:prstGeom prst="upArrow">
              <a:avLst>
                <a:gd name="adj1" fmla="val 34074"/>
                <a:gd name="adj2" fmla="val 72962"/>
              </a:avLst>
            </a:prstGeom>
            <a:solidFill>
              <a:srgbClr val="009900">
                <a:alpha val="4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3316" name="Rectangle 15"/>
          <p:cNvSpPr>
            <a:spLocks noChangeArrowheads="1"/>
          </p:cNvSpPr>
          <p:nvPr/>
        </p:nvSpPr>
        <p:spPr bwMode="auto">
          <a:xfrm>
            <a:off x="1093788" y="1371600"/>
            <a:ext cx="3352800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/>
              <a:t>Here are a few examples:</a:t>
            </a:r>
          </a:p>
        </p:txBody>
      </p:sp>
      <p:sp>
        <p:nvSpPr>
          <p:cNvPr id="13317" name="Rectangle 16"/>
          <p:cNvSpPr>
            <a:spLocks noChangeArrowheads="1"/>
          </p:cNvSpPr>
          <p:nvPr/>
        </p:nvSpPr>
        <p:spPr bwMode="auto">
          <a:xfrm>
            <a:off x="604838" y="1243013"/>
            <a:ext cx="3052762" cy="4333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Segmentation: </a:t>
            </a:r>
            <a:r>
              <a:rPr lang="en-GB" sz="1100" dirty="0"/>
              <a:t>A map showing customers with similar needs and preferences as clusters.</a:t>
            </a:r>
          </a:p>
        </p:txBody>
      </p:sp>
      <p:grpSp>
        <p:nvGrpSpPr>
          <p:cNvPr id="13318" name="Group 18"/>
          <p:cNvGrpSpPr>
            <a:grpSpLocks/>
          </p:cNvGrpSpPr>
          <p:nvPr/>
        </p:nvGrpSpPr>
        <p:grpSpPr bwMode="auto">
          <a:xfrm>
            <a:off x="604838" y="1628775"/>
            <a:ext cx="3052762" cy="2305050"/>
            <a:chOff x="381" y="1152"/>
            <a:chExt cx="1539" cy="2208"/>
          </a:xfrm>
        </p:grpSpPr>
        <p:sp>
          <p:nvSpPr>
            <p:cNvPr id="13361" name="Line 19"/>
            <p:cNvSpPr>
              <a:spLocks noChangeShapeType="1"/>
            </p:cNvSpPr>
            <p:nvPr/>
          </p:nvSpPr>
          <p:spPr bwMode="auto">
            <a:xfrm>
              <a:off x="381" y="1152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362" name="Line 20"/>
            <p:cNvSpPr>
              <a:spLocks noChangeShapeType="1"/>
            </p:cNvSpPr>
            <p:nvPr/>
          </p:nvSpPr>
          <p:spPr bwMode="auto">
            <a:xfrm>
              <a:off x="381" y="3360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3598" name="Oval 46"/>
          <p:cNvSpPr>
            <a:spLocks noChangeArrowheads="1"/>
          </p:cNvSpPr>
          <p:nvPr/>
        </p:nvSpPr>
        <p:spPr bwMode="auto">
          <a:xfrm>
            <a:off x="4640263" y="1817688"/>
            <a:ext cx="1865312" cy="1990725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3599" name="Oval 47"/>
          <p:cNvSpPr>
            <a:spLocks noChangeArrowheads="1"/>
          </p:cNvSpPr>
          <p:nvPr/>
        </p:nvSpPr>
        <p:spPr bwMode="auto">
          <a:xfrm>
            <a:off x="4927600" y="3498850"/>
            <a:ext cx="1728788" cy="1990725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3600" name="Oval 48"/>
          <p:cNvSpPr>
            <a:spLocks noChangeArrowheads="1"/>
          </p:cNvSpPr>
          <p:nvPr/>
        </p:nvSpPr>
        <p:spPr bwMode="auto">
          <a:xfrm>
            <a:off x="6464300" y="3976688"/>
            <a:ext cx="2057400" cy="1393825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3601" name="Oval 49"/>
          <p:cNvSpPr>
            <a:spLocks noChangeArrowheads="1"/>
          </p:cNvSpPr>
          <p:nvPr/>
        </p:nvSpPr>
        <p:spPr bwMode="auto">
          <a:xfrm>
            <a:off x="6505575" y="1817688"/>
            <a:ext cx="1841500" cy="1320800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3602" name="Oval 50"/>
          <p:cNvSpPr>
            <a:spLocks noChangeArrowheads="1"/>
          </p:cNvSpPr>
          <p:nvPr/>
        </p:nvSpPr>
        <p:spPr bwMode="auto">
          <a:xfrm>
            <a:off x="6267450" y="2497138"/>
            <a:ext cx="1462088" cy="1836737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3609" name="Rectangle 57"/>
          <p:cNvSpPr>
            <a:spLocks noChangeArrowheads="1"/>
          </p:cNvSpPr>
          <p:nvPr/>
        </p:nvSpPr>
        <p:spPr bwMode="auto">
          <a:xfrm>
            <a:off x="609600" y="2565400"/>
            <a:ext cx="3136900" cy="768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00AEC6"/>
                </a:solidFill>
              </a:rPr>
              <a:t>Segmentation model</a:t>
            </a:r>
            <a:endParaRPr lang="en-US" sz="1100" b="1" dirty="0">
              <a:solidFill>
                <a:srgbClr val="00AEC6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100" dirty="0"/>
              <a:t>In this way we have identified five groups of customer types… five customer segments</a:t>
            </a:r>
            <a:r>
              <a:rPr lang="en-US" sz="1100" b="1" dirty="0"/>
              <a:t>. 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This will be of great help when you decide </a:t>
            </a:r>
            <a:r>
              <a:rPr lang="en-US" sz="1100" b="1" dirty="0"/>
              <a:t>which customers to go for</a:t>
            </a:r>
            <a:r>
              <a:rPr lang="en-US" sz="1100" dirty="0"/>
              <a:t> and what you should </a:t>
            </a:r>
            <a:r>
              <a:rPr lang="en-US" sz="1100" b="1" dirty="0"/>
              <a:t>offer.</a:t>
            </a:r>
          </a:p>
          <a:p>
            <a:pPr>
              <a:spcAft>
                <a:spcPts val="600"/>
              </a:spcAft>
            </a:pPr>
            <a:r>
              <a:rPr lang="en-US" sz="1100" i="1" dirty="0"/>
              <a:t>But there is more to it…</a:t>
            </a:r>
          </a:p>
        </p:txBody>
      </p:sp>
      <p:grpSp>
        <p:nvGrpSpPr>
          <p:cNvPr id="13325" name="Group 61"/>
          <p:cNvGrpSpPr>
            <a:grpSpLocks/>
          </p:cNvGrpSpPr>
          <p:nvPr/>
        </p:nvGrpSpPr>
        <p:grpSpPr bwMode="auto">
          <a:xfrm>
            <a:off x="4756150" y="2060575"/>
            <a:ext cx="3565525" cy="3121025"/>
            <a:chOff x="2996" y="1298"/>
            <a:chExt cx="2246" cy="1966"/>
          </a:xfrm>
        </p:grpSpPr>
        <p:pic>
          <p:nvPicPr>
            <p:cNvPr id="13337" name="Picture 22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8" y="1413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38" name="Picture 23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3" y="1380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39" name="Picture 24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" y="1691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0" name="Picture 25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7" y="2008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1" name="Picture 26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2" y="2431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2" name="Picture 27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5" y="2651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3" name="Picture 28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0" y="2746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4" name="Picture 29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5" y="300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5" name="Picture 30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" y="3060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6" name="Picture 31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" y="2395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7" name="Picture 32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" y="269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8" name="Picture 33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3" y="2985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49" name="Picture 34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1" y="2425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0" name="Picture 35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0" y="2003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1" name="Picture 36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1" y="1670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2" name="Picture 37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9" y="2259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3" name="Picture 38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0" y="2938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4" name="Picture 39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9" y="269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5" name="Picture 40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9" y="1298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6" name="Picture 41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0" y="1663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7" name="Picture 42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" y="151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8" name="Picture 43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7" y="1942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59" name="Picture 44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6" y="1624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0" name="Picture 45" descr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" y="1987"/>
              <a:ext cx="26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603" name="Group 51" hidden="1"/>
          <p:cNvGrpSpPr>
            <a:grpSpLocks/>
          </p:cNvGrpSpPr>
          <p:nvPr/>
        </p:nvGrpSpPr>
        <p:grpSpPr bwMode="auto">
          <a:xfrm>
            <a:off x="4648200" y="1814513"/>
            <a:ext cx="3881438" cy="3671887"/>
            <a:chOff x="2703" y="981"/>
            <a:chExt cx="2445" cy="2313"/>
          </a:xfrm>
        </p:grpSpPr>
        <p:sp>
          <p:nvSpPr>
            <p:cNvPr id="13332" name="Oval 52"/>
            <p:cNvSpPr>
              <a:spLocks noChangeArrowheads="1"/>
            </p:cNvSpPr>
            <p:nvPr/>
          </p:nvSpPr>
          <p:spPr bwMode="auto">
            <a:xfrm>
              <a:off x="2703" y="981"/>
              <a:ext cx="1175" cy="1254"/>
            </a:xfrm>
            <a:prstGeom prst="ellipse">
              <a:avLst/>
            </a:prstGeom>
            <a:solidFill>
              <a:schemeClr val="bg1">
                <a:alpha val="78038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4400" b="1" dirty="0">
                  <a:solidFill>
                    <a:srgbClr val="009900"/>
                  </a:solidFill>
                  <a:cs typeface="Arial" pitchFamily="34" charset="0"/>
                </a:rPr>
                <a:t>S</a:t>
              </a:r>
              <a:endParaRPr lang="en-US" sz="44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3333" name="Oval 53"/>
            <p:cNvSpPr>
              <a:spLocks noChangeArrowheads="1"/>
            </p:cNvSpPr>
            <p:nvPr/>
          </p:nvSpPr>
          <p:spPr bwMode="auto">
            <a:xfrm>
              <a:off x="2884" y="2040"/>
              <a:ext cx="1089" cy="1254"/>
            </a:xfrm>
            <a:prstGeom prst="ellipse">
              <a:avLst/>
            </a:prstGeom>
            <a:solidFill>
              <a:schemeClr val="bg1">
                <a:alpha val="78038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4400" b="1" dirty="0">
                  <a:solidFill>
                    <a:srgbClr val="009900"/>
                  </a:solidFill>
                  <a:cs typeface="Arial" pitchFamily="34" charset="0"/>
                </a:rPr>
                <a:t>T</a:t>
              </a:r>
              <a:endParaRPr lang="en-US" sz="44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3334" name="Oval 54"/>
            <p:cNvSpPr>
              <a:spLocks noChangeArrowheads="1"/>
            </p:cNvSpPr>
            <p:nvPr/>
          </p:nvSpPr>
          <p:spPr bwMode="auto">
            <a:xfrm>
              <a:off x="3852" y="2341"/>
              <a:ext cx="1296" cy="878"/>
            </a:xfrm>
            <a:prstGeom prst="ellipse">
              <a:avLst/>
            </a:prstGeom>
            <a:solidFill>
              <a:schemeClr val="bg1">
                <a:alpha val="78038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4400" b="1" dirty="0">
                  <a:solidFill>
                    <a:srgbClr val="009900"/>
                  </a:solidFill>
                  <a:cs typeface="Arial" pitchFamily="34" charset="0"/>
                </a:rPr>
                <a:t>A</a:t>
              </a:r>
              <a:endParaRPr lang="en-US" sz="44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3335" name="Oval 55"/>
            <p:cNvSpPr>
              <a:spLocks noChangeArrowheads="1"/>
            </p:cNvSpPr>
            <p:nvPr/>
          </p:nvSpPr>
          <p:spPr bwMode="auto">
            <a:xfrm>
              <a:off x="3728" y="1409"/>
              <a:ext cx="921" cy="1157"/>
            </a:xfrm>
            <a:prstGeom prst="ellipse">
              <a:avLst/>
            </a:prstGeom>
            <a:solidFill>
              <a:schemeClr val="bg1">
                <a:alpha val="78038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4400" b="1">
                  <a:solidFill>
                    <a:srgbClr val="009900"/>
                  </a:solidFill>
                  <a:cs typeface="Arial" pitchFamily="34" charset="0"/>
                </a:rPr>
                <a:t>M</a:t>
              </a:r>
              <a:endParaRPr lang="en-US" sz="4400" b="1">
                <a:solidFill>
                  <a:srgbClr val="009900"/>
                </a:solidFill>
                <a:cs typeface="Arial" pitchFamily="34" charset="0"/>
              </a:endParaRPr>
            </a:p>
          </p:txBody>
        </p:sp>
        <p:sp>
          <p:nvSpPr>
            <p:cNvPr id="13336" name="Oval 56"/>
            <p:cNvSpPr>
              <a:spLocks noChangeArrowheads="1"/>
            </p:cNvSpPr>
            <p:nvPr/>
          </p:nvSpPr>
          <p:spPr bwMode="auto">
            <a:xfrm>
              <a:off x="3878" y="981"/>
              <a:ext cx="1160" cy="832"/>
            </a:xfrm>
            <a:prstGeom prst="ellipse">
              <a:avLst/>
            </a:prstGeom>
            <a:solidFill>
              <a:schemeClr val="bg1">
                <a:alpha val="78038"/>
              </a:schemeClr>
            </a:solidFill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sz="4400" b="1" dirty="0">
                  <a:solidFill>
                    <a:srgbClr val="009900"/>
                  </a:solidFill>
                  <a:cs typeface="Arial" pitchFamily="34" charset="0"/>
                </a:rPr>
                <a:t>P</a:t>
              </a:r>
              <a:endParaRPr lang="en-US" sz="4400" b="1" dirty="0">
                <a:solidFill>
                  <a:srgbClr val="009900"/>
                </a:solidFill>
                <a:cs typeface="Arial" pitchFamily="34" charset="0"/>
              </a:endParaRPr>
            </a:p>
          </p:txBody>
        </p:sp>
      </p:grpSp>
      <p:sp>
        <p:nvSpPr>
          <p:cNvPr id="13327" name="Rectangle 81"/>
          <p:cNvSpPr>
            <a:spLocks noChangeArrowheads="1"/>
          </p:cNvSpPr>
          <p:nvPr/>
        </p:nvSpPr>
        <p:spPr bwMode="auto">
          <a:xfrm>
            <a:off x="604838" y="304800"/>
            <a:ext cx="70151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2. Customer segmentation: A few categories</a:t>
            </a:r>
          </a:p>
        </p:txBody>
      </p:sp>
      <p:sp>
        <p:nvSpPr>
          <p:cNvPr id="23634" name="AutoShape 8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90750" y="6172200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23635" name="Rectangle 83"/>
          <p:cNvSpPr>
            <a:spLocks noChangeArrowheads="1"/>
          </p:cNvSpPr>
          <p:nvPr/>
        </p:nvSpPr>
        <p:spPr bwMode="auto">
          <a:xfrm>
            <a:off x="609600" y="2133600"/>
            <a:ext cx="28194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100" dirty="0"/>
              <a:t>In the simulation there is a </a:t>
            </a:r>
            <a:r>
              <a:rPr lang="en-US" sz="1100" b="1" dirty="0"/>
              <a:t>total of 24 customers</a:t>
            </a:r>
            <a:r>
              <a:rPr lang="en-US" sz="1100" dirty="0"/>
              <a:t> and this is how they are distributed along the two axis.</a:t>
            </a:r>
          </a:p>
        </p:txBody>
      </p:sp>
      <p:sp>
        <p:nvSpPr>
          <p:cNvPr id="13330" name="Rectangle 85"/>
          <p:cNvSpPr>
            <a:spLocks noChangeArrowheads="1"/>
          </p:cNvSpPr>
          <p:nvPr/>
        </p:nvSpPr>
        <p:spPr bwMode="auto">
          <a:xfrm>
            <a:off x="604838" y="1752600"/>
            <a:ext cx="2671762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>
                <a:solidFill>
                  <a:srgbClr val="00AEC6"/>
                </a:solidFill>
              </a:rPr>
              <a:t>Second step: </a:t>
            </a:r>
            <a:r>
              <a:rPr lang="en-GB" sz="1100" dirty="0"/>
              <a:t>Different views on price</a:t>
            </a:r>
          </a:p>
        </p:txBody>
      </p:sp>
      <p:sp>
        <p:nvSpPr>
          <p:cNvPr id="23610" name="Rectangle 58"/>
          <p:cNvSpPr>
            <a:spLocks noChangeArrowheads="1"/>
          </p:cNvSpPr>
          <p:nvPr/>
        </p:nvSpPr>
        <p:spPr bwMode="auto">
          <a:xfrm>
            <a:off x="601873" y="1718754"/>
            <a:ext cx="2671763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Third step: </a:t>
            </a:r>
            <a:r>
              <a:rPr lang="en-GB" sz="1100" dirty="0"/>
              <a:t>Clustering similar customers.</a:t>
            </a:r>
          </a:p>
        </p:txBody>
      </p:sp>
      <p:sp>
        <p:nvSpPr>
          <p:cNvPr id="61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36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6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96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4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8" grpId="0" animBg="1"/>
      <p:bldP spid="23599" grpId="0" animBg="1"/>
      <p:bldP spid="23600" grpId="0" animBg="1"/>
      <p:bldP spid="23601" grpId="0" animBg="1"/>
      <p:bldP spid="23602" grpId="0" animBg="1"/>
      <p:bldP spid="23609" grpId="0" animBg="1"/>
      <p:bldP spid="23634" grpId="0" animBg="1"/>
      <p:bldP spid="23635" grpId="0"/>
      <p:bldP spid="236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609600" y="1268760"/>
            <a:ext cx="3052762" cy="43338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Segmentation: </a:t>
            </a:r>
            <a:r>
              <a:rPr lang="en-GB" sz="1100" dirty="0"/>
              <a:t>A map showing customers with similar needs and preferences as clusters</a:t>
            </a:r>
            <a:r>
              <a:rPr lang="en-GB" sz="1100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604838" y="1628775"/>
            <a:ext cx="3052762" cy="2305050"/>
            <a:chOff x="381" y="1152"/>
            <a:chExt cx="1539" cy="2208"/>
          </a:xfrm>
        </p:grpSpPr>
        <p:sp>
          <p:nvSpPr>
            <p:cNvPr id="14404" name="Line 5"/>
            <p:cNvSpPr>
              <a:spLocks noChangeShapeType="1"/>
            </p:cNvSpPr>
            <p:nvPr/>
          </p:nvSpPr>
          <p:spPr bwMode="auto">
            <a:xfrm>
              <a:off x="381" y="1152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405" name="Line 6"/>
            <p:cNvSpPr>
              <a:spLocks noChangeShapeType="1"/>
            </p:cNvSpPr>
            <p:nvPr/>
          </p:nvSpPr>
          <p:spPr bwMode="auto">
            <a:xfrm>
              <a:off x="381" y="3360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8311" name="Rectangle 7"/>
          <p:cNvSpPr>
            <a:spLocks noChangeArrowheads="1"/>
          </p:cNvSpPr>
          <p:nvPr/>
        </p:nvSpPr>
        <p:spPr bwMode="auto">
          <a:xfrm>
            <a:off x="609600" y="2652713"/>
            <a:ext cx="3136900" cy="11366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00AEC6"/>
                </a:solidFill>
              </a:rPr>
              <a:t>Similar preferences 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The </a:t>
            </a:r>
            <a:r>
              <a:rPr lang="en-US" sz="1100" b="1" dirty="0"/>
              <a:t>relative importance </a:t>
            </a:r>
            <a:r>
              <a:rPr lang="en-US" sz="1100" dirty="0"/>
              <a:t>of their choice criteria (preferences) is similar among customers in the same segment.</a:t>
            </a:r>
          </a:p>
          <a:p>
            <a:pPr>
              <a:spcAft>
                <a:spcPts val="600"/>
              </a:spcAft>
            </a:pPr>
            <a:r>
              <a:rPr lang="en-US" sz="1100" dirty="0"/>
              <a:t>This is also of great value when you decide which customers you should target.</a:t>
            </a:r>
            <a:endParaRPr lang="en-US" sz="1100" b="1" dirty="0"/>
          </a:p>
        </p:txBody>
      </p:sp>
      <p:sp>
        <p:nvSpPr>
          <p:cNvPr id="14342" name="Rectangle 8"/>
          <p:cNvSpPr>
            <a:spLocks noChangeArrowheads="1"/>
          </p:cNvSpPr>
          <p:nvPr/>
        </p:nvSpPr>
        <p:spPr bwMode="auto">
          <a:xfrm>
            <a:off x="604838" y="304800"/>
            <a:ext cx="70151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2. Customer segmentation: Similar preferences</a:t>
            </a: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604838" y="1752600"/>
            <a:ext cx="2671762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Second step: </a:t>
            </a:r>
            <a:r>
              <a:rPr lang="en-GB" sz="1100" dirty="0"/>
              <a:t>Different views on price</a:t>
            </a:r>
          </a:p>
        </p:txBody>
      </p:sp>
      <p:sp>
        <p:nvSpPr>
          <p:cNvPr id="98315" name="Rectangle 11" hidden="1"/>
          <p:cNvSpPr>
            <a:spLocks noChangeArrowheads="1"/>
          </p:cNvSpPr>
          <p:nvPr/>
        </p:nvSpPr>
        <p:spPr bwMode="auto">
          <a:xfrm>
            <a:off x="584200" y="1762125"/>
            <a:ext cx="3041650" cy="5349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>
                <a:solidFill>
                  <a:srgbClr val="00AEC6"/>
                </a:solidFill>
              </a:rPr>
              <a:t>Fourth step: </a:t>
            </a:r>
            <a:r>
              <a:rPr lang="en-GB" sz="1100" dirty="0"/>
              <a:t>What else do the customers in the same segment have in common?</a:t>
            </a:r>
          </a:p>
        </p:txBody>
      </p:sp>
      <p:grpSp>
        <p:nvGrpSpPr>
          <p:cNvPr id="14346" name="Group 12"/>
          <p:cNvGrpSpPr>
            <a:grpSpLocks/>
          </p:cNvGrpSpPr>
          <p:nvPr/>
        </p:nvGrpSpPr>
        <p:grpSpPr bwMode="auto">
          <a:xfrm>
            <a:off x="4254500" y="1282700"/>
            <a:ext cx="4527550" cy="4889500"/>
            <a:chOff x="2680" y="808"/>
            <a:chExt cx="2852" cy="3080"/>
          </a:xfrm>
        </p:grpSpPr>
        <p:grpSp>
          <p:nvGrpSpPr>
            <p:cNvPr id="14356" name="Group 13"/>
            <p:cNvGrpSpPr>
              <a:grpSpLocks/>
            </p:cNvGrpSpPr>
            <p:nvPr/>
          </p:nvGrpSpPr>
          <p:grpSpPr bwMode="auto">
            <a:xfrm>
              <a:off x="2680" y="2032"/>
              <a:ext cx="2852" cy="415"/>
              <a:chOff x="2680" y="1848"/>
              <a:chExt cx="2852" cy="415"/>
            </a:xfrm>
          </p:grpSpPr>
          <p:grpSp>
            <p:nvGrpSpPr>
              <p:cNvPr id="14398" name="Group 14"/>
              <p:cNvGrpSpPr>
                <a:grpSpLocks/>
              </p:cNvGrpSpPr>
              <p:nvPr/>
            </p:nvGrpSpPr>
            <p:grpSpPr bwMode="auto">
              <a:xfrm>
                <a:off x="2680" y="1848"/>
                <a:ext cx="1446" cy="403"/>
                <a:chOff x="269" y="1857"/>
                <a:chExt cx="1446" cy="403"/>
              </a:xfrm>
            </p:grpSpPr>
            <p:sp>
              <p:nvSpPr>
                <p:cNvPr id="14402" name="Rectangle 15"/>
                <p:cNvSpPr>
                  <a:spLocks noChangeArrowheads="1"/>
                </p:cNvSpPr>
                <p:nvPr/>
              </p:nvSpPr>
              <p:spPr bwMode="auto">
                <a:xfrm>
                  <a:off x="269" y="1857"/>
                  <a:ext cx="1296" cy="2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>
                    <a:spcAft>
                      <a:spcPts val="600"/>
                    </a:spcAft>
                  </a:pPr>
                  <a:r>
                    <a:rPr lang="en-GB" sz="1400" b="1">
                      <a:solidFill>
                        <a:schemeClr val="bg1"/>
                      </a:solidFill>
                    </a:rPr>
                    <a:t>Price</a:t>
                  </a:r>
                </a:p>
              </p:txBody>
            </p:sp>
            <p:sp>
              <p:nvSpPr>
                <p:cNvPr id="14403" name="AutoShape 16"/>
                <p:cNvSpPr>
                  <a:spLocks noChangeArrowheads="1"/>
                </p:cNvSpPr>
                <p:nvPr/>
              </p:nvSpPr>
              <p:spPr bwMode="auto">
                <a:xfrm rot="-5400000">
                  <a:off x="880" y="1426"/>
                  <a:ext cx="227" cy="1442"/>
                </a:xfrm>
                <a:prstGeom prst="upArrow">
                  <a:avLst>
                    <a:gd name="adj1" fmla="val 34074"/>
                    <a:gd name="adj2" fmla="val 71524"/>
                  </a:avLst>
                </a:prstGeom>
                <a:solidFill>
                  <a:srgbClr val="009900">
                    <a:alpha val="40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  <p:grpSp>
            <p:nvGrpSpPr>
              <p:cNvPr id="14399" name="Group 17"/>
              <p:cNvGrpSpPr>
                <a:grpSpLocks/>
              </p:cNvGrpSpPr>
              <p:nvPr/>
            </p:nvGrpSpPr>
            <p:grpSpPr bwMode="auto">
              <a:xfrm>
                <a:off x="4061" y="1860"/>
                <a:ext cx="1471" cy="403"/>
                <a:chOff x="1414" y="1857"/>
                <a:chExt cx="1471" cy="403"/>
              </a:xfrm>
            </p:grpSpPr>
            <p:sp>
              <p:nvSpPr>
                <p:cNvPr id="14400" name="Rectangle 18"/>
                <p:cNvSpPr>
                  <a:spLocks noChangeArrowheads="1"/>
                </p:cNvSpPr>
                <p:nvPr/>
              </p:nvSpPr>
              <p:spPr bwMode="auto">
                <a:xfrm>
                  <a:off x="2018" y="1857"/>
                  <a:ext cx="84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 algn="r">
                    <a:spcAft>
                      <a:spcPts val="600"/>
                    </a:spcAft>
                  </a:pPr>
                  <a:r>
                    <a:rPr lang="en-GB" sz="1400" b="1">
                      <a:solidFill>
                        <a:schemeClr val="bg1"/>
                      </a:solidFill>
                    </a:rPr>
                    <a:t>Value</a:t>
                  </a:r>
                </a:p>
              </p:txBody>
            </p:sp>
            <p:sp>
              <p:nvSpPr>
                <p:cNvPr id="14401" name="AutoShape 19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2036" y="1411"/>
                  <a:ext cx="227" cy="1471"/>
                </a:xfrm>
                <a:prstGeom prst="upArrow">
                  <a:avLst>
                    <a:gd name="adj1" fmla="val 34074"/>
                    <a:gd name="adj2" fmla="val 72962"/>
                  </a:avLst>
                </a:prstGeom>
                <a:solidFill>
                  <a:srgbClr val="009900">
                    <a:alpha val="40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grpSp>
          <p:nvGrpSpPr>
            <p:cNvPr id="14357" name="Group 20"/>
            <p:cNvGrpSpPr>
              <a:grpSpLocks/>
            </p:cNvGrpSpPr>
            <p:nvPr/>
          </p:nvGrpSpPr>
          <p:grpSpPr bwMode="auto">
            <a:xfrm>
              <a:off x="3440" y="808"/>
              <a:ext cx="1297" cy="3080"/>
              <a:chOff x="3334" y="758"/>
              <a:chExt cx="1297" cy="3080"/>
            </a:xfrm>
          </p:grpSpPr>
          <p:sp>
            <p:nvSpPr>
              <p:cNvPr id="14394" name="Rectangle 21"/>
              <p:cNvSpPr>
                <a:spLocks noChangeArrowheads="1"/>
              </p:cNvSpPr>
              <p:nvPr/>
            </p:nvSpPr>
            <p:spPr bwMode="auto">
              <a:xfrm>
                <a:off x="3335" y="758"/>
                <a:ext cx="1296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ctr">
                  <a:spcAft>
                    <a:spcPts val="600"/>
                  </a:spcAft>
                </a:pPr>
                <a:r>
                  <a:rPr lang="en-GB" sz="1400" b="1">
                    <a:solidFill>
                      <a:schemeClr val="bg1"/>
                    </a:solidFill>
                  </a:rPr>
                  <a:t>Many needs</a:t>
                </a:r>
              </a:p>
            </p:txBody>
          </p:sp>
          <p:sp>
            <p:nvSpPr>
              <p:cNvPr id="14395" name="Rectangle 22"/>
              <p:cNvSpPr>
                <a:spLocks noChangeArrowheads="1"/>
              </p:cNvSpPr>
              <p:nvPr/>
            </p:nvSpPr>
            <p:spPr bwMode="auto">
              <a:xfrm>
                <a:off x="3334" y="3626"/>
                <a:ext cx="129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ctr">
                  <a:spcAft>
                    <a:spcPts val="600"/>
                  </a:spcAft>
                </a:pPr>
                <a:r>
                  <a:rPr lang="en-GB" sz="1400" b="1">
                    <a:solidFill>
                      <a:schemeClr val="bg1"/>
                    </a:solidFill>
                  </a:rPr>
                  <a:t>Basic needs</a:t>
                </a:r>
              </a:p>
            </p:txBody>
          </p:sp>
          <p:sp>
            <p:nvSpPr>
              <p:cNvPr id="14396" name="AutoShape 23"/>
              <p:cNvSpPr>
                <a:spLocks noChangeArrowheads="1"/>
              </p:cNvSpPr>
              <p:nvPr/>
            </p:nvSpPr>
            <p:spPr bwMode="auto">
              <a:xfrm>
                <a:off x="3869" y="1000"/>
                <a:ext cx="227" cy="1442"/>
              </a:xfrm>
              <a:prstGeom prst="upArrow">
                <a:avLst>
                  <a:gd name="adj1" fmla="val 34074"/>
                  <a:gd name="adj2" fmla="val 71524"/>
                </a:avLst>
              </a:prstGeom>
              <a:solidFill>
                <a:srgbClr val="009900">
                  <a:alpha val="4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397" name="AutoShape 24"/>
              <p:cNvSpPr>
                <a:spLocks noChangeArrowheads="1"/>
              </p:cNvSpPr>
              <p:nvPr/>
            </p:nvSpPr>
            <p:spPr bwMode="auto">
              <a:xfrm flipV="1">
                <a:off x="3869" y="2141"/>
                <a:ext cx="227" cy="1471"/>
              </a:xfrm>
              <a:prstGeom prst="upArrow">
                <a:avLst>
                  <a:gd name="adj1" fmla="val 34074"/>
                  <a:gd name="adj2" fmla="val 72962"/>
                </a:avLst>
              </a:prstGeom>
              <a:solidFill>
                <a:srgbClr val="009900">
                  <a:alpha val="4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358" name="Oval 25"/>
            <p:cNvSpPr>
              <a:spLocks noChangeArrowheads="1"/>
            </p:cNvSpPr>
            <p:nvPr/>
          </p:nvSpPr>
          <p:spPr bwMode="auto">
            <a:xfrm>
              <a:off x="2923" y="1145"/>
              <a:ext cx="1175" cy="1254"/>
            </a:xfrm>
            <a:prstGeom prst="ellipse">
              <a:avLst/>
            </a:prstGeom>
            <a:noFill/>
            <a:ln w="38100">
              <a:solidFill>
                <a:srgbClr val="0D95C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359" name="Oval 26"/>
            <p:cNvSpPr>
              <a:spLocks noChangeArrowheads="1"/>
            </p:cNvSpPr>
            <p:nvPr/>
          </p:nvSpPr>
          <p:spPr bwMode="auto">
            <a:xfrm>
              <a:off x="3104" y="2204"/>
              <a:ext cx="1089" cy="1254"/>
            </a:xfrm>
            <a:prstGeom prst="ellipse">
              <a:avLst/>
            </a:prstGeom>
            <a:noFill/>
            <a:ln w="38100">
              <a:solidFill>
                <a:srgbClr val="0D95C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360" name="Oval 27"/>
            <p:cNvSpPr>
              <a:spLocks noChangeArrowheads="1"/>
            </p:cNvSpPr>
            <p:nvPr/>
          </p:nvSpPr>
          <p:spPr bwMode="auto">
            <a:xfrm>
              <a:off x="4072" y="2505"/>
              <a:ext cx="1296" cy="878"/>
            </a:xfrm>
            <a:prstGeom prst="ellipse">
              <a:avLst/>
            </a:prstGeom>
            <a:noFill/>
            <a:ln w="38100">
              <a:solidFill>
                <a:srgbClr val="0D95C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361" name="Oval 28"/>
            <p:cNvSpPr>
              <a:spLocks noChangeArrowheads="1"/>
            </p:cNvSpPr>
            <p:nvPr/>
          </p:nvSpPr>
          <p:spPr bwMode="auto">
            <a:xfrm>
              <a:off x="4098" y="1145"/>
              <a:ext cx="1160" cy="832"/>
            </a:xfrm>
            <a:prstGeom prst="ellipse">
              <a:avLst/>
            </a:prstGeom>
            <a:noFill/>
            <a:ln w="38100">
              <a:solidFill>
                <a:srgbClr val="0D95C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362" name="Oval 29"/>
            <p:cNvSpPr>
              <a:spLocks noChangeArrowheads="1"/>
            </p:cNvSpPr>
            <p:nvPr/>
          </p:nvSpPr>
          <p:spPr bwMode="auto">
            <a:xfrm>
              <a:off x="3948" y="1573"/>
              <a:ext cx="921" cy="1157"/>
            </a:xfrm>
            <a:prstGeom prst="ellipse">
              <a:avLst/>
            </a:prstGeom>
            <a:noFill/>
            <a:ln w="38100">
              <a:solidFill>
                <a:srgbClr val="0D95C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4363" name="Group 30"/>
            <p:cNvGrpSpPr>
              <a:grpSpLocks/>
            </p:cNvGrpSpPr>
            <p:nvPr/>
          </p:nvGrpSpPr>
          <p:grpSpPr bwMode="auto">
            <a:xfrm>
              <a:off x="2996" y="1298"/>
              <a:ext cx="2246" cy="1966"/>
              <a:chOff x="2996" y="1298"/>
              <a:chExt cx="2246" cy="1966"/>
            </a:xfrm>
          </p:grpSpPr>
          <p:pic>
            <p:nvPicPr>
              <p:cNvPr id="14370" name="Picture 31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88" y="1413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1" name="Picture 32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3" y="1380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2" name="Picture 33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75" y="1691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3" name="Picture 34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77" y="2008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4" name="Picture 35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22" y="2431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5" name="Picture 36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65" y="2651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6" name="Picture 37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80" y="2746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7" name="Picture 38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5" y="300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8" name="Picture 39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9" y="3060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79" name="Picture 40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8" y="2395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0" name="Picture 41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18" y="269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1" name="Picture 42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3" y="2985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2" name="Picture 43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41" y="2425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3" name="Picture 44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0" y="2003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4" name="Picture 45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71" y="1670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5" name="Picture 46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89" y="2259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6" name="Picture 47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0" y="2938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7" name="Picture 48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9" y="269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8" name="Picture 49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9" y="1298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89" name="Picture 50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50" y="1663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90" name="Picture 51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68" y="151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91" name="Picture 52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77" y="1942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92" name="Picture 53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6" y="1624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93" name="Picture 54" descr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9" y="1987"/>
                <a:ext cx="263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64" name="Group 55"/>
            <p:cNvGrpSpPr>
              <a:grpSpLocks/>
            </p:cNvGrpSpPr>
            <p:nvPr/>
          </p:nvGrpSpPr>
          <p:grpSpPr bwMode="auto">
            <a:xfrm>
              <a:off x="2928" y="1143"/>
              <a:ext cx="2445" cy="2313"/>
              <a:chOff x="2703" y="981"/>
              <a:chExt cx="2445" cy="2313"/>
            </a:xfrm>
          </p:grpSpPr>
          <p:sp>
            <p:nvSpPr>
              <p:cNvPr id="14365" name="Oval 56"/>
              <p:cNvSpPr>
                <a:spLocks noChangeArrowheads="1"/>
              </p:cNvSpPr>
              <p:nvPr/>
            </p:nvSpPr>
            <p:spPr bwMode="auto">
              <a:xfrm>
                <a:off x="2703" y="981"/>
                <a:ext cx="1175" cy="1254"/>
              </a:xfrm>
              <a:prstGeom prst="ellipse">
                <a:avLst/>
              </a:prstGeom>
              <a:solidFill>
                <a:schemeClr val="bg1">
                  <a:alpha val="78038"/>
                </a:schemeClr>
              </a:solidFill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sz="4400" b="1">
                    <a:solidFill>
                      <a:srgbClr val="009900"/>
                    </a:solidFill>
                    <a:cs typeface="Arial" pitchFamily="34" charset="0"/>
                  </a:rPr>
                  <a:t>S</a:t>
                </a:r>
                <a:endParaRPr lang="en-US" sz="4400" b="1">
                  <a:solidFill>
                    <a:srgbClr val="009900"/>
                  </a:solidFill>
                  <a:cs typeface="Arial" pitchFamily="34" charset="0"/>
                </a:endParaRPr>
              </a:p>
            </p:txBody>
          </p:sp>
          <p:sp>
            <p:nvSpPr>
              <p:cNvPr id="14366" name="Oval 57"/>
              <p:cNvSpPr>
                <a:spLocks noChangeArrowheads="1"/>
              </p:cNvSpPr>
              <p:nvPr/>
            </p:nvSpPr>
            <p:spPr bwMode="auto">
              <a:xfrm>
                <a:off x="2884" y="2040"/>
                <a:ext cx="1089" cy="1254"/>
              </a:xfrm>
              <a:prstGeom prst="ellipse">
                <a:avLst/>
              </a:prstGeom>
              <a:solidFill>
                <a:schemeClr val="bg1">
                  <a:alpha val="78038"/>
                </a:schemeClr>
              </a:solidFill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sz="4400" b="1">
                    <a:solidFill>
                      <a:srgbClr val="009900"/>
                    </a:solidFill>
                    <a:cs typeface="Arial" pitchFamily="34" charset="0"/>
                  </a:rPr>
                  <a:t>T</a:t>
                </a:r>
                <a:endParaRPr lang="en-US" sz="4400" b="1">
                  <a:solidFill>
                    <a:srgbClr val="009900"/>
                  </a:solidFill>
                  <a:cs typeface="Arial" pitchFamily="34" charset="0"/>
                </a:endParaRPr>
              </a:p>
            </p:txBody>
          </p:sp>
          <p:sp>
            <p:nvSpPr>
              <p:cNvPr id="14367" name="Oval 58"/>
              <p:cNvSpPr>
                <a:spLocks noChangeArrowheads="1"/>
              </p:cNvSpPr>
              <p:nvPr/>
            </p:nvSpPr>
            <p:spPr bwMode="auto">
              <a:xfrm>
                <a:off x="3852" y="2341"/>
                <a:ext cx="1296" cy="878"/>
              </a:xfrm>
              <a:prstGeom prst="ellipse">
                <a:avLst/>
              </a:prstGeom>
              <a:solidFill>
                <a:schemeClr val="bg1">
                  <a:alpha val="78038"/>
                </a:schemeClr>
              </a:solidFill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sz="4400" b="1">
                    <a:solidFill>
                      <a:srgbClr val="009900"/>
                    </a:solidFill>
                    <a:cs typeface="Arial" pitchFamily="34" charset="0"/>
                  </a:rPr>
                  <a:t>A</a:t>
                </a:r>
                <a:endParaRPr lang="en-US" sz="4400" b="1">
                  <a:solidFill>
                    <a:srgbClr val="009900"/>
                  </a:solidFill>
                  <a:cs typeface="Arial" pitchFamily="34" charset="0"/>
                </a:endParaRPr>
              </a:p>
            </p:txBody>
          </p:sp>
          <p:sp>
            <p:nvSpPr>
              <p:cNvPr id="14368" name="Oval 59"/>
              <p:cNvSpPr>
                <a:spLocks noChangeArrowheads="1"/>
              </p:cNvSpPr>
              <p:nvPr/>
            </p:nvSpPr>
            <p:spPr bwMode="auto">
              <a:xfrm>
                <a:off x="3728" y="1409"/>
                <a:ext cx="921" cy="1157"/>
              </a:xfrm>
              <a:prstGeom prst="ellipse">
                <a:avLst/>
              </a:prstGeom>
              <a:solidFill>
                <a:schemeClr val="bg1">
                  <a:alpha val="78038"/>
                </a:schemeClr>
              </a:solidFill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sz="4400" b="1">
                    <a:solidFill>
                      <a:srgbClr val="009900"/>
                    </a:solidFill>
                    <a:cs typeface="Arial" pitchFamily="34" charset="0"/>
                  </a:rPr>
                  <a:t>M</a:t>
                </a:r>
                <a:endParaRPr lang="en-US" sz="4400" b="1">
                  <a:solidFill>
                    <a:srgbClr val="009900"/>
                  </a:solidFill>
                  <a:cs typeface="Arial" pitchFamily="34" charset="0"/>
                </a:endParaRPr>
              </a:p>
            </p:txBody>
          </p:sp>
          <p:sp>
            <p:nvSpPr>
              <p:cNvPr id="14369" name="Oval 60"/>
              <p:cNvSpPr>
                <a:spLocks noChangeArrowheads="1"/>
              </p:cNvSpPr>
              <p:nvPr/>
            </p:nvSpPr>
            <p:spPr bwMode="auto">
              <a:xfrm>
                <a:off x="3878" y="981"/>
                <a:ext cx="1160" cy="832"/>
              </a:xfrm>
              <a:prstGeom prst="ellipse">
                <a:avLst/>
              </a:prstGeom>
              <a:solidFill>
                <a:schemeClr val="bg1">
                  <a:alpha val="78038"/>
                </a:schemeClr>
              </a:solidFill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sz="4400" b="1">
                    <a:solidFill>
                      <a:srgbClr val="009900"/>
                    </a:solidFill>
                    <a:cs typeface="Arial" pitchFamily="34" charset="0"/>
                  </a:rPr>
                  <a:t>P</a:t>
                </a:r>
                <a:endParaRPr lang="en-US" sz="4400" b="1">
                  <a:solidFill>
                    <a:srgbClr val="009900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98365" name="Group 61"/>
          <p:cNvGrpSpPr>
            <a:grpSpLocks/>
          </p:cNvGrpSpPr>
          <p:nvPr/>
        </p:nvGrpSpPr>
        <p:grpSpPr bwMode="auto">
          <a:xfrm>
            <a:off x="3909219" y="857250"/>
            <a:ext cx="5110162" cy="5902325"/>
            <a:chOff x="2541" y="602"/>
            <a:chExt cx="3219" cy="3718"/>
          </a:xfrm>
        </p:grpSpPr>
        <p:sp>
          <p:nvSpPr>
            <p:cNvPr id="14354" name="Rectangle 62"/>
            <p:cNvSpPr>
              <a:spLocks noChangeArrowheads="1"/>
            </p:cNvSpPr>
            <p:nvPr/>
          </p:nvSpPr>
          <p:spPr bwMode="auto">
            <a:xfrm>
              <a:off x="2541" y="602"/>
              <a:ext cx="3219" cy="371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pic>
          <p:nvPicPr>
            <p:cNvPr id="14355" name="Picture 6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283" y="1488"/>
              <a:ext cx="1606" cy="1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8368" name="Picture 64" descr="Picture 1"/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" t="1909" r="74103" b="81854"/>
          <a:stretch>
            <a:fillRect/>
          </a:stretch>
        </p:blipFill>
        <p:spPr bwMode="auto">
          <a:xfrm>
            <a:off x="4494213" y="1982788"/>
            <a:ext cx="1349375" cy="95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>
                <a:alpha val="93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69" name="Picture 65" descr="Picture 1"/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" t="65054" r="74103" b="19273"/>
          <a:stretch>
            <a:fillRect/>
          </a:stretch>
        </p:blipFill>
        <p:spPr bwMode="auto">
          <a:xfrm>
            <a:off x="4556125" y="4046538"/>
            <a:ext cx="13493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>
                <a:alpha val="93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70" name="Picture 66" descr="Picture 1"/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61" t="64891" r="2777" b="19463"/>
          <a:stretch>
            <a:fillRect/>
          </a:stretch>
        </p:blipFill>
        <p:spPr bwMode="auto">
          <a:xfrm>
            <a:off x="6142038" y="4487863"/>
            <a:ext cx="1325562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>
                <a:alpha val="93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71" name="Picture 67" descr="Picture 1"/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0" t="1747" r="2344" b="82312"/>
          <a:stretch>
            <a:fillRect/>
          </a:stretch>
        </p:blipFill>
        <p:spPr bwMode="auto">
          <a:xfrm>
            <a:off x="7219950" y="1963738"/>
            <a:ext cx="1331913" cy="9413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>
                <a:alpha val="93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72" name="Picture 68" descr="Picture 1"/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4" t="64865" r="38252" b="19087"/>
          <a:stretch>
            <a:fillRect/>
          </a:stretch>
        </p:blipFill>
        <p:spPr bwMode="auto">
          <a:xfrm>
            <a:off x="7551738" y="3859213"/>
            <a:ext cx="1349375" cy="9477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>
                <a:alpha val="93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373" name="Rectangle 69"/>
          <p:cNvSpPr>
            <a:spLocks noChangeArrowheads="1"/>
          </p:cNvSpPr>
          <p:nvPr/>
        </p:nvSpPr>
        <p:spPr bwMode="auto">
          <a:xfrm>
            <a:off x="6156325" y="5516563"/>
            <a:ext cx="1371600" cy="568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US" sz="1100" i="1"/>
              <a:t>Choice criteria in order of importance.</a:t>
            </a:r>
            <a:endParaRPr lang="en-US" sz="1100" b="1" i="1"/>
          </a:p>
        </p:txBody>
      </p:sp>
      <p:sp>
        <p:nvSpPr>
          <p:cNvPr id="98313" name="AutoShape 9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73988" y="6237312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6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9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8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9"/>
          <p:cNvSpPr>
            <a:spLocks noChangeArrowheads="1"/>
          </p:cNvSpPr>
          <p:nvPr/>
        </p:nvSpPr>
        <p:spPr bwMode="auto">
          <a:xfrm>
            <a:off x="5715000" y="4114800"/>
            <a:ext cx="3095625" cy="2301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5363" name="Rectangle 27"/>
          <p:cNvSpPr>
            <a:spLocks noChangeArrowheads="1"/>
          </p:cNvSpPr>
          <p:nvPr/>
        </p:nvSpPr>
        <p:spPr bwMode="auto">
          <a:xfrm>
            <a:off x="5715000" y="1651000"/>
            <a:ext cx="3095625" cy="2301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5364" name="Group 3"/>
          <p:cNvGrpSpPr>
            <a:grpSpLocks/>
          </p:cNvGrpSpPr>
          <p:nvPr/>
        </p:nvGrpSpPr>
        <p:grpSpPr bwMode="auto">
          <a:xfrm>
            <a:off x="604838" y="1628775"/>
            <a:ext cx="4814887" cy="4848225"/>
            <a:chOff x="381" y="1026"/>
            <a:chExt cx="4707" cy="2208"/>
          </a:xfrm>
        </p:grpSpPr>
        <p:sp>
          <p:nvSpPr>
            <p:cNvPr id="15387" name="Line 4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388" name="Line 5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2406" name="AutoShape 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970044" y="6296818"/>
            <a:ext cx="1008062" cy="3603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1907137" y="455712"/>
            <a:ext cx="5191125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CHAPTER 3</a:t>
            </a:r>
          </a:p>
        </p:txBody>
      </p:sp>
      <p:sp>
        <p:nvSpPr>
          <p:cNvPr id="15367" name="Rectangle 10"/>
          <p:cNvSpPr>
            <a:spLocks noChangeArrowheads="1"/>
          </p:cNvSpPr>
          <p:nvPr/>
        </p:nvSpPr>
        <p:spPr bwMode="auto">
          <a:xfrm>
            <a:off x="630480" y="1320998"/>
            <a:ext cx="66103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rgbClr val="00AEC6"/>
                </a:solidFill>
              </a:rPr>
              <a:t>Customer behaviour</a:t>
            </a:r>
            <a:endParaRPr lang="en-GB" sz="2000" i="1" dirty="0">
              <a:solidFill>
                <a:srgbClr val="00AEC6"/>
              </a:solidFill>
            </a:endParaRPr>
          </a:p>
        </p:txBody>
      </p:sp>
      <p:pic>
        <p:nvPicPr>
          <p:cNvPr id="15368" name="Picture 19" descr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9" b="2620"/>
          <a:stretch>
            <a:fillRect/>
          </a:stretch>
        </p:blipFill>
        <p:spPr bwMode="auto">
          <a:xfrm>
            <a:off x="0" y="0"/>
            <a:ext cx="161448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Rectangle 23"/>
          <p:cNvSpPr>
            <a:spLocks noChangeArrowheads="1"/>
          </p:cNvSpPr>
          <p:nvPr/>
        </p:nvSpPr>
        <p:spPr bwMode="auto">
          <a:xfrm>
            <a:off x="652463" y="1757363"/>
            <a:ext cx="4376737" cy="85248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How do customers choose between the alternatives they have?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Customers typically choose based on their </a:t>
            </a:r>
            <a:r>
              <a:rPr lang="en-GB" sz="1100" b="1" dirty="0"/>
              <a:t>needs and preferences </a:t>
            </a:r>
            <a:r>
              <a:rPr lang="en-GB" sz="1100" dirty="0"/>
              <a:t>on one hand, </a:t>
            </a:r>
            <a:r>
              <a:rPr lang="en-GB" sz="1100" dirty="0" smtClean="0"/>
              <a:t>and </a:t>
            </a:r>
            <a:r>
              <a:rPr lang="en-GB" sz="1100" dirty="0"/>
              <a:t>on the other,  how they </a:t>
            </a:r>
            <a:r>
              <a:rPr lang="en-GB" sz="1100" b="1" dirty="0"/>
              <a:t>perceive the alternatives</a:t>
            </a:r>
            <a:r>
              <a:rPr lang="en-GB" sz="1100" dirty="0"/>
              <a:t>.</a:t>
            </a:r>
          </a:p>
        </p:txBody>
      </p:sp>
      <p:sp>
        <p:nvSpPr>
          <p:cNvPr id="102425" name="Rectangle 25"/>
          <p:cNvSpPr>
            <a:spLocks noChangeArrowheads="1"/>
          </p:cNvSpPr>
          <p:nvPr/>
        </p:nvSpPr>
        <p:spPr bwMode="auto">
          <a:xfrm>
            <a:off x="652463" y="2719388"/>
            <a:ext cx="3843337" cy="9382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500" b="1" dirty="0">
                <a:solidFill>
                  <a:srgbClr val="00AEC6"/>
                </a:solidFill>
              </a:rPr>
              <a:t>In this chapter</a:t>
            </a:r>
            <a:r>
              <a:rPr lang="en-GB" sz="1500" dirty="0">
                <a:solidFill>
                  <a:schemeClr val="bg1"/>
                </a:solidFill>
              </a:rPr>
              <a:t>…</a:t>
            </a:r>
            <a:endParaRPr lang="en-GB" sz="11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1100" dirty="0"/>
              <a:t>… we will illustrate how the customers’ </a:t>
            </a:r>
            <a:r>
              <a:rPr lang="en-GB" sz="1100" b="1" dirty="0"/>
              <a:t>purchase behaviour </a:t>
            </a:r>
            <a:r>
              <a:rPr lang="en-GB" sz="1100" dirty="0"/>
              <a:t>works in the simulation.</a:t>
            </a:r>
          </a:p>
        </p:txBody>
      </p:sp>
      <p:pic>
        <p:nvPicPr>
          <p:cNvPr id="15371" name="Picture 28" descr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6" t="16956" r="616" b="798"/>
          <a:stretch>
            <a:fillRect/>
          </a:stretch>
        </p:blipFill>
        <p:spPr bwMode="auto">
          <a:xfrm>
            <a:off x="5838825" y="4221088"/>
            <a:ext cx="2854325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33" descr="LG p8 mw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63" y="1781175"/>
            <a:ext cx="1316037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3" name="Rectangle 34"/>
          <p:cNvSpPr>
            <a:spLocks noChangeArrowheads="1"/>
          </p:cNvSpPr>
          <p:nvPr/>
        </p:nvSpPr>
        <p:spPr bwMode="auto">
          <a:xfrm>
            <a:off x="7378700" y="1771650"/>
            <a:ext cx="1308100" cy="606425"/>
          </a:xfrm>
          <a:prstGeom prst="rect">
            <a:avLst/>
          </a:prstGeom>
          <a:solidFill>
            <a:srgbClr val="EFE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pic>
        <p:nvPicPr>
          <p:cNvPr id="15374" name="Picture 37" descr="LG p8 Alpha"/>
          <p:cNvPicPr>
            <a:picLocks noChangeAspect="1" noChangeArrowheads="1"/>
          </p:cNvPicPr>
          <p:nvPr/>
        </p:nvPicPr>
        <p:blipFill>
          <a:blip r:embed="rId6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0" y="1822450"/>
            <a:ext cx="500063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5" name="Rectangle 40"/>
          <p:cNvSpPr>
            <a:spLocks noChangeArrowheads="1"/>
          </p:cNvSpPr>
          <p:nvPr/>
        </p:nvSpPr>
        <p:spPr bwMode="auto">
          <a:xfrm>
            <a:off x="7467600" y="1814513"/>
            <a:ext cx="78263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GB" sz="1100" b="1"/>
              <a:t>Alpha </a:t>
            </a:r>
          </a:p>
        </p:txBody>
      </p:sp>
      <p:sp>
        <p:nvSpPr>
          <p:cNvPr id="15376" name="Rectangle 35"/>
          <p:cNvSpPr>
            <a:spLocks noChangeArrowheads="1"/>
          </p:cNvSpPr>
          <p:nvPr/>
        </p:nvSpPr>
        <p:spPr bwMode="auto">
          <a:xfrm>
            <a:off x="7378700" y="2487613"/>
            <a:ext cx="1308100" cy="604837"/>
          </a:xfrm>
          <a:prstGeom prst="rect">
            <a:avLst/>
          </a:prstGeom>
          <a:solidFill>
            <a:srgbClr val="EFE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pic>
        <p:nvPicPr>
          <p:cNvPr id="15377" name="Picture 38" descr="LG p8 Beta"/>
          <p:cNvPicPr>
            <a:picLocks noChangeAspect="1" noChangeArrowheads="1"/>
          </p:cNvPicPr>
          <p:nvPr/>
        </p:nvPicPr>
        <p:blipFill>
          <a:blip r:embed="rId7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0" y="2535238"/>
            <a:ext cx="5000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8" name="Rectangle 41"/>
          <p:cNvSpPr>
            <a:spLocks noChangeArrowheads="1"/>
          </p:cNvSpPr>
          <p:nvPr/>
        </p:nvSpPr>
        <p:spPr bwMode="auto">
          <a:xfrm>
            <a:off x="7467600" y="2535238"/>
            <a:ext cx="78263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GB" sz="1100" b="1"/>
              <a:t>Beta</a:t>
            </a:r>
          </a:p>
        </p:txBody>
      </p:sp>
      <p:sp>
        <p:nvSpPr>
          <p:cNvPr id="15379" name="Rectangle 36"/>
          <p:cNvSpPr>
            <a:spLocks noChangeArrowheads="1"/>
          </p:cNvSpPr>
          <p:nvPr/>
        </p:nvSpPr>
        <p:spPr bwMode="auto">
          <a:xfrm>
            <a:off x="7378700" y="3203575"/>
            <a:ext cx="1308100" cy="606425"/>
          </a:xfrm>
          <a:prstGeom prst="rect">
            <a:avLst/>
          </a:prstGeom>
          <a:solidFill>
            <a:srgbClr val="EFEF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pic>
        <p:nvPicPr>
          <p:cNvPr id="15380" name="Picture 39" descr="LG p8 Gamma"/>
          <p:cNvPicPr>
            <a:picLocks noChangeAspect="1" noChangeArrowheads="1"/>
          </p:cNvPicPr>
          <p:nvPr/>
        </p:nvPicPr>
        <p:blipFill>
          <a:blip r:embed="rId8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950" y="3243263"/>
            <a:ext cx="5016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1" name="Rectangle 42"/>
          <p:cNvSpPr>
            <a:spLocks noChangeArrowheads="1"/>
          </p:cNvSpPr>
          <p:nvPr/>
        </p:nvSpPr>
        <p:spPr bwMode="auto">
          <a:xfrm>
            <a:off x="7467600" y="3243263"/>
            <a:ext cx="78263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GB" sz="1100" b="1"/>
              <a:t>Gamma</a:t>
            </a:r>
          </a:p>
        </p:txBody>
      </p:sp>
      <p:grpSp>
        <p:nvGrpSpPr>
          <p:cNvPr id="102452" name="Group 52"/>
          <p:cNvGrpSpPr>
            <a:grpSpLocks/>
          </p:cNvGrpSpPr>
          <p:nvPr/>
        </p:nvGrpSpPr>
        <p:grpSpPr bwMode="auto">
          <a:xfrm>
            <a:off x="3581400" y="4311650"/>
            <a:ext cx="1905000" cy="1917700"/>
            <a:chOff x="2256" y="2716"/>
            <a:chExt cx="1200" cy="1208"/>
          </a:xfrm>
        </p:grpSpPr>
        <p:sp>
          <p:nvSpPr>
            <p:cNvPr id="15383" name="Rectangle 24"/>
            <p:cNvSpPr>
              <a:spLocks noChangeArrowheads="1"/>
            </p:cNvSpPr>
            <p:nvPr/>
          </p:nvSpPr>
          <p:spPr bwMode="auto">
            <a:xfrm>
              <a:off x="2266" y="2716"/>
              <a:ext cx="1190" cy="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i="1" dirty="0"/>
                <a:t>We got three proposals… Which one should we go for?</a:t>
              </a:r>
              <a:endParaRPr lang="en-GB" sz="1100" dirty="0"/>
            </a:p>
          </p:txBody>
        </p:sp>
        <p:pic>
          <p:nvPicPr>
            <p:cNvPr id="15384" name="Picture 30" descr="Picture 6"/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12000" contras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61"/>
            <a:stretch>
              <a:fillRect/>
            </a:stretch>
          </p:blipFill>
          <p:spPr bwMode="auto">
            <a:xfrm>
              <a:off x="2256" y="3009"/>
              <a:ext cx="1200" cy="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5" name="Line 50"/>
            <p:cNvSpPr>
              <a:spLocks noChangeShapeType="1"/>
            </p:cNvSpPr>
            <p:nvPr/>
          </p:nvSpPr>
          <p:spPr bwMode="auto">
            <a:xfrm>
              <a:off x="2266" y="2976"/>
              <a:ext cx="114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6" name="Line 51"/>
            <p:cNvSpPr>
              <a:spLocks noChangeShapeType="1"/>
            </p:cNvSpPr>
            <p:nvPr/>
          </p:nvSpPr>
          <p:spPr bwMode="auto">
            <a:xfrm flipV="1">
              <a:off x="2592" y="2976"/>
              <a:ext cx="240" cy="19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Connector 2"/>
          <p:cNvCxnSpPr/>
          <p:nvPr/>
        </p:nvCxnSpPr>
        <p:spPr bwMode="auto">
          <a:xfrm>
            <a:off x="0" y="1120775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AEC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6" grpId="0" animBg="1"/>
      <p:bldP spid="1024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11188" y="838200"/>
            <a:ext cx="3052762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EXAMPLE</a:t>
            </a:r>
          </a:p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The basic rule: </a:t>
            </a:r>
            <a:r>
              <a:rPr lang="en-GB" sz="1100" dirty="0"/>
              <a:t>A customer will choose the offer that best meet the their needs and preferences</a:t>
            </a:r>
            <a:r>
              <a:rPr lang="en-GB" sz="1100" dirty="0">
                <a:solidFill>
                  <a:schemeClr val="bg1"/>
                </a:solidFill>
              </a:rPr>
              <a:t>, in order of importance.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609600" y="5715000"/>
            <a:ext cx="4724400" cy="2190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200" b="1" dirty="0"/>
              <a:t>Next we will show you how this works in the simulation</a:t>
            </a:r>
            <a:r>
              <a:rPr lang="en-GB" sz="1200" dirty="0"/>
              <a:t>.</a:t>
            </a:r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604838" y="1628775"/>
            <a:ext cx="7472362" cy="3933825"/>
            <a:chOff x="381" y="1152"/>
            <a:chExt cx="1539" cy="2208"/>
          </a:xfrm>
        </p:grpSpPr>
        <p:sp>
          <p:nvSpPr>
            <p:cNvPr id="16427" name="Line 5"/>
            <p:cNvSpPr>
              <a:spLocks noChangeShapeType="1"/>
            </p:cNvSpPr>
            <p:nvPr/>
          </p:nvSpPr>
          <p:spPr bwMode="auto">
            <a:xfrm>
              <a:off x="381" y="1152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8" name="Line 6"/>
            <p:cNvSpPr>
              <a:spLocks noChangeShapeType="1"/>
            </p:cNvSpPr>
            <p:nvPr/>
          </p:nvSpPr>
          <p:spPr bwMode="auto">
            <a:xfrm>
              <a:off x="381" y="3360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604838" y="304800"/>
            <a:ext cx="51101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3. Customer behaviour – in general</a:t>
            </a:r>
          </a:p>
        </p:txBody>
      </p:sp>
      <p:grpSp>
        <p:nvGrpSpPr>
          <p:cNvPr id="66568" name="Group 8"/>
          <p:cNvGrpSpPr>
            <a:grpSpLocks/>
          </p:cNvGrpSpPr>
          <p:nvPr/>
        </p:nvGrpSpPr>
        <p:grpSpPr bwMode="auto">
          <a:xfrm>
            <a:off x="609600" y="1700213"/>
            <a:ext cx="3276600" cy="3733800"/>
            <a:chOff x="384" y="1104"/>
            <a:chExt cx="2064" cy="2352"/>
          </a:xfrm>
        </p:grpSpPr>
        <p:sp>
          <p:nvSpPr>
            <p:cNvPr id="16425" name="Rectangle 9"/>
            <p:cNvSpPr>
              <a:spLocks noChangeArrowheads="1"/>
            </p:cNvSpPr>
            <p:nvPr/>
          </p:nvSpPr>
          <p:spPr bwMode="auto">
            <a:xfrm>
              <a:off x="384" y="1104"/>
              <a:ext cx="2064" cy="235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6426" name="Rectangle 10"/>
            <p:cNvSpPr>
              <a:spLocks noChangeArrowheads="1"/>
            </p:cNvSpPr>
            <p:nvPr/>
          </p:nvSpPr>
          <p:spPr bwMode="auto">
            <a:xfrm>
              <a:off x="480" y="1180"/>
              <a:ext cx="1776" cy="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This is a common way of illustrating customers’ needs and preferences and their relative importance:</a:t>
              </a:r>
            </a:p>
          </p:txBody>
        </p:sp>
      </p:grpSp>
      <p:pic>
        <p:nvPicPr>
          <p:cNvPr id="66571" name="Picture 11" descr="LG p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2773363"/>
            <a:ext cx="1427163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72" name="Picture 12" descr="LG 8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773363"/>
            <a:ext cx="1417638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6573" name="Group 13"/>
          <p:cNvGrpSpPr>
            <a:grpSpLocks/>
          </p:cNvGrpSpPr>
          <p:nvPr/>
        </p:nvGrpSpPr>
        <p:grpSpPr bwMode="auto">
          <a:xfrm>
            <a:off x="533400" y="2636838"/>
            <a:ext cx="3244850" cy="1730375"/>
            <a:chOff x="336" y="1838"/>
            <a:chExt cx="2044" cy="1090"/>
          </a:xfrm>
        </p:grpSpPr>
        <p:sp>
          <p:nvSpPr>
            <p:cNvPr id="16417" name="Rectangle 14"/>
            <p:cNvSpPr>
              <a:spLocks noChangeArrowheads="1"/>
            </p:cNvSpPr>
            <p:nvPr/>
          </p:nvSpPr>
          <p:spPr bwMode="auto">
            <a:xfrm>
              <a:off x="1632" y="2822"/>
              <a:ext cx="548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GB" sz="1100">
                  <a:solidFill>
                    <a:srgbClr val="004080"/>
                  </a:solidFill>
                </a:rPr>
                <a:t>Skilled people</a:t>
              </a:r>
            </a:p>
          </p:txBody>
        </p:sp>
        <p:sp>
          <p:nvSpPr>
            <p:cNvPr id="16418" name="Rectangle 15"/>
            <p:cNvSpPr>
              <a:spLocks noChangeArrowheads="1"/>
            </p:cNvSpPr>
            <p:nvPr/>
          </p:nvSpPr>
          <p:spPr bwMode="auto">
            <a:xfrm>
              <a:off x="336" y="2514"/>
              <a:ext cx="5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GB" sz="1100">
                  <a:solidFill>
                    <a:srgbClr val="004080"/>
                  </a:solidFill>
                </a:rPr>
                <a:t>Brand strength</a:t>
              </a:r>
            </a:p>
          </p:txBody>
        </p:sp>
        <p:sp>
          <p:nvSpPr>
            <p:cNvPr id="16419" name="Rectangle 16"/>
            <p:cNvSpPr>
              <a:spLocks noChangeArrowheads="1"/>
            </p:cNvSpPr>
            <p:nvPr/>
          </p:nvSpPr>
          <p:spPr bwMode="auto">
            <a:xfrm>
              <a:off x="602" y="2815"/>
              <a:ext cx="739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GB" sz="1100">
                  <a:solidFill>
                    <a:srgbClr val="004080"/>
                  </a:solidFill>
                </a:rPr>
                <a:t>Efficient processes</a:t>
              </a:r>
            </a:p>
          </p:txBody>
        </p:sp>
        <p:sp>
          <p:nvSpPr>
            <p:cNvPr id="16420" name="Rectangle 17"/>
            <p:cNvSpPr>
              <a:spLocks noChangeArrowheads="1"/>
            </p:cNvSpPr>
            <p:nvPr/>
          </p:nvSpPr>
          <p:spPr bwMode="auto">
            <a:xfrm>
              <a:off x="1831" y="2136"/>
              <a:ext cx="4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100">
                  <a:solidFill>
                    <a:srgbClr val="004080"/>
                  </a:solidFill>
                </a:rPr>
                <a:t> Delivery </a:t>
              </a:r>
            </a:p>
            <a:p>
              <a:r>
                <a:rPr lang="en-GB" sz="1100">
                  <a:solidFill>
                    <a:srgbClr val="004080"/>
                  </a:solidFill>
                </a:rPr>
                <a:t>  excellence</a:t>
              </a:r>
            </a:p>
          </p:txBody>
        </p:sp>
        <p:sp>
          <p:nvSpPr>
            <p:cNvPr id="16421" name="Rectangle 18"/>
            <p:cNvSpPr>
              <a:spLocks noChangeArrowheads="1"/>
            </p:cNvSpPr>
            <p:nvPr/>
          </p:nvSpPr>
          <p:spPr bwMode="auto">
            <a:xfrm>
              <a:off x="1542" y="1838"/>
              <a:ext cx="577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100">
                  <a:solidFill>
                    <a:srgbClr val="004080"/>
                  </a:solidFill>
                </a:rPr>
                <a:t>Basic products</a:t>
              </a:r>
            </a:p>
          </p:txBody>
        </p:sp>
        <p:sp>
          <p:nvSpPr>
            <p:cNvPr id="16422" name="Rectangle 19"/>
            <p:cNvSpPr>
              <a:spLocks noChangeArrowheads="1"/>
            </p:cNvSpPr>
            <p:nvPr/>
          </p:nvSpPr>
          <p:spPr bwMode="auto">
            <a:xfrm>
              <a:off x="658" y="2146"/>
              <a:ext cx="200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sz="1100">
                  <a:solidFill>
                    <a:srgbClr val="004080"/>
                  </a:solidFill>
                </a:rPr>
                <a:t>Price</a:t>
              </a:r>
            </a:p>
          </p:txBody>
        </p:sp>
        <p:sp>
          <p:nvSpPr>
            <p:cNvPr id="16423" name="Rectangle 20"/>
            <p:cNvSpPr>
              <a:spLocks noChangeArrowheads="1"/>
            </p:cNvSpPr>
            <p:nvPr/>
          </p:nvSpPr>
          <p:spPr bwMode="auto">
            <a:xfrm>
              <a:off x="808" y="1838"/>
              <a:ext cx="553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GB" sz="1100">
                  <a:solidFill>
                    <a:srgbClr val="004080"/>
                  </a:solidFill>
                </a:rPr>
                <a:t>Service scope</a:t>
              </a:r>
            </a:p>
          </p:txBody>
        </p:sp>
        <p:sp>
          <p:nvSpPr>
            <p:cNvPr id="16424" name="Rectangle 21"/>
            <p:cNvSpPr>
              <a:spLocks noChangeArrowheads="1"/>
            </p:cNvSpPr>
            <p:nvPr/>
          </p:nvSpPr>
          <p:spPr bwMode="auto">
            <a:xfrm>
              <a:off x="1824" y="2514"/>
              <a:ext cx="556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100">
                  <a:solidFill>
                    <a:srgbClr val="004080"/>
                  </a:solidFill>
                </a:rPr>
                <a:t>Innovation</a:t>
              </a:r>
            </a:p>
          </p:txBody>
        </p:sp>
      </p:grpSp>
      <p:sp>
        <p:nvSpPr>
          <p:cNvPr id="66582" name="Line 22"/>
          <p:cNvSpPr>
            <a:spLocks noChangeShapeType="1"/>
          </p:cNvSpPr>
          <p:nvPr/>
        </p:nvSpPr>
        <p:spPr bwMode="auto">
          <a:xfrm>
            <a:off x="2057400" y="2438400"/>
            <a:ext cx="354013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762000" y="4621512"/>
            <a:ext cx="2882901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100" dirty="0"/>
              <a:t>And different customers have different needs profiles…</a:t>
            </a:r>
          </a:p>
        </p:txBody>
      </p:sp>
      <p:grpSp>
        <p:nvGrpSpPr>
          <p:cNvPr id="66584" name="Group 24"/>
          <p:cNvGrpSpPr>
            <a:grpSpLocks/>
          </p:cNvGrpSpPr>
          <p:nvPr/>
        </p:nvGrpSpPr>
        <p:grpSpPr bwMode="auto">
          <a:xfrm>
            <a:off x="3995738" y="1700213"/>
            <a:ext cx="4081462" cy="3733800"/>
            <a:chOff x="2517" y="1071"/>
            <a:chExt cx="2571" cy="2352"/>
          </a:xfrm>
        </p:grpSpPr>
        <p:sp>
          <p:nvSpPr>
            <p:cNvPr id="16403" name="Rectangle 25"/>
            <p:cNvSpPr>
              <a:spLocks noChangeArrowheads="1"/>
            </p:cNvSpPr>
            <p:nvPr/>
          </p:nvSpPr>
          <p:spPr bwMode="auto">
            <a:xfrm>
              <a:off x="2517" y="1071"/>
              <a:ext cx="2571" cy="235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pic>
          <p:nvPicPr>
            <p:cNvPr id="16404" name="Picture 26" descr="LG p8 mw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3" y="1218"/>
              <a:ext cx="1044" cy="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05" name="Rectangle 27"/>
            <p:cNvSpPr>
              <a:spLocks noChangeArrowheads="1"/>
            </p:cNvSpPr>
            <p:nvPr/>
          </p:nvSpPr>
          <p:spPr bwMode="auto">
            <a:xfrm>
              <a:off x="3913" y="1213"/>
              <a:ext cx="1008" cy="5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6406" name="Rectangle 28"/>
            <p:cNvSpPr>
              <a:spLocks noChangeArrowheads="1"/>
            </p:cNvSpPr>
            <p:nvPr/>
          </p:nvSpPr>
          <p:spPr bwMode="auto">
            <a:xfrm>
              <a:off x="3913" y="1774"/>
              <a:ext cx="1008" cy="5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6407" name="Rectangle 29"/>
            <p:cNvSpPr>
              <a:spLocks noChangeArrowheads="1"/>
            </p:cNvSpPr>
            <p:nvPr/>
          </p:nvSpPr>
          <p:spPr bwMode="auto">
            <a:xfrm>
              <a:off x="3913" y="2346"/>
              <a:ext cx="1008" cy="5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pic>
          <p:nvPicPr>
            <p:cNvPr id="16408" name="Picture 30" descr="LG p8 Alpha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3" y="1259"/>
              <a:ext cx="446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09" name="Picture 31" descr="LG p8 Beta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3" y="1817"/>
              <a:ext cx="446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0" name="Picture 32" descr="LG p8 Gamma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6" y="2382"/>
              <a:ext cx="446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1" name="Rectangle 33"/>
            <p:cNvSpPr>
              <a:spLocks noChangeArrowheads="1"/>
            </p:cNvSpPr>
            <p:nvPr/>
          </p:nvSpPr>
          <p:spPr bwMode="auto">
            <a:xfrm>
              <a:off x="3973" y="1251"/>
              <a:ext cx="373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100" b="1"/>
                <a:t>Alpha </a:t>
              </a:r>
            </a:p>
          </p:txBody>
        </p:sp>
        <p:sp>
          <p:nvSpPr>
            <p:cNvPr id="16412" name="Rectangle 34"/>
            <p:cNvSpPr>
              <a:spLocks noChangeArrowheads="1"/>
            </p:cNvSpPr>
            <p:nvPr/>
          </p:nvSpPr>
          <p:spPr bwMode="auto">
            <a:xfrm>
              <a:off x="3973" y="1816"/>
              <a:ext cx="373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100" b="1"/>
                <a:t>Beta</a:t>
              </a:r>
            </a:p>
          </p:txBody>
        </p:sp>
        <p:sp>
          <p:nvSpPr>
            <p:cNvPr id="16413" name="Rectangle 35"/>
            <p:cNvSpPr>
              <a:spLocks noChangeArrowheads="1"/>
            </p:cNvSpPr>
            <p:nvPr/>
          </p:nvSpPr>
          <p:spPr bwMode="auto">
            <a:xfrm>
              <a:off x="3973" y="2382"/>
              <a:ext cx="373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100" b="1"/>
                <a:t>Gamma</a:t>
              </a:r>
            </a:p>
          </p:txBody>
        </p:sp>
        <p:sp>
          <p:nvSpPr>
            <p:cNvPr id="16414" name="Rectangle 36"/>
            <p:cNvSpPr>
              <a:spLocks noChangeArrowheads="1"/>
            </p:cNvSpPr>
            <p:nvPr/>
          </p:nvSpPr>
          <p:spPr bwMode="auto">
            <a:xfrm>
              <a:off x="2654" y="3158"/>
              <a:ext cx="1814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200" b="1"/>
                <a:t>Where would they choose to go?</a:t>
              </a:r>
              <a:r>
                <a:rPr lang="en-GB" sz="1500"/>
                <a:t> </a:t>
              </a:r>
            </a:p>
          </p:txBody>
        </p:sp>
        <p:sp>
          <p:nvSpPr>
            <p:cNvPr id="16415" name="Rectangle 37"/>
            <p:cNvSpPr>
              <a:spLocks noChangeArrowheads="1"/>
            </p:cNvSpPr>
            <p:nvPr/>
          </p:nvSpPr>
          <p:spPr bwMode="auto">
            <a:xfrm>
              <a:off x="2653" y="2898"/>
              <a:ext cx="1252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100"/>
                <a:t>Two customers with different needs and preferences… </a:t>
              </a:r>
            </a:p>
          </p:txBody>
        </p:sp>
        <p:sp>
          <p:nvSpPr>
            <p:cNvPr id="16416" name="Rectangle 38"/>
            <p:cNvSpPr>
              <a:spLocks noChangeArrowheads="1"/>
            </p:cNvSpPr>
            <p:nvPr/>
          </p:nvSpPr>
          <p:spPr bwMode="auto">
            <a:xfrm>
              <a:off x="3919" y="2898"/>
              <a:ext cx="104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100"/>
                <a:t>This is how they perceive their alternatives. </a:t>
              </a:r>
            </a:p>
          </p:txBody>
        </p:sp>
      </p:grpSp>
      <p:sp>
        <p:nvSpPr>
          <p:cNvPr id="66599" name="AutoShape 39"/>
          <p:cNvSpPr>
            <a:spLocks noChangeArrowheads="1"/>
          </p:cNvSpPr>
          <p:nvPr/>
        </p:nvSpPr>
        <p:spPr bwMode="auto">
          <a:xfrm>
            <a:off x="6732240" y="5000009"/>
            <a:ext cx="863600" cy="309807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36000" anchor="ctr"/>
          <a:lstStyle/>
          <a:p>
            <a:pPr algn="ctr"/>
            <a:r>
              <a:rPr lang="sv-SE" sz="1200" b="1" i="1" dirty="0">
                <a:solidFill>
                  <a:srgbClr val="00AEC6"/>
                </a:solidFill>
              </a:rPr>
              <a:t>Show </a:t>
            </a:r>
            <a:r>
              <a:rPr lang="sv-SE" sz="1200" b="1" i="1" dirty="0" err="1">
                <a:solidFill>
                  <a:srgbClr val="00AEC6"/>
                </a:solidFill>
              </a:rPr>
              <a:t>me</a:t>
            </a:r>
            <a:endParaRPr lang="en-US" sz="1200" b="1" i="1" dirty="0">
              <a:solidFill>
                <a:srgbClr val="00AEC6"/>
              </a:solidFill>
            </a:endParaRPr>
          </a:p>
        </p:txBody>
      </p:sp>
      <p:sp>
        <p:nvSpPr>
          <p:cNvPr id="66600" name="Rectangle 40"/>
          <p:cNvSpPr>
            <a:spLocks noChangeArrowheads="1"/>
          </p:cNvSpPr>
          <p:nvPr/>
        </p:nvSpPr>
        <p:spPr bwMode="auto">
          <a:xfrm>
            <a:off x="5322888" y="2655888"/>
            <a:ext cx="5921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GB" sz="1300" b="1" dirty="0"/>
              <a:t>Alpha </a:t>
            </a:r>
          </a:p>
        </p:txBody>
      </p:sp>
      <p:sp>
        <p:nvSpPr>
          <p:cNvPr id="66601" name="Rectangle 41"/>
          <p:cNvSpPr>
            <a:spLocks noChangeArrowheads="1"/>
          </p:cNvSpPr>
          <p:nvPr/>
        </p:nvSpPr>
        <p:spPr bwMode="auto">
          <a:xfrm>
            <a:off x="4281488" y="2655888"/>
            <a:ext cx="688975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GB" sz="1300" b="1" dirty="0"/>
              <a:t>Gamma</a:t>
            </a:r>
          </a:p>
        </p:txBody>
      </p:sp>
      <p:sp>
        <p:nvSpPr>
          <p:cNvPr id="66602" name="AutoShape 42"/>
          <p:cNvSpPr>
            <a:spLocks noChangeArrowheads="1"/>
          </p:cNvSpPr>
          <p:nvPr/>
        </p:nvSpPr>
        <p:spPr bwMode="auto">
          <a:xfrm>
            <a:off x="4211638" y="5249007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66603" name="AutoShape 4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78561" y="6165304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66604" name="Rectangle 44"/>
          <p:cNvSpPr>
            <a:spLocks noChangeArrowheads="1"/>
          </p:cNvSpPr>
          <p:nvPr/>
        </p:nvSpPr>
        <p:spPr bwMode="auto">
          <a:xfrm>
            <a:off x="4067175" y="1725613"/>
            <a:ext cx="2046288" cy="83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spcAft>
                <a:spcPts val="600"/>
              </a:spcAft>
            </a:pPr>
            <a:r>
              <a:rPr lang="en-GB" sz="1200" b="1"/>
              <a:t>Best match of profiles</a:t>
            </a:r>
            <a:endParaRPr lang="en-GB" sz="1000"/>
          </a:p>
        </p:txBody>
      </p:sp>
      <p:sp>
        <p:nvSpPr>
          <p:cNvPr id="4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32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9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withGroup">
                            <p:stCondLst>
                              <p:cond delay="9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/>
      <p:bldP spid="66582" grpId="0" animBg="1"/>
      <p:bldP spid="66583" grpId="0" animBg="1"/>
      <p:bldP spid="66599" grpId="0" animBg="1"/>
      <p:bldP spid="66600" grpId="0"/>
      <p:bldP spid="66601" grpId="0"/>
      <p:bldP spid="66602" grpId="0" animBg="1"/>
      <p:bldP spid="66603" grpId="0" animBg="1"/>
      <p:bldP spid="6660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8"/>
          <p:cNvSpPr>
            <a:spLocks noChangeArrowheads="1"/>
          </p:cNvSpPr>
          <p:nvPr/>
        </p:nvSpPr>
        <p:spPr bwMode="auto">
          <a:xfrm>
            <a:off x="609600" y="981075"/>
            <a:ext cx="358140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This customer submitted a </a:t>
            </a:r>
            <a:r>
              <a:rPr lang="en-GB" sz="1100" b="1" dirty="0"/>
              <a:t>request for proposal</a:t>
            </a:r>
            <a:r>
              <a:rPr lang="en-GB" sz="1100" dirty="0"/>
              <a:t> (RFP).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They got proposals from three companies, Alpha, Gamma and Delta… Who will they choose, and why?</a:t>
            </a:r>
          </a:p>
        </p:txBody>
      </p:sp>
      <p:pic>
        <p:nvPicPr>
          <p:cNvPr id="35897" name="Picture 57" descr="Picture 4"/>
          <p:cNvPicPr>
            <a:picLocks noChangeAspect="1" noChangeArrowheads="1"/>
          </p:cNvPicPr>
          <p:nvPr/>
        </p:nvPicPr>
        <p:blipFill>
          <a:blip r:embed="rId3">
            <a:lum bright="-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64" t="2565" r="845" b="3674"/>
          <a:stretch>
            <a:fillRect/>
          </a:stretch>
        </p:blipFill>
        <p:spPr bwMode="auto">
          <a:xfrm>
            <a:off x="2809875" y="1666875"/>
            <a:ext cx="2819400" cy="338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96" name="Picture 56" descr="Picture 4"/>
          <p:cNvPicPr>
            <a:picLocks noChangeAspect="1" noChangeArrowheads="1"/>
          </p:cNvPicPr>
          <p:nvPr/>
        </p:nvPicPr>
        <p:blipFill>
          <a:blip r:embed="rId3">
            <a:lum bright="-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" t="2565" r="54236" b="3674"/>
          <a:stretch>
            <a:fillRect/>
          </a:stretch>
        </p:blipFill>
        <p:spPr bwMode="auto">
          <a:xfrm>
            <a:off x="608013" y="1666875"/>
            <a:ext cx="2211387" cy="338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609600" y="5205413"/>
            <a:ext cx="3162300" cy="10572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400" b="1" dirty="0">
                <a:solidFill>
                  <a:srgbClr val="00AEC6"/>
                </a:solidFill>
              </a:rPr>
              <a:t>Conclusion</a:t>
            </a:r>
            <a:r>
              <a:rPr lang="en-GB" sz="1400" b="1" dirty="0">
                <a:solidFill>
                  <a:srgbClr val="F7FB2E"/>
                </a:solidFill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Knowing your targeted </a:t>
            </a:r>
            <a:r>
              <a:rPr lang="en-GB" sz="1100" b="1" dirty="0"/>
              <a:t>customers</a:t>
            </a:r>
            <a:r>
              <a:rPr lang="en-GB" sz="1100" dirty="0"/>
              <a:t>’ needs and preferences is necessary but not sufficient…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You also need to closely watch your </a:t>
            </a:r>
            <a:r>
              <a:rPr lang="en-GB" sz="1100" b="1" dirty="0"/>
              <a:t>competitors</a:t>
            </a:r>
            <a:r>
              <a:rPr lang="en-GB" sz="1100" dirty="0"/>
              <a:t>.</a:t>
            </a:r>
          </a:p>
        </p:txBody>
      </p:sp>
      <p:grpSp>
        <p:nvGrpSpPr>
          <p:cNvPr id="17414" name="Group 5"/>
          <p:cNvGrpSpPr>
            <a:grpSpLocks/>
          </p:cNvGrpSpPr>
          <p:nvPr/>
        </p:nvGrpSpPr>
        <p:grpSpPr bwMode="auto">
          <a:xfrm>
            <a:off x="604838" y="1628775"/>
            <a:ext cx="7472362" cy="3505200"/>
            <a:chOff x="381" y="1152"/>
            <a:chExt cx="1539" cy="2208"/>
          </a:xfrm>
        </p:grpSpPr>
        <p:sp>
          <p:nvSpPr>
            <p:cNvPr id="17470" name="Line 6"/>
            <p:cNvSpPr>
              <a:spLocks noChangeShapeType="1"/>
            </p:cNvSpPr>
            <p:nvPr/>
          </p:nvSpPr>
          <p:spPr bwMode="auto">
            <a:xfrm>
              <a:off x="381" y="1152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71" name="Line 7"/>
            <p:cNvSpPr>
              <a:spLocks noChangeShapeType="1"/>
            </p:cNvSpPr>
            <p:nvPr/>
          </p:nvSpPr>
          <p:spPr bwMode="auto">
            <a:xfrm>
              <a:off x="381" y="3360"/>
              <a:ext cx="153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415" name="Rectangle 9"/>
          <p:cNvSpPr>
            <a:spLocks noChangeArrowheads="1"/>
          </p:cNvSpPr>
          <p:nvPr/>
        </p:nvSpPr>
        <p:spPr bwMode="auto">
          <a:xfrm>
            <a:off x="604838" y="304800"/>
            <a:ext cx="6557962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3. Customer behaviour – in the simulation</a:t>
            </a:r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5715000" y="2133600"/>
            <a:ext cx="236220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1. Primary needs</a:t>
            </a:r>
            <a:r>
              <a:rPr lang="en-GB" sz="1100" dirty="0">
                <a:solidFill>
                  <a:srgbClr val="00AEC6"/>
                </a:solidFill>
              </a:rPr>
              <a:t> </a:t>
            </a:r>
            <a:r>
              <a:rPr lang="en-GB" sz="1100" dirty="0"/>
              <a:t>(red)</a:t>
            </a:r>
            <a:br>
              <a:rPr lang="en-GB" sz="1100" dirty="0"/>
            </a:br>
            <a:r>
              <a:rPr lang="en-GB" sz="1100" dirty="0"/>
              <a:t>All three companies meet these needs. It is a tie.</a:t>
            </a: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715000" y="2824163"/>
            <a:ext cx="2362200" cy="67710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2. People</a:t>
            </a:r>
            <a:r>
              <a:rPr lang="en-GB" sz="1100" dirty="0"/>
              <a:t/>
            </a:r>
            <a:br>
              <a:rPr lang="en-GB" sz="1100" dirty="0"/>
            </a:br>
            <a:r>
              <a:rPr lang="en-GB" sz="1100" dirty="0"/>
              <a:t>Alpha and Delta both have three stars. Gamma has only two stars and is thus excluded.</a:t>
            </a:r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5715000" y="3684588"/>
            <a:ext cx="236220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3. Price</a:t>
            </a:r>
            <a:r>
              <a:rPr lang="en-GB" sz="1100" dirty="0"/>
              <a:t/>
            </a:r>
            <a:br>
              <a:rPr lang="en-GB" sz="1100" dirty="0"/>
            </a:br>
            <a:r>
              <a:rPr lang="en-GB" sz="1100" dirty="0"/>
              <a:t>The two competitors left, Alpha and Delta, have the same price. It is a tie.</a:t>
            </a:r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5715000" y="4376738"/>
            <a:ext cx="2362200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4. Processes</a:t>
            </a:r>
            <a:r>
              <a:rPr lang="en-GB" sz="1100" dirty="0">
                <a:solidFill>
                  <a:srgbClr val="00AEC6"/>
                </a:solidFill>
              </a:rPr>
              <a:t/>
            </a:r>
            <a:br>
              <a:rPr lang="en-GB" sz="1100" dirty="0">
                <a:solidFill>
                  <a:srgbClr val="00AEC6"/>
                </a:solidFill>
              </a:rPr>
            </a:br>
            <a:r>
              <a:rPr lang="en-GB" sz="1100" dirty="0"/>
              <a:t>Alpha has better performance than Delta and wins the order.</a:t>
            </a:r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5715000" y="1847850"/>
            <a:ext cx="2362200" cy="16927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HOW THIS CUSTOMER DECIDES:</a:t>
            </a:r>
          </a:p>
        </p:txBody>
      </p:sp>
      <p:grpSp>
        <p:nvGrpSpPr>
          <p:cNvPr id="35856" name="Group 16"/>
          <p:cNvGrpSpPr>
            <a:grpSpLocks/>
          </p:cNvGrpSpPr>
          <p:nvPr/>
        </p:nvGrpSpPr>
        <p:grpSpPr bwMode="auto">
          <a:xfrm>
            <a:off x="684213" y="2351088"/>
            <a:ext cx="4183062" cy="2249487"/>
            <a:chOff x="431" y="1490"/>
            <a:chExt cx="2635" cy="1399"/>
          </a:xfrm>
        </p:grpSpPr>
        <p:sp>
          <p:nvSpPr>
            <p:cNvPr id="17465" name="Rectangle 17"/>
            <p:cNvSpPr>
              <a:spLocks noChangeArrowheads="1"/>
            </p:cNvSpPr>
            <p:nvPr/>
          </p:nvSpPr>
          <p:spPr bwMode="auto">
            <a:xfrm>
              <a:off x="431" y="2251"/>
              <a:ext cx="1270" cy="136"/>
            </a:xfrm>
            <a:prstGeom prst="rect">
              <a:avLst/>
            </a:prstGeom>
            <a:noFill/>
            <a:ln w="28575">
              <a:solidFill>
                <a:srgbClr val="CE2C1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7466" name="AutoShape 18"/>
            <p:cNvSpPr>
              <a:spLocks noChangeArrowheads="1"/>
            </p:cNvSpPr>
            <p:nvPr/>
          </p:nvSpPr>
          <p:spPr bwMode="auto">
            <a:xfrm>
              <a:off x="567" y="1546"/>
              <a:ext cx="680" cy="227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CE2C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7467" name="AutoShape 19"/>
            <p:cNvSpPr>
              <a:spLocks noChangeArrowheads="1"/>
            </p:cNvSpPr>
            <p:nvPr/>
          </p:nvSpPr>
          <p:spPr bwMode="auto">
            <a:xfrm>
              <a:off x="2371" y="1490"/>
              <a:ext cx="690" cy="227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CE2C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7468" name="AutoShape 20"/>
            <p:cNvSpPr>
              <a:spLocks noChangeArrowheads="1"/>
            </p:cNvSpPr>
            <p:nvPr/>
          </p:nvSpPr>
          <p:spPr bwMode="auto">
            <a:xfrm>
              <a:off x="2370" y="2069"/>
              <a:ext cx="690" cy="227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CE2C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7469" name="AutoShape 21"/>
            <p:cNvSpPr>
              <a:spLocks noChangeArrowheads="1"/>
            </p:cNvSpPr>
            <p:nvPr/>
          </p:nvSpPr>
          <p:spPr bwMode="auto">
            <a:xfrm>
              <a:off x="2376" y="2662"/>
              <a:ext cx="690" cy="227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CE2C1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35862" name="Group 22"/>
          <p:cNvGrpSpPr>
            <a:grpSpLocks/>
          </p:cNvGrpSpPr>
          <p:nvPr/>
        </p:nvGrpSpPr>
        <p:grpSpPr bwMode="auto">
          <a:xfrm>
            <a:off x="684213" y="2736850"/>
            <a:ext cx="2830512" cy="2238375"/>
            <a:chOff x="431" y="1724"/>
            <a:chExt cx="1783" cy="1410"/>
          </a:xfrm>
        </p:grpSpPr>
        <p:sp>
          <p:nvSpPr>
            <p:cNvPr id="17461" name="AutoShape 23"/>
            <p:cNvSpPr>
              <a:spLocks noChangeArrowheads="1"/>
            </p:cNvSpPr>
            <p:nvPr/>
          </p:nvSpPr>
          <p:spPr bwMode="auto">
            <a:xfrm>
              <a:off x="431" y="2355"/>
              <a:ext cx="1270" cy="136"/>
            </a:xfrm>
            <a:prstGeom prst="roundRect">
              <a:avLst>
                <a:gd name="adj" fmla="val 0"/>
              </a:avLst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7462" name="Group 24"/>
            <p:cNvGrpSpPr>
              <a:grpSpLocks/>
            </p:cNvGrpSpPr>
            <p:nvPr/>
          </p:nvGrpSpPr>
          <p:grpSpPr bwMode="auto">
            <a:xfrm>
              <a:off x="1896" y="1724"/>
              <a:ext cx="318" cy="1410"/>
              <a:chOff x="1896" y="1724"/>
              <a:chExt cx="318" cy="1410"/>
            </a:xfrm>
          </p:grpSpPr>
          <p:sp>
            <p:nvSpPr>
              <p:cNvPr id="17463" name="AutoShape 25"/>
              <p:cNvSpPr>
                <a:spLocks noChangeArrowheads="1"/>
              </p:cNvSpPr>
              <p:nvPr/>
            </p:nvSpPr>
            <p:spPr bwMode="auto">
              <a:xfrm>
                <a:off x="1896" y="2904"/>
                <a:ext cx="318" cy="230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7464" name="AutoShape 26"/>
              <p:cNvSpPr>
                <a:spLocks noChangeArrowheads="1"/>
              </p:cNvSpPr>
              <p:nvPr/>
            </p:nvSpPr>
            <p:spPr bwMode="auto">
              <a:xfrm>
                <a:off x="1896" y="1724"/>
                <a:ext cx="318" cy="230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grpSp>
        <p:nvGrpSpPr>
          <p:cNvPr id="35867" name="Group 27"/>
          <p:cNvGrpSpPr>
            <a:grpSpLocks/>
          </p:cNvGrpSpPr>
          <p:nvPr/>
        </p:nvGrpSpPr>
        <p:grpSpPr bwMode="auto">
          <a:xfrm>
            <a:off x="684213" y="2741613"/>
            <a:ext cx="4175125" cy="2238375"/>
            <a:chOff x="431" y="1727"/>
            <a:chExt cx="2630" cy="1410"/>
          </a:xfrm>
        </p:grpSpPr>
        <p:sp>
          <p:nvSpPr>
            <p:cNvPr id="17457" name="AutoShape 28"/>
            <p:cNvSpPr>
              <a:spLocks noChangeArrowheads="1"/>
            </p:cNvSpPr>
            <p:nvPr/>
          </p:nvSpPr>
          <p:spPr bwMode="auto">
            <a:xfrm>
              <a:off x="431" y="2484"/>
              <a:ext cx="1270" cy="136"/>
            </a:xfrm>
            <a:prstGeom prst="roundRect">
              <a:avLst>
                <a:gd name="adj" fmla="val 0"/>
              </a:avLst>
            </a:prstGeom>
            <a:noFill/>
            <a:ln w="38100">
              <a:solidFill>
                <a:srgbClr val="5CCE0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7458" name="Group 29"/>
            <p:cNvGrpSpPr>
              <a:grpSpLocks/>
            </p:cNvGrpSpPr>
            <p:nvPr/>
          </p:nvGrpSpPr>
          <p:grpSpPr bwMode="auto">
            <a:xfrm>
              <a:off x="2653" y="1727"/>
              <a:ext cx="408" cy="1410"/>
              <a:chOff x="1896" y="1724"/>
              <a:chExt cx="318" cy="1410"/>
            </a:xfrm>
          </p:grpSpPr>
          <p:sp>
            <p:nvSpPr>
              <p:cNvPr id="17459" name="AutoShape 30"/>
              <p:cNvSpPr>
                <a:spLocks noChangeArrowheads="1"/>
              </p:cNvSpPr>
              <p:nvPr/>
            </p:nvSpPr>
            <p:spPr bwMode="auto">
              <a:xfrm>
                <a:off x="1896" y="2904"/>
                <a:ext cx="318" cy="230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5CCE0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7460" name="AutoShape 31"/>
              <p:cNvSpPr>
                <a:spLocks noChangeArrowheads="1"/>
              </p:cNvSpPr>
              <p:nvPr/>
            </p:nvSpPr>
            <p:spPr bwMode="auto">
              <a:xfrm>
                <a:off x="1896" y="1724"/>
                <a:ext cx="318" cy="230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5CCE0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grpSp>
        <p:nvGrpSpPr>
          <p:cNvPr id="35872" name="Group 32"/>
          <p:cNvGrpSpPr>
            <a:grpSpLocks/>
          </p:cNvGrpSpPr>
          <p:nvPr/>
        </p:nvGrpSpPr>
        <p:grpSpPr bwMode="auto">
          <a:xfrm>
            <a:off x="684213" y="2752725"/>
            <a:ext cx="3527425" cy="2238375"/>
            <a:chOff x="431" y="1734"/>
            <a:chExt cx="2222" cy="1410"/>
          </a:xfrm>
        </p:grpSpPr>
        <p:sp>
          <p:nvSpPr>
            <p:cNvPr id="17453" name="AutoShape 33"/>
            <p:cNvSpPr>
              <a:spLocks noChangeArrowheads="1"/>
            </p:cNvSpPr>
            <p:nvPr/>
          </p:nvSpPr>
          <p:spPr bwMode="auto">
            <a:xfrm>
              <a:off x="431" y="2592"/>
              <a:ext cx="1270" cy="136"/>
            </a:xfrm>
            <a:prstGeom prst="roundRect">
              <a:avLst>
                <a:gd name="adj" fmla="val 0"/>
              </a:avLst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7454" name="Group 34"/>
            <p:cNvGrpSpPr>
              <a:grpSpLocks/>
            </p:cNvGrpSpPr>
            <p:nvPr/>
          </p:nvGrpSpPr>
          <p:grpSpPr bwMode="auto">
            <a:xfrm>
              <a:off x="2245" y="1734"/>
              <a:ext cx="408" cy="1410"/>
              <a:chOff x="1896" y="1724"/>
              <a:chExt cx="318" cy="1410"/>
            </a:xfrm>
          </p:grpSpPr>
          <p:sp>
            <p:nvSpPr>
              <p:cNvPr id="17455" name="AutoShape 35"/>
              <p:cNvSpPr>
                <a:spLocks noChangeArrowheads="1"/>
              </p:cNvSpPr>
              <p:nvPr/>
            </p:nvSpPr>
            <p:spPr bwMode="auto">
              <a:xfrm>
                <a:off x="1896" y="2904"/>
                <a:ext cx="318" cy="230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7456" name="AutoShape 36"/>
              <p:cNvSpPr>
                <a:spLocks noChangeArrowheads="1"/>
              </p:cNvSpPr>
              <p:nvPr/>
            </p:nvSpPr>
            <p:spPr bwMode="auto">
              <a:xfrm>
                <a:off x="1896" y="1724"/>
                <a:ext cx="318" cy="230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grpSp>
        <p:nvGrpSpPr>
          <p:cNvPr id="35877" name="Group 37"/>
          <p:cNvGrpSpPr>
            <a:grpSpLocks/>
          </p:cNvGrpSpPr>
          <p:nvPr/>
        </p:nvGrpSpPr>
        <p:grpSpPr bwMode="auto">
          <a:xfrm>
            <a:off x="2903538" y="3278188"/>
            <a:ext cx="2633662" cy="808037"/>
            <a:chOff x="1826" y="2059"/>
            <a:chExt cx="1659" cy="509"/>
          </a:xfrm>
        </p:grpSpPr>
        <p:sp>
          <p:nvSpPr>
            <p:cNvPr id="17449" name="AutoShape 38"/>
            <p:cNvSpPr>
              <a:spLocks noChangeArrowheads="1"/>
            </p:cNvSpPr>
            <p:nvPr/>
          </p:nvSpPr>
          <p:spPr bwMode="auto">
            <a:xfrm>
              <a:off x="1826" y="2059"/>
              <a:ext cx="1659" cy="509"/>
            </a:xfrm>
            <a:prstGeom prst="roundRect">
              <a:avLst>
                <a:gd name="adj" fmla="val 3806"/>
              </a:avLst>
            </a:prstGeom>
            <a:solidFill>
              <a:schemeClr val="bg1">
                <a:alpha val="7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7450" name="Group 39"/>
            <p:cNvGrpSpPr>
              <a:grpSpLocks/>
            </p:cNvGrpSpPr>
            <p:nvPr/>
          </p:nvGrpSpPr>
          <p:grpSpPr bwMode="auto">
            <a:xfrm>
              <a:off x="1882" y="2115"/>
              <a:ext cx="408" cy="136"/>
              <a:chOff x="1882" y="2115"/>
              <a:chExt cx="408" cy="136"/>
            </a:xfrm>
          </p:grpSpPr>
          <p:sp>
            <p:nvSpPr>
              <p:cNvPr id="17451" name="Line 40"/>
              <p:cNvSpPr>
                <a:spLocks noChangeShapeType="1"/>
              </p:cNvSpPr>
              <p:nvPr/>
            </p:nvSpPr>
            <p:spPr bwMode="auto">
              <a:xfrm flipV="1">
                <a:off x="1882" y="2115"/>
                <a:ext cx="408" cy="136"/>
              </a:xfrm>
              <a:prstGeom prst="line">
                <a:avLst/>
              </a:prstGeom>
              <a:noFill/>
              <a:ln w="28575">
                <a:solidFill>
                  <a:srgbClr val="CE2C17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2" name="Line 41"/>
              <p:cNvSpPr>
                <a:spLocks noChangeShapeType="1"/>
              </p:cNvSpPr>
              <p:nvPr/>
            </p:nvSpPr>
            <p:spPr bwMode="auto">
              <a:xfrm flipH="1" flipV="1">
                <a:off x="1882" y="2115"/>
                <a:ext cx="408" cy="136"/>
              </a:xfrm>
              <a:prstGeom prst="line">
                <a:avLst/>
              </a:prstGeom>
              <a:noFill/>
              <a:ln w="28575">
                <a:solidFill>
                  <a:srgbClr val="CE2C17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5885" name="Group 45"/>
          <p:cNvGrpSpPr>
            <a:grpSpLocks/>
          </p:cNvGrpSpPr>
          <p:nvPr/>
        </p:nvGrpSpPr>
        <p:grpSpPr bwMode="auto">
          <a:xfrm>
            <a:off x="2903538" y="4211638"/>
            <a:ext cx="2633662" cy="808037"/>
            <a:chOff x="1826" y="2059"/>
            <a:chExt cx="1659" cy="509"/>
          </a:xfrm>
        </p:grpSpPr>
        <p:sp>
          <p:nvSpPr>
            <p:cNvPr id="17445" name="AutoShape 46"/>
            <p:cNvSpPr>
              <a:spLocks noChangeArrowheads="1"/>
            </p:cNvSpPr>
            <p:nvPr/>
          </p:nvSpPr>
          <p:spPr bwMode="auto">
            <a:xfrm>
              <a:off x="1826" y="2059"/>
              <a:ext cx="1659" cy="509"/>
            </a:xfrm>
            <a:prstGeom prst="roundRect">
              <a:avLst>
                <a:gd name="adj" fmla="val 3806"/>
              </a:avLst>
            </a:prstGeom>
            <a:solidFill>
              <a:schemeClr val="bg1">
                <a:alpha val="7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7446" name="Group 47"/>
            <p:cNvGrpSpPr>
              <a:grpSpLocks/>
            </p:cNvGrpSpPr>
            <p:nvPr/>
          </p:nvGrpSpPr>
          <p:grpSpPr bwMode="auto">
            <a:xfrm>
              <a:off x="1882" y="2115"/>
              <a:ext cx="408" cy="136"/>
              <a:chOff x="1882" y="2115"/>
              <a:chExt cx="408" cy="136"/>
            </a:xfrm>
          </p:grpSpPr>
          <p:sp>
            <p:nvSpPr>
              <p:cNvPr id="17447" name="Line 48"/>
              <p:cNvSpPr>
                <a:spLocks noChangeShapeType="1"/>
              </p:cNvSpPr>
              <p:nvPr/>
            </p:nvSpPr>
            <p:spPr bwMode="auto">
              <a:xfrm flipV="1">
                <a:off x="1882" y="2115"/>
                <a:ext cx="408" cy="136"/>
              </a:xfrm>
              <a:prstGeom prst="line">
                <a:avLst/>
              </a:prstGeom>
              <a:noFill/>
              <a:ln w="28575">
                <a:solidFill>
                  <a:srgbClr val="CE2C17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8" name="Line 49"/>
              <p:cNvSpPr>
                <a:spLocks noChangeShapeType="1"/>
              </p:cNvSpPr>
              <p:nvPr/>
            </p:nvSpPr>
            <p:spPr bwMode="auto">
              <a:xfrm flipH="1" flipV="1">
                <a:off x="1882" y="2115"/>
                <a:ext cx="408" cy="136"/>
              </a:xfrm>
              <a:prstGeom prst="line">
                <a:avLst/>
              </a:prstGeom>
              <a:noFill/>
              <a:ln w="28575">
                <a:solidFill>
                  <a:srgbClr val="CE2C17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899" name="AutoShape 59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12360" y="6165304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grpSp>
        <p:nvGrpSpPr>
          <p:cNvPr id="35906" name="Group 66"/>
          <p:cNvGrpSpPr>
            <a:grpSpLocks/>
          </p:cNvGrpSpPr>
          <p:nvPr/>
        </p:nvGrpSpPr>
        <p:grpSpPr bwMode="auto">
          <a:xfrm>
            <a:off x="2827338" y="4214814"/>
            <a:ext cx="3838575" cy="1531938"/>
            <a:chOff x="1791" y="2683"/>
            <a:chExt cx="2418" cy="965"/>
          </a:xfrm>
          <a:noFill/>
        </p:grpSpPr>
        <p:sp>
          <p:nvSpPr>
            <p:cNvPr id="17434" name="Rectangle 67"/>
            <p:cNvSpPr>
              <a:spLocks noChangeArrowheads="1"/>
            </p:cNvSpPr>
            <p:nvPr/>
          </p:nvSpPr>
          <p:spPr bwMode="auto">
            <a:xfrm>
              <a:off x="1839" y="3327"/>
              <a:ext cx="816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000"/>
                <a:t>Performance of </a:t>
              </a:r>
              <a:br>
                <a:rPr lang="en-GB" sz="1000"/>
              </a:br>
              <a:r>
                <a:rPr lang="en-GB" sz="1000"/>
                <a:t>People &amp; Processes</a:t>
              </a:r>
            </a:p>
          </p:txBody>
        </p:sp>
        <p:sp>
          <p:nvSpPr>
            <p:cNvPr id="17435" name="Rectangle 68"/>
            <p:cNvSpPr>
              <a:spLocks noChangeArrowheads="1"/>
            </p:cNvSpPr>
            <p:nvPr/>
          </p:nvSpPr>
          <p:spPr bwMode="auto">
            <a:xfrm>
              <a:off x="2746" y="3327"/>
              <a:ext cx="250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000"/>
                <a:t>Price tag</a:t>
              </a:r>
            </a:p>
          </p:txBody>
        </p:sp>
        <p:sp>
          <p:nvSpPr>
            <p:cNvPr id="17436" name="Rectangle 69"/>
            <p:cNvSpPr>
              <a:spLocks noChangeArrowheads="1"/>
            </p:cNvSpPr>
            <p:nvPr/>
          </p:nvSpPr>
          <p:spPr bwMode="auto">
            <a:xfrm>
              <a:off x="3056" y="3327"/>
              <a:ext cx="544" cy="29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000" dirty="0"/>
                <a:t>Market position</a:t>
              </a:r>
              <a:br>
                <a:rPr lang="en-GB" sz="1000" dirty="0"/>
              </a:br>
              <a:r>
                <a:rPr lang="en-GB" sz="1000" dirty="0"/>
                <a:t>Brand strength</a:t>
              </a:r>
              <a:br>
                <a:rPr lang="en-GB" sz="1000" dirty="0"/>
              </a:br>
              <a:r>
                <a:rPr lang="en-GB" sz="1000" b="1" dirty="0"/>
                <a:t>1 = strongest</a:t>
              </a:r>
            </a:p>
          </p:txBody>
        </p:sp>
        <p:sp>
          <p:nvSpPr>
            <p:cNvPr id="17437" name="Rectangle 70"/>
            <p:cNvSpPr>
              <a:spLocks noChangeArrowheads="1"/>
            </p:cNvSpPr>
            <p:nvPr/>
          </p:nvSpPr>
          <p:spPr bwMode="auto">
            <a:xfrm>
              <a:off x="3681" y="2683"/>
              <a:ext cx="528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000"/>
                <a:t>Products offered</a:t>
              </a:r>
            </a:p>
          </p:txBody>
        </p:sp>
        <p:grpSp>
          <p:nvGrpSpPr>
            <p:cNvPr id="17438" name="Group 71"/>
            <p:cNvGrpSpPr>
              <a:grpSpLocks/>
            </p:cNvGrpSpPr>
            <p:nvPr/>
          </p:nvGrpSpPr>
          <p:grpSpPr bwMode="auto">
            <a:xfrm>
              <a:off x="2043" y="3178"/>
              <a:ext cx="1208" cy="134"/>
              <a:chOff x="2043" y="3178"/>
              <a:chExt cx="1208" cy="190"/>
            </a:xfrm>
            <a:grpFill/>
          </p:grpSpPr>
          <p:sp>
            <p:nvSpPr>
              <p:cNvPr id="17441" name="Line 72"/>
              <p:cNvSpPr>
                <a:spLocks noChangeShapeType="1"/>
              </p:cNvSpPr>
              <p:nvPr/>
            </p:nvSpPr>
            <p:spPr bwMode="auto">
              <a:xfrm flipV="1">
                <a:off x="2043" y="3180"/>
                <a:ext cx="0" cy="187"/>
              </a:xfrm>
              <a:prstGeom prst="line">
                <a:avLst/>
              </a:prstGeom>
              <a:grpFill/>
              <a:ln w="9525">
                <a:solidFill>
                  <a:srgbClr val="256EB9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2" name="Line 73"/>
              <p:cNvSpPr>
                <a:spLocks noChangeShapeType="1"/>
              </p:cNvSpPr>
              <p:nvPr/>
            </p:nvSpPr>
            <p:spPr bwMode="auto">
              <a:xfrm flipV="1">
                <a:off x="2469" y="3181"/>
                <a:ext cx="0" cy="187"/>
              </a:xfrm>
              <a:prstGeom prst="line">
                <a:avLst/>
              </a:prstGeom>
              <a:grpFill/>
              <a:ln w="9525">
                <a:solidFill>
                  <a:srgbClr val="256EB9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3" name="Line 74"/>
              <p:cNvSpPr>
                <a:spLocks noChangeShapeType="1"/>
              </p:cNvSpPr>
              <p:nvPr/>
            </p:nvSpPr>
            <p:spPr bwMode="auto">
              <a:xfrm flipV="1">
                <a:off x="2867" y="3178"/>
                <a:ext cx="0" cy="187"/>
              </a:xfrm>
              <a:prstGeom prst="line">
                <a:avLst/>
              </a:prstGeom>
              <a:grpFill/>
              <a:ln w="9525">
                <a:solidFill>
                  <a:srgbClr val="256EB9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4" name="Line 75"/>
              <p:cNvSpPr>
                <a:spLocks noChangeShapeType="1"/>
              </p:cNvSpPr>
              <p:nvPr/>
            </p:nvSpPr>
            <p:spPr bwMode="auto">
              <a:xfrm flipV="1">
                <a:off x="3251" y="3178"/>
                <a:ext cx="0" cy="187"/>
              </a:xfrm>
              <a:prstGeom prst="line">
                <a:avLst/>
              </a:prstGeom>
              <a:grpFill/>
              <a:ln w="9525">
                <a:solidFill>
                  <a:srgbClr val="256EB9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439" name="Rectangle 76"/>
            <p:cNvSpPr>
              <a:spLocks noChangeArrowheads="1"/>
            </p:cNvSpPr>
            <p:nvPr/>
          </p:nvSpPr>
          <p:spPr bwMode="auto">
            <a:xfrm>
              <a:off x="1791" y="3515"/>
              <a:ext cx="960" cy="13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000" b="1" dirty="0"/>
                <a:t>1 to 4 stars </a:t>
              </a:r>
              <a:r>
                <a:rPr lang="en-GB" sz="1000" dirty="0"/>
                <a:t>(4 = Excellent)</a:t>
              </a:r>
              <a:br>
                <a:rPr lang="en-GB" sz="1000" dirty="0"/>
              </a:br>
              <a:endParaRPr lang="en-GB" sz="1000" dirty="0"/>
            </a:p>
          </p:txBody>
        </p:sp>
        <p:sp>
          <p:nvSpPr>
            <p:cNvPr id="17440" name="Line 77"/>
            <p:cNvSpPr>
              <a:spLocks noChangeShapeType="1"/>
            </p:cNvSpPr>
            <p:nvPr/>
          </p:nvSpPr>
          <p:spPr bwMode="auto">
            <a:xfrm rot="16200000" flipV="1">
              <a:off x="3569" y="2709"/>
              <a:ext cx="0" cy="139"/>
            </a:xfrm>
            <a:prstGeom prst="line">
              <a:avLst/>
            </a:prstGeom>
            <a:grpFill/>
            <a:ln w="9525">
              <a:solidFill>
                <a:srgbClr val="256EB9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82" name="AutoShape 42"/>
          <p:cNvSpPr>
            <a:spLocks noChangeArrowheads="1"/>
          </p:cNvSpPr>
          <p:nvPr/>
        </p:nvSpPr>
        <p:spPr bwMode="auto">
          <a:xfrm>
            <a:off x="5699126" y="2757459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sv-SE" sz="1000" b="1" i="1" dirty="0" err="1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35883" name="AutoShape 43"/>
          <p:cNvSpPr>
            <a:spLocks noChangeArrowheads="1"/>
          </p:cNvSpPr>
          <p:nvPr/>
        </p:nvSpPr>
        <p:spPr bwMode="auto">
          <a:xfrm>
            <a:off x="5699126" y="3626467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err="1" smtClean="0">
                <a:solidFill>
                  <a:srgbClr val="00AEC6"/>
                </a:solidFill>
              </a:rPr>
              <a:t>Contimue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35884" name="AutoShape 44"/>
          <p:cNvSpPr>
            <a:spLocks noChangeArrowheads="1"/>
          </p:cNvSpPr>
          <p:nvPr/>
        </p:nvSpPr>
        <p:spPr bwMode="auto">
          <a:xfrm>
            <a:off x="5715000" y="4316609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35891" name="AutoShape 51"/>
          <p:cNvSpPr>
            <a:spLocks noChangeArrowheads="1"/>
          </p:cNvSpPr>
          <p:nvPr/>
        </p:nvSpPr>
        <p:spPr bwMode="auto">
          <a:xfrm>
            <a:off x="5715000" y="2060848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pic>
        <p:nvPicPr>
          <p:cNvPr id="17433" name="Picture 78" descr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2000" contras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461"/>
          <a:stretch>
            <a:fillRect/>
          </a:stretch>
        </p:blipFill>
        <p:spPr bwMode="auto">
          <a:xfrm>
            <a:off x="5819775" y="271463"/>
            <a:ext cx="1905000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4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359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7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4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4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51" grpId="0"/>
      <p:bldP spid="35852" grpId="0"/>
      <p:bldP spid="35853" grpId="0"/>
      <p:bldP spid="35854" grpId="0"/>
      <p:bldP spid="35855" grpId="0"/>
      <p:bldP spid="35899" grpId="0" animBg="1"/>
      <p:bldP spid="35882" grpId="0" animBg="1"/>
      <p:bldP spid="35883" grpId="0" animBg="1"/>
      <p:bldP spid="35884" grpId="0" animBg="1"/>
      <p:bldP spid="3589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5" name="Group 4"/>
          <p:cNvGrpSpPr>
            <a:grpSpLocks/>
          </p:cNvGrpSpPr>
          <p:nvPr/>
        </p:nvGrpSpPr>
        <p:grpSpPr bwMode="auto">
          <a:xfrm>
            <a:off x="604838" y="1628775"/>
            <a:ext cx="4814887" cy="4848225"/>
            <a:chOff x="381" y="1026"/>
            <a:chExt cx="4707" cy="2208"/>
          </a:xfrm>
        </p:grpSpPr>
        <p:sp>
          <p:nvSpPr>
            <p:cNvPr id="18451" name="Line 5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52" name="Line 6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85043" name="AutoShape 51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52730" y="6296818"/>
            <a:ext cx="1008063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18437" name="Rectangle 53"/>
          <p:cNvSpPr>
            <a:spLocks noChangeArrowheads="1"/>
          </p:cNvSpPr>
          <p:nvPr/>
        </p:nvSpPr>
        <p:spPr bwMode="auto">
          <a:xfrm>
            <a:off x="642938" y="1847850"/>
            <a:ext cx="4613275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Your most important decisions each year: </a:t>
            </a:r>
          </a:p>
        </p:txBody>
      </p:sp>
      <p:sp>
        <p:nvSpPr>
          <p:cNvPr id="18440" name="Rectangle 56"/>
          <p:cNvSpPr>
            <a:spLocks noChangeArrowheads="1"/>
          </p:cNvSpPr>
          <p:nvPr/>
        </p:nvSpPr>
        <p:spPr bwMode="auto">
          <a:xfrm>
            <a:off x="590549" y="1299676"/>
            <a:ext cx="66103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rgbClr val="00AEC6"/>
                </a:solidFill>
              </a:rPr>
              <a:t>Running the simulation</a:t>
            </a:r>
            <a:endParaRPr lang="en-GB" sz="2000" i="1" dirty="0">
              <a:solidFill>
                <a:srgbClr val="00AEC6"/>
              </a:solidFill>
            </a:endParaRPr>
          </a:p>
        </p:txBody>
      </p:sp>
      <p:pic>
        <p:nvPicPr>
          <p:cNvPr id="18441" name="Picture 57" descr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46364" r="1178" b="26692"/>
          <a:stretch>
            <a:fillRect/>
          </a:stretch>
        </p:blipFill>
        <p:spPr bwMode="auto">
          <a:xfrm>
            <a:off x="0" y="0"/>
            <a:ext cx="1597025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53" name="Rectangle 61"/>
          <p:cNvSpPr>
            <a:spLocks noChangeArrowheads="1"/>
          </p:cNvSpPr>
          <p:nvPr/>
        </p:nvSpPr>
        <p:spPr bwMode="auto">
          <a:xfrm>
            <a:off x="652463" y="3184525"/>
            <a:ext cx="4348162" cy="6572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1500" b="1" dirty="0">
                <a:solidFill>
                  <a:srgbClr val="00AEC6"/>
                </a:solidFill>
              </a:rPr>
              <a:t>In this chapter</a:t>
            </a:r>
            <a:r>
              <a:rPr lang="en-GB" sz="1500" dirty="0">
                <a:solidFill>
                  <a:srgbClr val="00AEC6"/>
                </a:solidFill>
              </a:rPr>
              <a:t>…</a:t>
            </a:r>
            <a:endParaRPr lang="en-GB" sz="1100" dirty="0">
              <a:solidFill>
                <a:srgbClr val="00AEC6"/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1100" dirty="0"/>
              <a:t>… we will give you a few examples of possible </a:t>
            </a:r>
            <a:r>
              <a:rPr lang="en-GB" sz="1100" b="1" dirty="0"/>
              <a:t>lines of reasoning </a:t>
            </a:r>
            <a:r>
              <a:rPr lang="en-GB" sz="1100" dirty="0"/>
              <a:t>behind these two important decisions.</a:t>
            </a:r>
          </a:p>
        </p:txBody>
      </p:sp>
      <p:grpSp>
        <p:nvGrpSpPr>
          <p:cNvPr id="85060" name="Group 68"/>
          <p:cNvGrpSpPr>
            <a:grpSpLocks/>
          </p:cNvGrpSpPr>
          <p:nvPr/>
        </p:nvGrpSpPr>
        <p:grpSpPr bwMode="auto">
          <a:xfrm>
            <a:off x="649288" y="2135188"/>
            <a:ext cx="4608512" cy="412750"/>
            <a:chOff x="409" y="1345"/>
            <a:chExt cx="2903" cy="260"/>
          </a:xfrm>
        </p:grpSpPr>
        <p:sp>
          <p:nvSpPr>
            <p:cNvPr id="18449" name="Rectangle 59"/>
            <p:cNvSpPr>
              <a:spLocks noChangeArrowheads="1"/>
            </p:cNvSpPr>
            <p:nvPr/>
          </p:nvSpPr>
          <p:spPr bwMode="auto">
            <a:xfrm>
              <a:off x="573" y="1345"/>
              <a:ext cx="273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How you should use your </a:t>
              </a:r>
              <a:r>
                <a:rPr lang="en-GB" sz="1100" b="1" dirty="0"/>
                <a:t>limited investment budget </a:t>
              </a:r>
              <a:r>
                <a:rPr lang="en-GB" sz="1100" dirty="0"/>
                <a:t>(9m) </a:t>
              </a:r>
              <a:br>
                <a:rPr lang="en-GB" sz="1100" dirty="0"/>
              </a:br>
              <a:r>
                <a:rPr lang="en-GB" sz="1100" dirty="0"/>
                <a:t>– which depends on which customer segments you are targeting. </a:t>
              </a:r>
            </a:p>
          </p:txBody>
        </p:sp>
        <p:sp>
          <p:nvSpPr>
            <p:cNvPr id="18450" name="Rectangle 63"/>
            <p:cNvSpPr>
              <a:spLocks noChangeArrowheads="1"/>
            </p:cNvSpPr>
            <p:nvPr/>
          </p:nvSpPr>
          <p:spPr bwMode="auto">
            <a:xfrm>
              <a:off x="409" y="1359"/>
              <a:ext cx="75" cy="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85061" name="Group 69"/>
          <p:cNvGrpSpPr>
            <a:grpSpLocks/>
          </p:cNvGrpSpPr>
          <p:nvPr/>
        </p:nvGrpSpPr>
        <p:grpSpPr bwMode="auto">
          <a:xfrm>
            <a:off x="649288" y="2635250"/>
            <a:ext cx="4608512" cy="412750"/>
            <a:chOff x="409" y="1660"/>
            <a:chExt cx="2903" cy="260"/>
          </a:xfrm>
        </p:grpSpPr>
        <p:sp>
          <p:nvSpPr>
            <p:cNvPr id="18447" name="Rectangle 62"/>
            <p:cNvSpPr>
              <a:spLocks noChangeArrowheads="1"/>
            </p:cNvSpPr>
            <p:nvPr/>
          </p:nvSpPr>
          <p:spPr bwMode="auto">
            <a:xfrm>
              <a:off x="573" y="1660"/>
              <a:ext cx="273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You have requests for proposal from several customers. </a:t>
              </a:r>
              <a:br>
                <a:rPr lang="en-GB" sz="1100" dirty="0"/>
              </a:br>
              <a:r>
                <a:rPr lang="en-GB" sz="1100" dirty="0"/>
                <a:t>Which (maximum 3) customer orders should you </a:t>
              </a:r>
              <a:r>
                <a:rPr lang="en-GB" sz="1100" b="1" dirty="0"/>
                <a:t>pitch for</a:t>
              </a:r>
              <a:r>
                <a:rPr lang="en-GB" sz="1100" dirty="0"/>
                <a:t>?</a:t>
              </a:r>
            </a:p>
          </p:txBody>
        </p:sp>
        <p:sp>
          <p:nvSpPr>
            <p:cNvPr id="18448" name="Rectangle 64"/>
            <p:cNvSpPr>
              <a:spLocks noChangeArrowheads="1"/>
            </p:cNvSpPr>
            <p:nvPr/>
          </p:nvSpPr>
          <p:spPr bwMode="auto">
            <a:xfrm>
              <a:off x="409" y="1676"/>
              <a:ext cx="75" cy="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8445" name="Rectangle 65"/>
          <p:cNvSpPr>
            <a:spLocks noChangeArrowheads="1"/>
          </p:cNvSpPr>
          <p:nvPr/>
        </p:nvSpPr>
        <p:spPr bwMode="auto">
          <a:xfrm>
            <a:off x="5867400" y="1321147"/>
            <a:ext cx="1343025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0AEC6"/>
                </a:solidFill>
              </a:rPr>
              <a:t>DEVELOPMENT PLAN</a:t>
            </a:r>
            <a:endParaRPr lang="en-GB" sz="1300" dirty="0">
              <a:solidFill>
                <a:srgbClr val="00AEC6"/>
              </a:solidFill>
            </a:endParaRPr>
          </a:p>
        </p:txBody>
      </p:sp>
      <p:sp>
        <p:nvSpPr>
          <p:cNvPr id="18446" name="Rectangle 66"/>
          <p:cNvSpPr>
            <a:spLocks noChangeArrowheads="1"/>
          </p:cNvSpPr>
          <p:nvPr/>
        </p:nvSpPr>
        <p:spPr bwMode="auto">
          <a:xfrm>
            <a:off x="5876924" y="3335491"/>
            <a:ext cx="1323975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0AEC6"/>
                </a:solidFill>
              </a:rPr>
              <a:t>ORDERS TO PITCH FOR</a:t>
            </a:r>
            <a:endParaRPr lang="en-GB" sz="1300" dirty="0">
              <a:solidFill>
                <a:srgbClr val="00AEC6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295394"/>
            <a:ext cx="2016224" cy="803811"/>
          </a:xfrm>
          <a:prstGeom prst="rect">
            <a:avLst/>
          </a:prstGeom>
        </p:spPr>
      </p:pic>
      <p:pic>
        <p:nvPicPr>
          <p:cNvPr id="29" name="Picture 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47339" y="1268760"/>
            <a:ext cx="941085" cy="993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167"/>
          <p:cNvGrpSpPr>
            <a:grpSpLocks/>
          </p:cNvGrpSpPr>
          <p:nvPr/>
        </p:nvGrpSpPr>
        <p:grpSpPr bwMode="auto">
          <a:xfrm>
            <a:off x="6084168" y="3212976"/>
            <a:ext cx="2590800" cy="1934192"/>
            <a:chOff x="2918" y="403"/>
            <a:chExt cx="2410" cy="1781"/>
          </a:xfrm>
        </p:grpSpPr>
        <p:sp>
          <p:nvSpPr>
            <p:cNvPr id="31" name="Rectangle 153"/>
            <p:cNvSpPr>
              <a:spLocks noChangeArrowheads="1"/>
            </p:cNvSpPr>
            <p:nvPr/>
          </p:nvSpPr>
          <p:spPr bwMode="auto">
            <a:xfrm>
              <a:off x="3805" y="1656"/>
              <a:ext cx="142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10000"/>
                </a:lnSpc>
              </a:pPr>
              <a:r>
                <a:rPr lang="en-GB" sz="800" dirty="0" smtClean="0">
                  <a:latin typeface="Arial Narrow" pitchFamily="34" charset="0"/>
                </a:rPr>
                <a:t>Requests for proposal with information about:</a:t>
              </a:r>
            </a:p>
            <a:p>
              <a:pPr marL="152400" lvl="1" indent="-150813">
                <a:lnSpc>
                  <a:spcPct val="110000"/>
                </a:lnSpc>
                <a:buFontTx/>
                <a:buChar char="•"/>
              </a:pPr>
              <a:r>
                <a:rPr lang="en-GB" sz="800" dirty="0" smtClean="0">
                  <a:latin typeface="Arial Narrow" pitchFamily="34" charset="0"/>
                </a:rPr>
                <a:t>Primary needs</a:t>
              </a:r>
            </a:p>
            <a:p>
              <a:pPr marL="152400" lvl="1" indent="-150813">
                <a:lnSpc>
                  <a:spcPct val="110000"/>
                </a:lnSpc>
                <a:buFontTx/>
                <a:buChar char="•"/>
              </a:pPr>
              <a:r>
                <a:rPr lang="en-GB" sz="800" dirty="0" smtClean="0">
                  <a:latin typeface="Arial Narrow" pitchFamily="34" charset="0"/>
                </a:rPr>
                <a:t>Choice criteria, in order of importance</a:t>
              </a:r>
            </a:p>
            <a:p>
              <a:pPr marL="152400" lvl="1" indent="-150813">
                <a:lnSpc>
                  <a:spcPct val="110000"/>
                </a:lnSpc>
                <a:buFontTx/>
                <a:buChar char="•"/>
              </a:pPr>
              <a:r>
                <a:rPr lang="en-GB" sz="800" dirty="0" smtClean="0">
                  <a:latin typeface="Arial Narrow" pitchFamily="34" charset="0"/>
                </a:rPr>
                <a:t>Volume (capacity need) and Price range</a:t>
              </a:r>
              <a:endParaRPr lang="en-GB" sz="800" dirty="0">
                <a:latin typeface="Arial Narrow" pitchFamily="34" charset="0"/>
              </a:endParaRPr>
            </a:p>
          </p:txBody>
        </p:sp>
        <p:pic>
          <p:nvPicPr>
            <p:cNvPr id="32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164" y="403"/>
              <a:ext cx="868" cy="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Rectangle 53"/>
            <p:cNvSpPr>
              <a:spLocks noChangeArrowheads="1"/>
            </p:cNvSpPr>
            <p:nvPr/>
          </p:nvSpPr>
          <p:spPr bwMode="auto">
            <a:xfrm>
              <a:off x="3904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34" name="Line 137"/>
            <p:cNvSpPr>
              <a:spLocks noChangeShapeType="1"/>
            </p:cNvSpPr>
            <p:nvPr/>
          </p:nvSpPr>
          <p:spPr bwMode="auto">
            <a:xfrm flipH="1">
              <a:off x="3984" y="692"/>
              <a:ext cx="288" cy="714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38"/>
            <p:cNvSpPr>
              <a:spLocks noChangeShapeType="1"/>
            </p:cNvSpPr>
            <p:nvPr/>
          </p:nvSpPr>
          <p:spPr bwMode="auto">
            <a:xfrm flipH="1">
              <a:off x="4164" y="788"/>
              <a:ext cx="204" cy="61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39"/>
            <p:cNvSpPr>
              <a:spLocks noChangeShapeType="1"/>
            </p:cNvSpPr>
            <p:nvPr/>
          </p:nvSpPr>
          <p:spPr bwMode="auto">
            <a:xfrm flipH="1">
              <a:off x="4344" y="1028"/>
              <a:ext cx="24" cy="37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40"/>
            <p:cNvSpPr>
              <a:spLocks noChangeShapeType="1"/>
            </p:cNvSpPr>
            <p:nvPr/>
          </p:nvSpPr>
          <p:spPr bwMode="auto">
            <a:xfrm>
              <a:off x="4512" y="932"/>
              <a:ext cx="12" cy="474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141"/>
            <p:cNvSpPr>
              <a:spLocks noChangeShapeType="1"/>
            </p:cNvSpPr>
            <p:nvPr/>
          </p:nvSpPr>
          <p:spPr bwMode="auto">
            <a:xfrm>
              <a:off x="4630" y="808"/>
              <a:ext cx="74" cy="59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142"/>
            <p:cNvSpPr>
              <a:spLocks noChangeShapeType="1"/>
            </p:cNvSpPr>
            <p:nvPr/>
          </p:nvSpPr>
          <p:spPr bwMode="auto">
            <a:xfrm>
              <a:off x="4826" y="1136"/>
              <a:ext cx="58" cy="270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43"/>
            <p:cNvSpPr>
              <a:spLocks noChangeShapeType="1"/>
            </p:cNvSpPr>
            <p:nvPr/>
          </p:nvSpPr>
          <p:spPr bwMode="auto">
            <a:xfrm>
              <a:off x="4896" y="1028"/>
              <a:ext cx="168" cy="37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144"/>
            <p:cNvSpPr>
              <a:spLocks noChangeShapeType="1"/>
            </p:cNvSpPr>
            <p:nvPr/>
          </p:nvSpPr>
          <p:spPr bwMode="auto">
            <a:xfrm>
              <a:off x="4848" y="644"/>
              <a:ext cx="396" cy="762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146"/>
            <p:cNvSpPr>
              <a:spLocks noChangeArrowheads="1"/>
            </p:cNvSpPr>
            <p:nvPr/>
          </p:nvSpPr>
          <p:spPr bwMode="auto">
            <a:xfrm>
              <a:off x="4088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3" name="Rectangle 147"/>
            <p:cNvSpPr>
              <a:spLocks noChangeArrowheads="1"/>
            </p:cNvSpPr>
            <p:nvPr/>
          </p:nvSpPr>
          <p:spPr bwMode="auto">
            <a:xfrm>
              <a:off x="4272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4" name="Rectangle 148"/>
            <p:cNvSpPr>
              <a:spLocks noChangeArrowheads="1"/>
            </p:cNvSpPr>
            <p:nvPr/>
          </p:nvSpPr>
          <p:spPr bwMode="auto">
            <a:xfrm>
              <a:off x="4456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5" name="Rectangle 149"/>
            <p:cNvSpPr>
              <a:spLocks noChangeArrowheads="1"/>
            </p:cNvSpPr>
            <p:nvPr/>
          </p:nvSpPr>
          <p:spPr bwMode="auto">
            <a:xfrm>
              <a:off x="4640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6" name="Rectangle 150"/>
            <p:cNvSpPr>
              <a:spLocks noChangeArrowheads="1"/>
            </p:cNvSpPr>
            <p:nvPr/>
          </p:nvSpPr>
          <p:spPr bwMode="auto">
            <a:xfrm>
              <a:off x="4824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7" name="Rectangle 151"/>
            <p:cNvSpPr>
              <a:spLocks noChangeArrowheads="1"/>
            </p:cNvSpPr>
            <p:nvPr/>
          </p:nvSpPr>
          <p:spPr bwMode="auto">
            <a:xfrm>
              <a:off x="5008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8" name="Rectangle 152"/>
            <p:cNvSpPr>
              <a:spLocks noChangeArrowheads="1"/>
            </p:cNvSpPr>
            <p:nvPr/>
          </p:nvSpPr>
          <p:spPr bwMode="auto">
            <a:xfrm>
              <a:off x="5192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800" i="1" dirty="0" err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  <a:endParaRPr lang="en-GB" sz="800" i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9" name="Rectangle 159"/>
            <p:cNvSpPr>
              <a:spLocks noChangeArrowheads="1"/>
            </p:cNvSpPr>
            <p:nvPr/>
          </p:nvSpPr>
          <p:spPr bwMode="auto">
            <a:xfrm>
              <a:off x="2918" y="1016"/>
              <a:ext cx="672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800" dirty="0">
                  <a:solidFill>
                    <a:srgbClr val="00AEC6"/>
                  </a:solidFill>
                </a:rPr>
                <a:t>WHAT THE CUSTOMERS ASK FOR</a:t>
              </a:r>
            </a:p>
          </p:txBody>
        </p:sp>
        <p:sp>
          <p:nvSpPr>
            <p:cNvPr id="50" name="AutoShape 163"/>
            <p:cNvSpPr>
              <a:spLocks noChangeArrowheads="1"/>
            </p:cNvSpPr>
            <p:nvPr/>
          </p:nvSpPr>
          <p:spPr bwMode="auto">
            <a:xfrm flipV="1">
              <a:off x="3086" y="1479"/>
              <a:ext cx="317" cy="449"/>
            </a:xfrm>
            <a:prstGeom prst="upArrow">
              <a:avLst>
                <a:gd name="adj1" fmla="val 54167"/>
                <a:gd name="adj2" fmla="val 57401"/>
              </a:avLst>
            </a:prstGeom>
            <a:gradFill rotWithShape="1">
              <a:gsLst>
                <a:gs pos="0">
                  <a:srgbClr val="256EB9"/>
                </a:gs>
                <a:gs pos="100000">
                  <a:srgbClr val="3366FF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51" name="Rectangle 157"/>
          <p:cNvSpPr>
            <a:spLocks noChangeArrowheads="1"/>
          </p:cNvSpPr>
          <p:nvPr/>
        </p:nvSpPr>
        <p:spPr bwMode="auto">
          <a:xfrm>
            <a:off x="6007291" y="5661248"/>
            <a:ext cx="876168" cy="24622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800" dirty="0">
                <a:solidFill>
                  <a:srgbClr val="00AEC6"/>
                </a:solidFill>
              </a:rPr>
              <a:t>WHAT YOU CAN OFFER</a:t>
            </a:r>
          </a:p>
        </p:txBody>
      </p:sp>
      <p:sp>
        <p:nvSpPr>
          <p:cNvPr id="52" name="AutoShape 161"/>
          <p:cNvSpPr>
            <a:spLocks noChangeArrowheads="1"/>
          </p:cNvSpPr>
          <p:nvPr/>
        </p:nvSpPr>
        <p:spPr bwMode="auto">
          <a:xfrm>
            <a:off x="6285297" y="5027818"/>
            <a:ext cx="320154" cy="453933"/>
          </a:xfrm>
          <a:prstGeom prst="upArrow">
            <a:avLst>
              <a:gd name="adj1" fmla="val 54167"/>
              <a:gd name="adj2" fmla="val 57401"/>
            </a:avLst>
          </a:prstGeom>
          <a:gradFill rotWithShape="1">
            <a:gsLst>
              <a:gs pos="0">
                <a:srgbClr val="EA5E13"/>
              </a:gs>
              <a:gs pos="100000">
                <a:srgbClr val="7647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5352121"/>
            <a:ext cx="1523923" cy="607545"/>
          </a:xfrm>
          <a:prstGeom prst="rect">
            <a:avLst/>
          </a:prstGeom>
        </p:spPr>
      </p:pic>
      <p:sp>
        <p:nvSpPr>
          <p:cNvPr id="18438" name="Rectangle 55"/>
          <p:cNvSpPr>
            <a:spLocks noChangeArrowheads="1"/>
          </p:cNvSpPr>
          <p:nvPr/>
        </p:nvSpPr>
        <p:spPr bwMode="auto">
          <a:xfrm>
            <a:off x="1846586" y="351631"/>
            <a:ext cx="5191125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CHAPTER 4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0" y="1084263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AEC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8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6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43" grpId="0" animBg="1"/>
      <p:bldP spid="850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609600" y="981075"/>
            <a:ext cx="274320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STEP 1:</a:t>
            </a:r>
            <a:r>
              <a:rPr lang="en-GB" sz="1100" dirty="0">
                <a:solidFill>
                  <a:srgbClr val="00AEC6"/>
                </a:solidFill>
              </a:rPr>
              <a:t>  </a:t>
            </a:r>
            <a:r>
              <a:rPr lang="en-GB" sz="1100" dirty="0"/>
              <a:t>Decide on a DEVELOPMENT PLAN for the coming year.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Example of a possible </a:t>
            </a:r>
            <a:r>
              <a:rPr lang="en-GB" sz="1100" b="1" dirty="0"/>
              <a:t>line of reasoning</a:t>
            </a:r>
            <a:r>
              <a:rPr lang="en-GB" sz="1100" dirty="0">
                <a:solidFill>
                  <a:schemeClr val="bg1"/>
                </a:solidFill>
              </a:rPr>
              <a:t>: </a:t>
            </a:r>
            <a:endParaRPr lang="en-GB" sz="1100" dirty="0">
              <a:solidFill>
                <a:srgbClr val="F7FB2E"/>
              </a:solidFill>
            </a:endParaRPr>
          </a:p>
        </p:txBody>
      </p:sp>
      <p:grpSp>
        <p:nvGrpSpPr>
          <p:cNvPr id="19461" name="Group 3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19506" name="Line 4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507" name="Line 5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604838" y="304800"/>
            <a:ext cx="5191125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4. Running the simulation: Development</a:t>
            </a:r>
          </a:p>
        </p:txBody>
      </p:sp>
      <p:pic>
        <p:nvPicPr>
          <p:cNvPr id="70673" name="Picture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0217" y="762000"/>
            <a:ext cx="243274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95" name="AutoShape 39"/>
          <p:cNvSpPr>
            <a:spLocks noChangeArrowheads="1"/>
          </p:cNvSpPr>
          <p:nvPr/>
        </p:nvSpPr>
        <p:spPr bwMode="auto">
          <a:xfrm rot="3566247">
            <a:off x="6526213" y="1752600"/>
            <a:ext cx="560388" cy="560387"/>
          </a:xfrm>
          <a:prstGeom prst="leftArrow">
            <a:avLst>
              <a:gd name="adj1" fmla="val 50028"/>
              <a:gd name="adj2" fmla="val 50250"/>
            </a:avLst>
          </a:prstGeom>
          <a:solidFill>
            <a:srgbClr val="00AEC6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sv-SE"/>
          </a:p>
        </p:txBody>
      </p:sp>
      <p:sp>
        <p:nvSpPr>
          <p:cNvPr id="70702" name="Rectangle 46"/>
          <p:cNvSpPr>
            <a:spLocks noChangeArrowheads="1"/>
          </p:cNvSpPr>
          <p:nvPr/>
        </p:nvSpPr>
        <p:spPr bwMode="auto">
          <a:xfrm>
            <a:off x="5000625" y="671513"/>
            <a:ext cx="1295400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b="1" dirty="0"/>
              <a:t>What S customers typically look for</a:t>
            </a:r>
            <a:r>
              <a:rPr lang="en-GB" sz="1000" dirty="0"/>
              <a:t>:</a:t>
            </a:r>
          </a:p>
          <a:p>
            <a:pPr marL="163513" lvl="1" indent="-161925">
              <a:spcAft>
                <a:spcPts val="600"/>
              </a:spcAft>
              <a:buSzPct val="150000"/>
              <a:buFont typeface="Times" pitchFamily="1" charset="0"/>
              <a:buChar char="•"/>
            </a:pPr>
            <a:r>
              <a:rPr lang="en-GB" sz="1000" dirty="0"/>
              <a:t>Many products</a:t>
            </a:r>
          </a:p>
          <a:p>
            <a:pPr marL="163513" lvl="1" indent="-161925">
              <a:spcAft>
                <a:spcPts val="600"/>
              </a:spcAft>
              <a:buSzPct val="150000"/>
              <a:buFont typeface="Times" pitchFamily="1" charset="0"/>
              <a:buChar char="•"/>
            </a:pPr>
            <a:r>
              <a:rPr lang="en-GB" sz="1000" dirty="0"/>
              <a:t>Efficiency</a:t>
            </a:r>
          </a:p>
          <a:p>
            <a:pPr marL="163513" lvl="1" indent="-161925">
              <a:spcAft>
                <a:spcPts val="600"/>
              </a:spcAft>
              <a:buSzPct val="150000"/>
              <a:buFont typeface="Times" pitchFamily="1" charset="0"/>
              <a:buChar char="•"/>
            </a:pPr>
            <a:r>
              <a:rPr lang="en-GB" sz="1000" dirty="0"/>
              <a:t>Low price</a:t>
            </a:r>
          </a:p>
        </p:txBody>
      </p:sp>
      <p:grpSp>
        <p:nvGrpSpPr>
          <p:cNvPr id="19466" name="Group 65"/>
          <p:cNvGrpSpPr>
            <a:grpSpLocks/>
          </p:cNvGrpSpPr>
          <p:nvPr/>
        </p:nvGrpSpPr>
        <p:grpSpPr bwMode="auto">
          <a:xfrm>
            <a:off x="609600" y="1828800"/>
            <a:ext cx="1371600" cy="2879725"/>
            <a:chOff x="384" y="1152"/>
            <a:chExt cx="864" cy="1814"/>
          </a:xfrm>
        </p:grpSpPr>
        <p:sp>
          <p:nvSpPr>
            <p:cNvPr id="19504" name="Line 62"/>
            <p:cNvSpPr>
              <a:spLocks noChangeShapeType="1"/>
            </p:cNvSpPr>
            <p:nvPr/>
          </p:nvSpPr>
          <p:spPr bwMode="auto">
            <a:xfrm>
              <a:off x="384" y="1152"/>
              <a:ext cx="0" cy="1814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5" name="Line 63"/>
            <p:cNvSpPr>
              <a:spLocks noChangeShapeType="1"/>
            </p:cNvSpPr>
            <p:nvPr/>
          </p:nvSpPr>
          <p:spPr bwMode="auto">
            <a:xfrm>
              <a:off x="384" y="2966"/>
              <a:ext cx="864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722" name="Line 66"/>
          <p:cNvSpPr>
            <a:spLocks noChangeShapeType="1"/>
          </p:cNvSpPr>
          <p:nvPr/>
        </p:nvSpPr>
        <p:spPr bwMode="auto">
          <a:xfrm flipV="1">
            <a:off x="3200400" y="2209800"/>
            <a:ext cx="2286000" cy="38100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3" name="Line 67"/>
          <p:cNvSpPr>
            <a:spLocks noChangeShapeType="1"/>
          </p:cNvSpPr>
          <p:nvPr/>
        </p:nvSpPr>
        <p:spPr bwMode="auto">
          <a:xfrm flipV="1">
            <a:off x="2699792" y="1123949"/>
            <a:ext cx="2292895" cy="1635125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4" name="Line 68"/>
          <p:cNvSpPr>
            <a:spLocks noChangeShapeType="1"/>
          </p:cNvSpPr>
          <p:nvPr/>
        </p:nvSpPr>
        <p:spPr bwMode="auto">
          <a:xfrm flipV="1">
            <a:off x="2530475" y="1339850"/>
            <a:ext cx="2465388" cy="1970088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6" name="Line 70"/>
          <p:cNvSpPr>
            <a:spLocks noChangeShapeType="1"/>
          </p:cNvSpPr>
          <p:nvPr/>
        </p:nvSpPr>
        <p:spPr bwMode="auto">
          <a:xfrm>
            <a:off x="609600" y="4800600"/>
            <a:ext cx="3581400" cy="0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72"/>
          <p:cNvSpPr>
            <a:spLocks noChangeArrowheads="1"/>
          </p:cNvSpPr>
          <p:nvPr/>
        </p:nvSpPr>
        <p:spPr bwMode="auto">
          <a:xfrm>
            <a:off x="6848475" y="4323904"/>
            <a:ext cx="1254125" cy="16927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GB" sz="1100" b="1"/>
              <a:t>Products</a:t>
            </a:r>
            <a:endParaRPr lang="en-GB" sz="1100"/>
          </a:p>
        </p:txBody>
      </p:sp>
      <p:sp>
        <p:nvSpPr>
          <p:cNvPr id="19472" name="AutoShape 73"/>
          <p:cNvSpPr>
            <a:spLocks noChangeArrowheads="1"/>
          </p:cNvSpPr>
          <p:nvPr/>
        </p:nvSpPr>
        <p:spPr bwMode="auto">
          <a:xfrm>
            <a:off x="7019925" y="4252466"/>
            <a:ext cx="898525" cy="1393825"/>
          </a:xfrm>
          <a:prstGeom prst="roundRect">
            <a:avLst>
              <a:gd name="adj" fmla="val 12296"/>
            </a:avLst>
          </a:prstGeom>
          <a:noFill/>
          <a:ln w="76200">
            <a:solidFill>
              <a:srgbClr val="DA87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19473" name="AutoShape 74"/>
          <p:cNvSpPr>
            <a:spLocks noChangeArrowheads="1"/>
          </p:cNvSpPr>
          <p:nvPr/>
        </p:nvSpPr>
        <p:spPr bwMode="auto">
          <a:xfrm>
            <a:off x="6243638" y="4541391"/>
            <a:ext cx="2600325" cy="1482725"/>
          </a:xfrm>
          <a:prstGeom prst="roundRect">
            <a:avLst>
              <a:gd name="adj" fmla="val 12296"/>
            </a:avLst>
          </a:prstGeom>
          <a:solidFill>
            <a:srgbClr val="FF9900"/>
          </a:solidFill>
          <a:ln>
            <a:noFill/>
          </a:ln>
          <a:effectLst/>
        </p:spPr>
        <p:txBody>
          <a:bodyPr wrap="none" anchor="ctr"/>
          <a:lstStyle/>
          <a:p>
            <a:endParaRPr lang="sv-SE"/>
          </a:p>
        </p:txBody>
      </p:sp>
      <p:pic>
        <p:nvPicPr>
          <p:cNvPr id="19474" name="Picture 75" descr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" t="8220" r="1302" b="23288"/>
          <a:stretch>
            <a:fillRect/>
          </a:stretch>
        </p:blipFill>
        <p:spPr bwMode="auto">
          <a:xfrm>
            <a:off x="6396038" y="4736654"/>
            <a:ext cx="22653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5" name="Picture 76" descr="Picture 8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5" t="3186" r="3290" b="5882"/>
          <a:stretch>
            <a:fillRect/>
          </a:stretch>
        </p:blipFill>
        <p:spPr bwMode="auto">
          <a:xfrm>
            <a:off x="4341813" y="4219129"/>
            <a:ext cx="1665287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733" name="Oval 77"/>
          <p:cNvSpPr>
            <a:spLocks noChangeArrowheads="1"/>
          </p:cNvSpPr>
          <p:nvPr/>
        </p:nvSpPr>
        <p:spPr bwMode="auto">
          <a:xfrm>
            <a:off x="5364163" y="5147816"/>
            <a:ext cx="222250" cy="222250"/>
          </a:xfrm>
          <a:prstGeom prst="ellips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19477" name="Oval 78"/>
          <p:cNvSpPr>
            <a:spLocks noChangeArrowheads="1"/>
          </p:cNvSpPr>
          <p:nvPr/>
        </p:nvSpPr>
        <p:spPr bwMode="auto">
          <a:xfrm>
            <a:off x="4497388" y="5333554"/>
            <a:ext cx="222250" cy="222250"/>
          </a:xfrm>
          <a:prstGeom prst="ellips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sv-SE"/>
          </a:p>
        </p:txBody>
      </p:sp>
      <p:pic>
        <p:nvPicPr>
          <p:cNvPr id="19478" name="Picture 79" descr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2" t="23480" r="48904" b="9966"/>
          <a:stretch>
            <a:fillRect/>
          </a:stretch>
        </p:blipFill>
        <p:spPr bwMode="auto">
          <a:xfrm>
            <a:off x="7159625" y="4743004"/>
            <a:ext cx="360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736" name="Picture 80" descr="Picture 6"/>
          <p:cNvPicPr>
            <a:picLocks noChangeAspect="1" noChangeArrowheads="1"/>
          </p:cNvPicPr>
          <p:nvPr/>
        </p:nvPicPr>
        <p:blipFill>
          <a:blip r:embed="rId7">
            <a:lum brigh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7" t="23480" r="62871" b="9966"/>
          <a:stretch>
            <a:fillRect/>
          </a:stretch>
        </p:blipFill>
        <p:spPr bwMode="auto">
          <a:xfrm>
            <a:off x="9158288" y="4344988"/>
            <a:ext cx="377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737" name="Picture 81" descr="Picture 6"/>
          <p:cNvPicPr>
            <a:picLocks noChangeAspect="1" noChangeArrowheads="1"/>
          </p:cNvPicPr>
          <p:nvPr/>
        </p:nvPicPr>
        <p:blipFill>
          <a:blip r:embed="rId7">
            <a:lum brigh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70" t="23369" r="17343" b="9961"/>
          <a:stretch>
            <a:fillRect/>
          </a:stretch>
        </p:blipFill>
        <p:spPr bwMode="auto">
          <a:xfrm>
            <a:off x="9043988" y="4330700"/>
            <a:ext cx="366712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1" name="Rectangle 82"/>
          <p:cNvSpPr>
            <a:spLocks noChangeArrowheads="1"/>
          </p:cNvSpPr>
          <p:nvPr/>
        </p:nvSpPr>
        <p:spPr bwMode="auto">
          <a:xfrm>
            <a:off x="8932863" y="3795713"/>
            <a:ext cx="682625" cy="1238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9482" name="Rectangle 85"/>
          <p:cNvSpPr>
            <a:spLocks noChangeArrowheads="1"/>
          </p:cNvSpPr>
          <p:nvPr/>
        </p:nvSpPr>
        <p:spPr bwMode="auto">
          <a:xfrm>
            <a:off x="4397375" y="3995787"/>
            <a:ext cx="304800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b="1" dirty="0"/>
              <a:t>CURRENT PROFILE </a:t>
            </a:r>
          </a:p>
        </p:txBody>
      </p:sp>
      <p:sp>
        <p:nvSpPr>
          <p:cNvPr id="70725" name="Line 69"/>
          <p:cNvSpPr>
            <a:spLocks noChangeShapeType="1"/>
          </p:cNvSpPr>
          <p:nvPr/>
        </p:nvSpPr>
        <p:spPr bwMode="auto">
          <a:xfrm>
            <a:off x="1752600" y="3733800"/>
            <a:ext cx="2644775" cy="1636266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4" name="AutoShape 86"/>
          <p:cNvSpPr>
            <a:spLocks noChangeArrowheads="1"/>
          </p:cNvSpPr>
          <p:nvPr/>
        </p:nvSpPr>
        <p:spPr bwMode="auto">
          <a:xfrm>
            <a:off x="4286250" y="4313238"/>
            <a:ext cx="4603750" cy="2079625"/>
          </a:xfrm>
          <a:prstGeom prst="roundRect">
            <a:avLst>
              <a:gd name="adj" fmla="val 6565"/>
            </a:avLst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70739" name="AutoShape 83"/>
          <p:cNvSpPr>
            <a:spLocks noChangeArrowheads="1"/>
          </p:cNvSpPr>
          <p:nvPr/>
        </p:nvSpPr>
        <p:spPr bwMode="auto">
          <a:xfrm>
            <a:off x="5791200" y="3573016"/>
            <a:ext cx="2128838" cy="685800"/>
          </a:xfrm>
          <a:prstGeom prst="wedgeRectCallout">
            <a:avLst>
              <a:gd name="adj1" fmla="val -60440"/>
              <a:gd name="adj2" fmla="val 169213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000" dirty="0"/>
              <a:t>One step up the ladder, from GOOD to VERY GOOD (3 stars).</a:t>
            </a:r>
          </a:p>
          <a:p>
            <a:pPr>
              <a:spcAft>
                <a:spcPts val="600"/>
              </a:spcAft>
            </a:pPr>
            <a:r>
              <a:rPr lang="en-US" sz="1000" dirty="0"/>
              <a:t>INVESTMENT: </a:t>
            </a:r>
            <a:r>
              <a:rPr lang="en-US" sz="1000" b="1" dirty="0" smtClean="0"/>
              <a:t>3M</a:t>
            </a:r>
            <a:endParaRPr lang="en-US" sz="1000" b="1" dirty="0"/>
          </a:p>
        </p:txBody>
      </p:sp>
      <p:sp>
        <p:nvSpPr>
          <p:cNvPr id="70740" name="AutoShape 84"/>
          <p:cNvSpPr>
            <a:spLocks noChangeArrowheads="1"/>
          </p:cNvSpPr>
          <p:nvPr/>
        </p:nvSpPr>
        <p:spPr bwMode="auto">
          <a:xfrm>
            <a:off x="5638800" y="5284341"/>
            <a:ext cx="1362075" cy="609600"/>
          </a:xfrm>
          <a:prstGeom prst="wedgeRectCallout">
            <a:avLst>
              <a:gd name="adj1" fmla="val 44287"/>
              <a:gd name="adj2" fmla="val -83074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000" dirty="0"/>
              <a:t>Two new products INVESTMENT: </a:t>
            </a:r>
            <a:br>
              <a:rPr lang="en-US" sz="1000" dirty="0"/>
            </a:br>
            <a:r>
              <a:rPr lang="en-US" sz="1000" b="1" dirty="0" smtClean="0"/>
              <a:t>3M </a:t>
            </a:r>
            <a:r>
              <a:rPr lang="en-US" sz="1000" b="1" dirty="0"/>
              <a:t>+ </a:t>
            </a:r>
            <a:r>
              <a:rPr lang="en-US" sz="1000" b="1" dirty="0" smtClean="0"/>
              <a:t>3M </a:t>
            </a:r>
            <a:r>
              <a:rPr lang="en-US" sz="1000" b="1" dirty="0"/>
              <a:t>= </a:t>
            </a:r>
            <a:r>
              <a:rPr lang="en-US" sz="1000" b="1" dirty="0" smtClean="0"/>
              <a:t>6M</a:t>
            </a:r>
            <a:endParaRPr lang="en-US" sz="1000" b="1" dirty="0"/>
          </a:p>
        </p:txBody>
      </p:sp>
      <p:grpSp>
        <p:nvGrpSpPr>
          <p:cNvPr id="70749" name="Group 93"/>
          <p:cNvGrpSpPr>
            <a:grpSpLocks/>
          </p:cNvGrpSpPr>
          <p:nvPr/>
        </p:nvGrpSpPr>
        <p:grpSpPr bwMode="auto">
          <a:xfrm>
            <a:off x="6953250" y="5079554"/>
            <a:ext cx="558800" cy="261937"/>
            <a:chOff x="4394" y="3393"/>
            <a:chExt cx="352" cy="165"/>
          </a:xfrm>
          <a:solidFill>
            <a:srgbClr val="FF9900"/>
          </a:solidFill>
        </p:grpSpPr>
        <p:sp>
          <p:nvSpPr>
            <p:cNvPr id="19502" name="Freeform 91"/>
            <p:cNvSpPr>
              <a:spLocks/>
            </p:cNvSpPr>
            <p:nvPr/>
          </p:nvSpPr>
          <p:spPr bwMode="auto">
            <a:xfrm flipH="1">
              <a:off x="4394" y="3393"/>
              <a:ext cx="313" cy="135"/>
            </a:xfrm>
            <a:custGeom>
              <a:avLst/>
              <a:gdLst>
                <a:gd name="T0" fmla="*/ 0 w 313"/>
                <a:gd name="T1" fmla="*/ 135 h 135"/>
                <a:gd name="T2" fmla="*/ 313 w 313"/>
                <a:gd name="T3" fmla="*/ 0 h 135"/>
                <a:gd name="T4" fmla="*/ 220 w 313"/>
                <a:gd name="T5" fmla="*/ 134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135">
                  <a:moveTo>
                    <a:pt x="0" y="135"/>
                  </a:moveTo>
                  <a:lnTo>
                    <a:pt x="313" y="0"/>
                  </a:lnTo>
                  <a:lnTo>
                    <a:pt x="220" y="134"/>
                  </a:lnTo>
                </a:path>
              </a:pathLst>
            </a:custGeom>
            <a:grp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3" name="Freeform 92"/>
            <p:cNvSpPr>
              <a:spLocks/>
            </p:cNvSpPr>
            <p:nvPr/>
          </p:nvSpPr>
          <p:spPr bwMode="auto">
            <a:xfrm flipH="1">
              <a:off x="4433" y="3423"/>
              <a:ext cx="313" cy="135"/>
            </a:xfrm>
            <a:custGeom>
              <a:avLst/>
              <a:gdLst>
                <a:gd name="T0" fmla="*/ 0 w 313"/>
                <a:gd name="T1" fmla="*/ 135 h 135"/>
                <a:gd name="T2" fmla="*/ 313 w 313"/>
                <a:gd name="T3" fmla="*/ 0 h 135"/>
                <a:gd name="T4" fmla="*/ 220 w 313"/>
                <a:gd name="T5" fmla="*/ 134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135">
                  <a:moveTo>
                    <a:pt x="0" y="135"/>
                  </a:moveTo>
                  <a:lnTo>
                    <a:pt x="313" y="0"/>
                  </a:lnTo>
                  <a:lnTo>
                    <a:pt x="220" y="134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mpd="sng">
                  <a:solidFill>
                    <a:schemeClr val="bg1"/>
                  </a:solid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750" name="AutoShape 94"/>
          <p:cNvSpPr>
            <a:spLocks noChangeArrowheads="1"/>
          </p:cNvSpPr>
          <p:nvPr/>
        </p:nvSpPr>
        <p:spPr bwMode="auto">
          <a:xfrm>
            <a:off x="1146900" y="1935479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70751" name="AutoShape 95"/>
          <p:cNvSpPr>
            <a:spLocks noChangeArrowheads="1"/>
          </p:cNvSpPr>
          <p:nvPr/>
        </p:nvSpPr>
        <p:spPr bwMode="auto">
          <a:xfrm>
            <a:off x="4333202" y="3439500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70752" name="Line 96"/>
          <p:cNvSpPr>
            <a:spLocks noChangeShapeType="1"/>
          </p:cNvSpPr>
          <p:nvPr/>
        </p:nvSpPr>
        <p:spPr bwMode="auto">
          <a:xfrm>
            <a:off x="2699791" y="2928352"/>
            <a:ext cx="3722875" cy="1780173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8" name="Rectangle 52"/>
          <p:cNvSpPr>
            <a:spLocks noChangeArrowheads="1"/>
          </p:cNvSpPr>
          <p:nvPr/>
        </p:nvSpPr>
        <p:spPr bwMode="auto">
          <a:xfrm>
            <a:off x="609600" y="2162175"/>
            <a:ext cx="251460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We have customers in the M and T segments. Let us also go for some customers in the </a:t>
            </a:r>
            <a:r>
              <a:rPr lang="en-GB" sz="1100" b="1" i="1" dirty="0"/>
              <a:t>S segment</a:t>
            </a:r>
            <a:r>
              <a:rPr lang="en-GB" sz="1100" i="1" dirty="0"/>
              <a:t>…</a:t>
            </a:r>
          </a:p>
        </p:txBody>
      </p:sp>
      <p:sp>
        <p:nvSpPr>
          <p:cNvPr id="70709" name="Rectangle 53"/>
          <p:cNvSpPr>
            <a:spLocks noChangeArrowheads="1"/>
          </p:cNvSpPr>
          <p:nvPr/>
        </p:nvSpPr>
        <p:spPr bwMode="auto">
          <a:xfrm>
            <a:off x="609600" y="2759075"/>
            <a:ext cx="2090192" cy="16927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Then we need </a:t>
            </a:r>
            <a:r>
              <a:rPr lang="en-GB" sz="1100" b="1" i="1" dirty="0"/>
              <a:t>more products</a:t>
            </a:r>
            <a:r>
              <a:rPr lang="en-GB" sz="1100" i="1" dirty="0"/>
              <a:t>…</a:t>
            </a:r>
          </a:p>
        </p:txBody>
      </p:sp>
      <p:sp>
        <p:nvSpPr>
          <p:cNvPr id="70711" name="Rectangle 55"/>
          <p:cNvSpPr>
            <a:spLocks noChangeArrowheads="1"/>
          </p:cNvSpPr>
          <p:nvPr/>
        </p:nvSpPr>
        <p:spPr bwMode="auto">
          <a:xfrm>
            <a:off x="609600" y="3619500"/>
            <a:ext cx="2514600" cy="1692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What about our </a:t>
            </a:r>
            <a:r>
              <a:rPr lang="en-GB" sz="1100" b="1" i="1" dirty="0"/>
              <a:t>People</a:t>
            </a:r>
            <a:r>
              <a:rPr lang="en-GB" sz="1100" i="1" dirty="0"/>
              <a:t>?</a:t>
            </a:r>
          </a:p>
        </p:txBody>
      </p:sp>
      <p:sp>
        <p:nvSpPr>
          <p:cNvPr id="70712" name="Rectangle 56"/>
          <p:cNvSpPr>
            <a:spLocks noChangeArrowheads="1"/>
          </p:cNvSpPr>
          <p:nvPr/>
        </p:nvSpPr>
        <p:spPr bwMode="auto">
          <a:xfrm>
            <a:off x="609600" y="3881438"/>
            <a:ext cx="152400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Possibly next year </a:t>
            </a:r>
            <a:br>
              <a:rPr lang="en-GB" sz="1100" i="1" dirty="0"/>
            </a:br>
            <a:r>
              <a:rPr lang="en-GB" sz="1100" i="1" dirty="0"/>
              <a:t>– we only have </a:t>
            </a:r>
            <a:r>
              <a:rPr lang="en-GB" sz="1100" b="1" i="1" dirty="0" smtClean="0"/>
              <a:t>9M </a:t>
            </a:r>
            <a:r>
              <a:rPr lang="en-GB" sz="1100" b="1" i="1" dirty="0"/>
              <a:t>to invest</a:t>
            </a:r>
            <a:r>
              <a:rPr lang="en-GB" sz="1100" i="1" dirty="0"/>
              <a:t> this year. </a:t>
            </a:r>
          </a:p>
        </p:txBody>
      </p:sp>
      <p:sp>
        <p:nvSpPr>
          <p:cNvPr id="70717" name="Rectangle 61"/>
          <p:cNvSpPr>
            <a:spLocks noChangeArrowheads="1"/>
          </p:cNvSpPr>
          <p:nvPr/>
        </p:nvSpPr>
        <p:spPr bwMode="auto">
          <a:xfrm>
            <a:off x="609600" y="4479925"/>
            <a:ext cx="137160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i="1" dirty="0">
                <a:solidFill>
                  <a:srgbClr val="00AEC6"/>
                </a:solidFill>
              </a:rPr>
              <a:t>OK… Let’s go for it! </a:t>
            </a:r>
          </a:p>
        </p:txBody>
      </p:sp>
      <p:sp>
        <p:nvSpPr>
          <p:cNvPr id="70756" name="Line 100"/>
          <p:cNvSpPr>
            <a:spLocks noChangeShapeType="1"/>
          </p:cNvSpPr>
          <p:nvPr/>
        </p:nvSpPr>
        <p:spPr bwMode="auto">
          <a:xfrm>
            <a:off x="2566988" y="3105150"/>
            <a:ext cx="2690812" cy="2081560"/>
          </a:xfrm>
          <a:prstGeom prst="line">
            <a:avLst/>
          </a:prstGeom>
          <a:noFill/>
          <a:ln w="762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0" name="Rectangle 54"/>
          <p:cNvSpPr>
            <a:spLocks noChangeArrowheads="1"/>
          </p:cNvSpPr>
          <p:nvPr/>
        </p:nvSpPr>
        <p:spPr bwMode="auto">
          <a:xfrm>
            <a:off x="609600" y="3021013"/>
            <a:ext cx="1981200" cy="5078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Yes, and we need to invest in </a:t>
            </a:r>
            <a:r>
              <a:rPr lang="en-GB" sz="1100" b="1" i="1" dirty="0"/>
              <a:t>Processes</a:t>
            </a:r>
            <a:r>
              <a:rPr lang="en-GB" sz="1100" i="1" dirty="0"/>
              <a:t> as the S customers are sensitive to efficiency.</a:t>
            </a:r>
          </a:p>
        </p:txBody>
      </p:sp>
      <p:sp>
        <p:nvSpPr>
          <p:cNvPr id="70757" name="AutoShape 101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33638" y="6296818"/>
            <a:ext cx="1008062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4839" y="1762125"/>
            <a:ext cx="510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4000" dirty="0" smtClean="0">
                <a:solidFill>
                  <a:srgbClr val="00AEC6"/>
                </a:solidFill>
                <a:latin typeface="Akzidenz-Grotesk Pro Bold Ext" pitchFamily="50" charset="0"/>
                <a:ea typeface="Batang" pitchFamily="18" charset="-127"/>
              </a:rPr>
              <a:t>”</a:t>
            </a:r>
            <a:endParaRPr lang="en-US" sz="4000" dirty="0">
              <a:solidFill>
                <a:srgbClr val="00AEC6"/>
              </a:solidFill>
              <a:latin typeface="Akzidenz-Grotesk Pro Bold Ext" pitchFamily="50" charset="0"/>
              <a:ea typeface="Batang" pitchFamily="18" charset="-127"/>
            </a:endParaRPr>
          </a:p>
        </p:txBody>
      </p:sp>
      <p:sp>
        <p:nvSpPr>
          <p:cNvPr id="4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1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5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5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9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7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9900"/>
                            </p:stCondLst>
                            <p:childTnLst>
                              <p:par>
                                <p:cTn id="4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5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49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7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8900"/>
                            </p:stCondLst>
                            <p:childTnLst>
                              <p:par>
                                <p:cTn id="5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200"/>
                                        <p:tgtEl>
                                          <p:spTgt spid="7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39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7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7900"/>
                            </p:stCondLst>
                            <p:childTnLst>
                              <p:par>
                                <p:cTn id="6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3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09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0" presetClass="path" presetSubtype="0" accel="50000" decel="5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8.33333E-7 -4.81481E-6 C 8.33333E-7 -0.00393 0.00052 -0.01944 0.00052 -0.02337 " pathEditMode="relative" rAng="0" ptsTypes="ff">
                                      <p:cBhvr>
                                        <p:cTn id="73" dur="3800" fill="hold"/>
                                        <p:tgtEl>
                                          <p:spTgt spid="707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1181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8.33333E-7 -4.81481E-6 C 8.33333E-7 -0.00393 0.00052 -0.01944 0.00052 -0.02337 " pathEditMode="relative" rAng="0" ptsTypes="ff">
                                      <p:cBhvr>
                                        <p:cTn id="75" dur="3800" fill="hold"/>
                                        <p:tgtEl>
                                          <p:spTgt spid="707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1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7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6100"/>
                            </p:stCondLst>
                            <p:childTnLst>
                              <p:par>
                                <p:cTn id="81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764 -0.10641 C -0.04028 -0.10387 -0.16215 -0.10688 -0.20295 -0.0923 C -0.24375 -0.07773 -0.24375 -0.04419 -0.25295 -0.0192 C -0.26215 0.00578 -0.25712 0.0414 -0.25816 0.05736 " pathEditMode="relative" rAng="0" ptsTypes="aaaa">
                                      <p:cBhvr>
                                        <p:cTn id="82" dur="2900" fill="hold"/>
                                        <p:tgtEl>
                                          <p:spTgt spid="707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26" y="816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-2.77778E-7 2.96296E-6 C 0.01129 -0.00023 0.04427 0.0162 0.06649 0.01574 C 0.08872 0.01527 0.11858 -0.00162 0.13316 0.00185 " pathEditMode="relative" rAng="0" ptsTypes="fsf">
                                      <p:cBhvr>
                                        <p:cTn id="84" dur="2300" fill="hold"/>
                                        <p:tgtEl>
                                          <p:spTgt spid="707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49" y="718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0573 -0.09415 C -0.01493 -0.09137 -0.09584 -0.09877 -0.11788 -0.07726 C -0.13993 -0.05575 -0.125 0.01203 -0.12622 0.03493 C -0.12743 0.05783 -0.12518 0.05482 -0.12483 0.05991 " pathEditMode="relative" rAng="0" ptsTypes="aaaa">
                                      <p:cBhvr>
                                        <p:cTn id="86" dur="2900" fill="hold"/>
                                        <p:tgtEl>
                                          <p:spTgt spid="707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7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29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29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95" grpId="0" animBg="1"/>
      <p:bldP spid="70702" grpId="0"/>
      <p:bldP spid="70722" grpId="0" animBg="1"/>
      <p:bldP spid="70723" grpId="0" animBg="1"/>
      <p:bldP spid="70724" grpId="0" animBg="1"/>
      <p:bldP spid="70726" grpId="0" animBg="1"/>
      <p:bldP spid="70733" grpId="0" animBg="1"/>
      <p:bldP spid="70725" grpId="0" animBg="1"/>
      <p:bldP spid="70739" grpId="0" animBg="1"/>
      <p:bldP spid="70739" grpId="1" animBg="1"/>
      <p:bldP spid="70740" grpId="0" animBg="1"/>
      <p:bldP spid="70740" grpId="1" animBg="1"/>
      <p:bldP spid="70750" grpId="0" animBg="1"/>
      <p:bldP spid="70751" grpId="0" animBg="1"/>
      <p:bldP spid="70752" grpId="0" animBg="1"/>
      <p:bldP spid="70708" grpId="0"/>
      <p:bldP spid="70709" grpId="0"/>
      <p:bldP spid="70711" grpId="0" animBg="1"/>
      <p:bldP spid="70712" grpId="0"/>
      <p:bldP spid="70717" grpId="0"/>
      <p:bldP spid="70756" grpId="0" animBg="1"/>
      <p:bldP spid="70710" grpId="0" animBg="1"/>
      <p:bldP spid="707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8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9607" y="836712"/>
            <a:ext cx="1251438" cy="10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609600" y="981075"/>
            <a:ext cx="309830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STEP 2</a:t>
            </a:r>
            <a:r>
              <a:rPr lang="en-GB" sz="1100" dirty="0">
                <a:solidFill>
                  <a:srgbClr val="00AEC6"/>
                </a:solidFill>
              </a:rPr>
              <a:t>: </a:t>
            </a:r>
            <a:r>
              <a:rPr lang="en-GB" sz="1100" dirty="0"/>
              <a:t>Decide which ORDERS TO PITCH</a:t>
            </a:r>
            <a:r>
              <a:rPr lang="en-GB" sz="1100" b="1" dirty="0"/>
              <a:t> </a:t>
            </a:r>
            <a:r>
              <a:rPr lang="en-GB" sz="1100" dirty="0"/>
              <a:t>FOR in response to requests for proposals.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Examples of questions to discuss:</a:t>
            </a:r>
          </a:p>
        </p:txBody>
      </p:sp>
      <p:grpSp>
        <p:nvGrpSpPr>
          <p:cNvPr id="20485" name="Group 4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20539" name="Line 5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540" name="Line 6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604838" y="304800"/>
            <a:ext cx="5191125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4. Running the simulation: Pitching for orders</a:t>
            </a:r>
          </a:p>
        </p:txBody>
      </p:sp>
      <p:grpSp>
        <p:nvGrpSpPr>
          <p:cNvPr id="20487" name="Group 11"/>
          <p:cNvGrpSpPr>
            <a:grpSpLocks/>
          </p:cNvGrpSpPr>
          <p:nvPr/>
        </p:nvGrpSpPr>
        <p:grpSpPr bwMode="auto">
          <a:xfrm>
            <a:off x="609600" y="1828800"/>
            <a:ext cx="1371600" cy="2879725"/>
            <a:chOff x="384" y="1152"/>
            <a:chExt cx="864" cy="1814"/>
          </a:xfrm>
        </p:grpSpPr>
        <p:sp>
          <p:nvSpPr>
            <p:cNvPr id="20537" name="Line 12"/>
            <p:cNvSpPr>
              <a:spLocks noChangeShapeType="1"/>
            </p:cNvSpPr>
            <p:nvPr/>
          </p:nvSpPr>
          <p:spPr bwMode="auto">
            <a:xfrm>
              <a:off x="384" y="1152"/>
              <a:ext cx="0" cy="1814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8" name="Line 13"/>
            <p:cNvSpPr>
              <a:spLocks noChangeShapeType="1"/>
            </p:cNvSpPr>
            <p:nvPr/>
          </p:nvSpPr>
          <p:spPr bwMode="auto">
            <a:xfrm>
              <a:off x="384" y="2966"/>
              <a:ext cx="864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0934" name="AutoShape 38"/>
          <p:cNvSpPr>
            <a:spLocks noChangeArrowheads="1"/>
          </p:cNvSpPr>
          <p:nvPr/>
        </p:nvSpPr>
        <p:spPr bwMode="auto">
          <a:xfrm>
            <a:off x="1115617" y="1942125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80939" name="Rectangle 43"/>
          <p:cNvSpPr>
            <a:spLocks noChangeArrowheads="1"/>
          </p:cNvSpPr>
          <p:nvPr/>
        </p:nvSpPr>
        <p:spPr bwMode="auto">
          <a:xfrm>
            <a:off x="609600" y="222885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For which customers is there a match between their </a:t>
            </a:r>
            <a:r>
              <a:rPr lang="en-GB" sz="1100" b="1" i="1" dirty="0"/>
              <a:t>primary needs </a:t>
            </a:r>
            <a:r>
              <a:rPr lang="en-GB" sz="1100" i="1" dirty="0"/>
              <a:t>and what we offer?</a:t>
            </a:r>
          </a:p>
        </p:txBody>
      </p:sp>
      <p:sp>
        <p:nvSpPr>
          <p:cNvPr id="80940" name="Rectangle 44"/>
          <p:cNvSpPr>
            <a:spLocks noChangeArrowheads="1"/>
          </p:cNvSpPr>
          <p:nvPr/>
        </p:nvSpPr>
        <p:spPr bwMode="auto">
          <a:xfrm>
            <a:off x="609600" y="2720975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Are we strong enough on these customers’ top </a:t>
            </a:r>
            <a:r>
              <a:rPr lang="en-GB" sz="1100" b="1" i="1" dirty="0"/>
              <a:t>choice criteria</a:t>
            </a:r>
            <a:r>
              <a:rPr lang="en-GB" sz="1100" i="1" dirty="0"/>
              <a:t>?</a:t>
            </a:r>
          </a:p>
        </p:txBody>
      </p:sp>
      <p:sp>
        <p:nvSpPr>
          <p:cNvPr id="80941" name="Rectangle 45"/>
          <p:cNvSpPr>
            <a:spLocks noChangeArrowheads="1"/>
          </p:cNvSpPr>
          <p:nvPr/>
        </p:nvSpPr>
        <p:spPr bwMode="auto">
          <a:xfrm>
            <a:off x="609600" y="3706813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Which competitors are we likely to pitch against? Can we beat them?</a:t>
            </a:r>
          </a:p>
        </p:txBody>
      </p:sp>
      <p:sp>
        <p:nvSpPr>
          <p:cNvPr id="80942" name="Rectangle 46"/>
          <p:cNvSpPr>
            <a:spLocks noChangeArrowheads="1"/>
          </p:cNvSpPr>
          <p:nvPr/>
        </p:nvSpPr>
        <p:spPr bwMode="auto">
          <a:xfrm>
            <a:off x="609600" y="4198938"/>
            <a:ext cx="297180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As some of these customers are price sensitive, do we </a:t>
            </a:r>
            <a:r>
              <a:rPr lang="en-GB" sz="1100" i="1" dirty="0" smtClean="0"/>
              <a:t>need </a:t>
            </a:r>
            <a:r>
              <a:rPr lang="en-GB" sz="1100" i="1" dirty="0"/>
              <a:t>to offer them a low or even an extra low price?</a:t>
            </a:r>
          </a:p>
        </p:txBody>
      </p:sp>
      <p:sp>
        <p:nvSpPr>
          <p:cNvPr id="80943" name="Rectangle 47"/>
          <p:cNvSpPr>
            <a:spLocks noChangeArrowheads="1"/>
          </p:cNvSpPr>
          <p:nvPr/>
        </p:nvSpPr>
        <p:spPr bwMode="auto">
          <a:xfrm>
            <a:off x="609600" y="4860925"/>
            <a:ext cx="2879725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>
                <a:solidFill>
                  <a:srgbClr val="00AEC6"/>
                </a:solidFill>
              </a:rPr>
              <a:t>Most likely. OK… Let’s go for these three! </a:t>
            </a:r>
          </a:p>
        </p:txBody>
      </p:sp>
      <p:sp>
        <p:nvSpPr>
          <p:cNvPr id="80946" name="Rectangle 50"/>
          <p:cNvSpPr>
            <a:spLocks noChangeArrowheads="1"/>
          </p:cNvSpPr>
          <p:nvPr/>
        </p:nvSpPr>
        <p:spPr bwMode="auto">
          <a:xfrm>
            <a:off x="609600" y="321310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Is the size of the order good enough – both in terms of volume and possible price level?</a:t>
            </a:r>
          </a:p>
        </p:txBody>
      </p:sp>
      <p:sp>
        <p:nvSpPr>
          <p:cNvPr id="80947" name="AutoShape 51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96200" y="6237312"/>
            <a:ext cx="1008062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80959" name="Rectangle 63"/>
          <p:cNvSpPr>
            <a:spLocks noChangeArrowheads="1"/>
          </p:cNvSpPr>
          <p:nvPr/>
        </p:nvSpPr>
        <p:spPr bwMode="auto">
          <a:xfrm>
            <a:off x="4597400" y="3884613"/>
            <a:ext cx="1127125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100" i="1" dirty="0"/>
              <a:t>Which three orders to pitch for </a:t>
            </a:r>
            <a:endParaRPr lang="en-GB" sz="1100" dirty="0"/>
          </a:p>
        </p:txBody>
      </p:sp>
      <p:grpSp>
        <p:nvGrpSpPr>
          <p:cNvPr id="81062" name="Group 166"/>
          <p:cNvGrpSpPr>
            <a:grpSpLocks/>
          </p:cNvGrpSpPr>
          <p:nvPr/>
        </p:nvGrpSpPr>
        <p:grpSpPr bwMode="auto">
          <a:xfrm>
            <a:off x="4708525" y="4467225"/>
            <a:ext cx="3978275" cy="1554163"/>
            <a:chOff x="2966" y="2765"/>
            <a:chExt cx="2506" cy="979"/>
          </a:xfrm>
        </p:grpSpPr>
        <p:pic>
          <p:nvPicPr>
            <p:cNvPr id="20534" name="Picture 52" descr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4" t="13771" r="1591" b="2623"/>
            <a:stretch>
              <a:fillRect/>
            </a:stretch>
          </p:blipFill>
          <p:spPr bwMode="auto">
            <a:xfrm>
              <a:off x="3739" y="2948"/>
              <a:ext cx="1733" cy="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5" name="Rectangle 157"/>
            <p:cNvSpPr>
              <a:spLocks noChangeArrowheads="1"/>
            </p:cNvSpPr>
            <p:nvPr/>
          </p:nvSpPr>
          <p:spPr bwMode="auto">
            <a:xfrm>
              <a:off x="2966" y="3340"/>
              <a:ext cx="57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100" dirty="0">
                  <a:solidFill>
                    <a:srgbClr val="00AEC6"/>
                  </a:solidFill>
                </a:rPr>
                <a:t>WHAT YOU CAN OFFER</a:t>
              </a:r>
            </a:p>
          </p:txBody>
        </p:sp>
        <p:sp>
          <p:nvSpPr>
            <p:cNvPr id="20536" name="AutoShape 161"/>
            <p:cNvSpPr>
              <a:spLocks noChangeArrowheads="1"/>
            </p:cNvSpPr>
            <p:nvPr/>
          </p:nvSpPr>
          <p:spPr bwMode="auto">
            <a:xfrm>
              <a:off x="3086" y="2765"/>
              <a:ext cx="336" cy="480"/>
            </a:xfrm>
            <a:prstGeom prst="upArrow">
              <a:avLst>
                <a:gd name="adj1" fmla="val 54167"/>
                <a:gd name="adj2" fmla="val 57401"/>
              </a:avLst>
            </a:prstGeom>
            <a:gradFill rotWithShape="1">
              <a:gsLst>
                <a:gs pos="0">
                  <a:srgbClr val="EA5E13"/>
                </a:gs>
                <a:gs pos="100000">
                  <a:srgbClr val="764700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81063" name="Group 167"/>
          <p:cNvGrpSpPr>
            <a:grpSpLocks/>
          </p:cNvGrpSpPr>
          <p:nvPr/>
        </p:nvGrpSpPr>
        <p:grpSpPr bwMode="auto">
          <a:xfrm>
            <a:off x="4632325" y="639763"/>
            <a:ext cx="3825875" cy="3125787"/>
            <a:chOff x="2918" y="403"/>
            <a:chExt cx="2410" cy="1969"/>
          </a:xfrm>
        </p:grpSpPr>
        <p:sp>
          <p:nvSpPr>
            <p:cNvPr id="20514" name="Rectangle 153"/>
            <p:cNvSpPr>
              <a:spLocks noChangeArrowheads="1"/>
            </p:cNvSpPr>
            <p:nvPr/>
          </p:nvSpPr>
          <p:spPr bwMode="auto">
            <a:xfrm>
              <a:off x="3904" y="1656"/>
              <a:ext cx="142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10000"/>
                </a:lnSpc>
              </a:pPr>
              <a:r>
                <a:rPr lang="en-GB" sz="1000" dirty="0">
                  <a:latin typeface="Arial Narrow" pitchFamily="34" charset="0"/>
                </a:rPr>
                <a:t>Requests for proposal with information about:</a:t>
              </a:r>
            </a:p>
            <a:p>
              <a:pPr marL="152400" lvl="1" indent="-150813">
                <a:lnSpc>
                  <a:spcPct val="110000"/>
                </a:lnSpc>
                <a:buFontTx/>
                <a:buChar char="•"/>
              </a:pPr>
              <a:r>
                <a:rPr lang="en-GB" sz="1000" dirty="0">
                  <a:latin typeface="Arial Narrow" pitchFamily="34" charset="0"/>
                </a:rPr>
                <a:t>Primary needs</a:t>
              </a:r>
            </a:p>
            <a:p>
              <a:pPr marL="152400" lvl="1" indent="-150813">
                <a:lnSpc>
                  <a:spcPct val="110000"/>
                </a:lnSpc>
                <a:buFontTx/>
                <a:buChar char="•"/>
              </a:pPr>
              <a:r>
                <a:rPr lang="en-GB" sz="1000" dirty="0">
                  <a:latin typeface="Arial Narrow" pitchFamily="34" charset="0"/>
                </a:rPr>
                <a:t>Choice criteria, in order of importance</a:t>
              </a:r>
            </a:p>
            <a:p>
              <a:pPr marL="152400" lvl="1" indent="-150813">
                <a:lnSpc>
                  <a:spcPct val="110000"/>
                </a:lnSpc>
                <a:buFontTx/>
                <a:buChar char="•"/>
              </a:pPr>
              <a:r>
                <a:rPr lang="en-GB" sz="1000" dirty="0">
                  <a:latin typeface="Arial Narrow" pitchFamily="34" charset="0"/>
                </a:rPr>
                <a:t>Volume (capacity need) and Price range</a:t>
              </a:r>
            </a:p>
          </p:txBody>
        </p:sp>
        <p:pic>
          <p:nvPicPr>
            <p:cNvPr id="20515" name="Picture 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164" y="403"/>
              <a:ext cx="868" cy="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6" name="Rectangle 53"/>
            <p:cNvSpPr>
              <a:spLocks noChangeArrowheads="1"/>
            </p:cNvSpPr>
            <p:nvPr/>
          </p:nvSpPr>
          <p:spPr bwMode="auto">
            <a:xfrm>
              <a:off x="3904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17" name="Line 137"/>
            <p:cNvSpPr>
              <a:spLocks noChangeShapeType="1"/>
            </p:cNvSpPr>
            <p:nvPr/>
          </p:nvSpPr>
          <p:spPr bwMode="auto">
            <a:xfrm flipH="1">
              <a:off x="3984" y="692"/>
              <a:ext cx="288" cy="714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8" name="Line 138"/>
            <p:cNvSpPr>
              <a:spLocks noChangeShapeType="1"/>
            </p:cNvSpPr>
            <p:nvPr/>
          </p:nvSpPr>
          <p:spPr bwMode="auto">
            <a:xfrm flipH="1">
              <a:off x="4164" y="788"/>
              <a:ext cx="204" cy="61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9" name="Line 139"/>
            <p:cNvSpPr>
              <a:spLocks noChangeShapeType="1"/>
            </p:cNvSpPr>
            <p:nvPr/>
          </p:nvSpPr>
          <p:spPr bwMode="auto">
            <a:xfrm flipH="1">
              <a:off x="4344" y="1028"/>
              <a:ext cx="24" cy="37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0" name="Line 140"/>
            <p:cNvSpPr>
              <a:spLocks noChangeShapeType="1"/>
            </p:cNvSpPr>
            <p:nvPr/>
          </p:nvSpPr>
          <p:spPr bwMode="auto">
            <a:xfrm>
              <a:off x="4512" y="932"/>
              <a:ext cx="12" cy="474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Line 141"/>
            <p:cNvSpPr>
              <a:spLocks noChangeShapeType="1"/>
            </p:cNvSpPr>
            <p:nvPr/>
          </p:nvSpPr>
          <p:spPr bwMode="auto">
            <a:xfrm>
              <a:off x="4630" y="808"/>
              <a:ext cx="74" cy="59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Line 142"/>
            <p:cNvSpPr>
              <a:spLocks noChangeShapeType="1"/>
            </p:cNvSpPr>
            <p:nvPr/>
          </p:nvSpPr>
          <p:spPr bwMode="auto">
            <a:xfrm>
              <a:off x="4826" y="1136"/>
              <a:ext cx="58" cy="270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Line 143"/>
            <p:cNvSpPr>
              <a:spLocks noChangeShapeType="1"/>
            </p:cNvSpPr>
            <p:nvPr/>
          </p:nvSpPr>
          <p:spPr bwMode="auto">
            <a:xfrm>
              <a:off x="4896" y="1028"/>
              <a:ext cx="168" cy="378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Line 144"/>
            <p:cNvSpPr>
              <a:spLocks noChangeShapeType="1"/>
            </p:cNvSpPr>
            <p:nvPr/>
          </p:nvSpPr>
          <p:spPr bwMode="auto">
            <a:xfrm>
              <a:off x="4848" y="644"/>
              <a:ext cx="396" cy="762"/>
            </a:xfrm>
            <a:prstGeom prst="line">
              <a:avLst/>
            </a:prstGeom>
            <a:noFill/>
            <a:ln w="28575">
              <a:solidFill>
                <a:srgbClr val="256EB9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Rectangle 146"/>
            <p:cNvSpPr>
              <a:spLocks noChangeArrowheads="1"/>
            </p:cNvSpPr>
            <p:nvPr/>
          </p:nvSpPr>
          <p:spPr bwMode="auto">
            <a:xfrm>
              <a:off x="4088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26" name="Rectangle 147"/>
            <p:cNvSpPr>
              <a:spLocks noChangeArrowheads="1"/>
            </p:cNvSpPr>
            <p:nvPr/>
          </p:nvSpPr>
          <p:spPr bwMode="auto">
            <a:xfrm>
              <a:off x="4272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27" name="Rectangle 148"/>
            <p:cNvSpPr>
              <a:spLocks noChangeArrowheads="1"/>
            </p:cNvSpPr>
            <p:nvPr/>
          </p:nvSpPr>
          <p:spPr bwMode="auto">
            <a:xfrm>
              <a:off x="4456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28" name="Rectangle 149"/>
            <p:cNvSpPr>
              <a:spLocks noChangeArrowheads="1"/>
            </p:cNvSpPr>
            <p:nvPr/>
          </p:nvSpPr>
          <p:spPr bwMode="auto">
            <a:xfrm>
              <a:off x="4640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29" name="Rectangle 150"/>
            <p:cNvSpPr>
              <a:spLocks noChangeArrowheads="1"/>
            </p:cNvSpPr>
            <p:nvPr/>
          </p:nvSpPr>
          <p:spPr bwMode="auto">
            <a:xfrm>
              <a:off x="4824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30" name="Rectangle 151"/>
            <p:cNvSpPr>
              <a:spLocks noChangeArrowheads="1"/>
            </p:cNvSpPr>
            <p:nvPr/>
          </p:nvSpPr>
          <p:spPr bwMode="auto">
            <a:xfrm>
              <a:off x="5008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31" name="Rectangle 152"/>
            <p:cNvSpPr>
              <a:spLocks noChangeArrowheads="1"/>
            </p:cNvSpPr>
            <p:nvPr/>
          </p:nvSpPr>
          <p:spPr bwMode="auto">
            <a:xfrm>
              <a:off x="5192" y="1452"/>
              <a:ext cx="136" cy="208"/>
            </a:xfrm>
            <a:prstGeom prst="rect">
              <a:avLst/>
            </a:prstGeom>
            <a:solidFill>
              <a:srgbClr val="7F7F7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/>
              <a:r>
                <a:rPr lang="en-GB" sz="1000" i="1">
                  <a:solidFill>
                    <a:schemeClr val="bg1"/>
                  </a:solidFill>
                  <a:latin typeface="Arial Narrow" pitchFamily="34" charset="0"/>
                </a:rPr>
                <a:t>Rfp</a:t>
              </a:r>
            </a:p>
          </p:txBody>
        </p:sp>
        <p:sp>
          <p:nvSpPr>
            <p:cNvPr id="20532" name="Rectangle 159"/>
            <p:cNvSpPr>
              <a:spLocks noChangeArrowheads="1"/>
            </p:cNvSpPr>
            <p:nvPr/>
          </p:nvSpPr>
          <p:spPr bwMode="auto">
            <a:xfrm>
              <a:off x="2918" y="1460"/>
              <a:ext cx="672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GB" sz="1100" dirty="0">
                  <a:solidFill>
                    <a:srgbClr val="00AEC6"/>
                  </a:solidFill>
                </a:rPr>
                <a:t>WHAT THE CUSTOMERS ASK FOR</a:t>
              </a:r>
            </a:p>
          </p:txBody>
        </p:sp>
        <p:sp>
          <p:nvSpPr>
            <p:cNvPr id="20533" name="AutoShape 163"/>
            <p:cNvSpPr>
              <a:spLocks noChangeArrowheads="1"/>
            </p:cNvSpPr>
            <p:nvPr/>
          </p:nvSpPr>
          <p:spPr bwMode="auto">
            <a:xfrm flipV="1">
              <a:off x="3086" y="1892"/>
              <a:ext cx="336" cy="480"/>
            </a:xfrm>
            <a:prstGeom prst="upArrow">
              <a:avLst>
                <a:gd name="adj1" fmla="val 54167"/>
                <a:gd name="adj2" fmla="val 57401"/>
              </a:avLst>
            </a:prstGeom>
            <a:gradFill rotWithShape="1">
              <a:gsLst>
                <a:gs pos="0">
                  <a:srgbClr val="256EB9"/>
                </a:gs>
                <a:gs pos="100000">
                  <a:srgbClr val="3366FF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81069" name="Line 173"/>
          <p:cNvSpPr>
            <a:spLocks noChangeShapeType="1"/>
          </p:cNvSpPr>
          <p:nvPr/>
        </p:nvSpPr>
        <p:spPr bwMode="auto">
          <a:xfrm>
            <a:off x="6334125" y="2665413"/>
            <a:ext cx="0" cy="1123950"/>
          </a:xfrm>
          <a:prstGeom prst="line">
            <a:avLst/>
          </a:prstGeom>
          <a:noFill/>
          <a:ln w="1905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070" name="Line 174"/>
          <p:cNvSpPr>
            <a:spLocks noChangeShapeType="1"/>
          </p:cNvSpPr>
          <p:nvPr/>
        </p:nvSpPr>
        <p:spPr bwMode="auto">
          <a:xfrm>
            <a:off x="6599238" y="2665413"/>
            <a:ext cx="0" cy="1123950"/>
          </a:xfrm>
          <a:prstGeom prst="line">
            <a:avLst/>
          </a:prstGeom>
          <a:noFill/>
          <a:ln w="1905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071" name="Line 175"/>
          <p:cNvSpPr>
            <a:spLocks noChangeShapeType="1"/>
          </p:cNvSpPr>
          <p:nvPr/>
        </p:nvSpPr>
        <p:spPr bwMode="auto">
          <a:xfrm>
            <a:off x="6896100" y="2665413"/>
            <a:ext cx="0" cy="1123950"/>
          </a:xfrm>
          <a:prstGeom prst="line">
            <a:avLst/>
          </a:prstGeom>
          <a:noFill/>
          <a:ln w="1905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072" name="Line 176"/>
          <p:cNvSpPr>
            <a:spLocks noChangeShapeType="1"/>
          </p:cNvSpPr>
          <p:nvPr/>
        </p:nvSpPr>
        <p:spPr bwMode="auto">
          <a:xfrm>
            <a:off x="7186613" y="2665413"/>
            <a:ext cx="0" cy="1123950"/>
          </a:xfrm>
          <a:prstGeom prst="line">
            <a:avLst/>
          </a:prstGeom>
          <a:noFill/>
          <a:ln w="1905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074" name="Line 178"/>
          <p:cNvSpPr>
            <a:spLocks noChangeShapeType="1"/>
          </p:cNvSpPr>
          <p:nvPr/>
        </p:nvSpPr>
        <p:spPr bwMode="auto">
          <a:xfrm>
            <a:off x="7789863" y="2665413"/>
            <a:ext cx="0" cy="1123950"/>
          </a:xfrm>
          <a:prstGeom prst="line">
            <a:avLst/>
          </a:prstGeom>
          <a:noFill/>
          <a:ln w="1905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075" name="Line 179"/>
          <p:cNvSpPr>
            <a:spLocks noChangeShapeType="1"/>
          </p:cNvSpPr>
          <p:nvPr/>
        </p:nvSpPr>
        <p:spPr bwMode="auto">
          <a:xfrm>
            <a:off x="8067675" y="2665413"/>
            <a:ext cx="0" cy="1123950"/>
          </a:xfrm>
          <a:prstGeom prst="line">
            <a:avLst/>
          </a:prstGeom>
          <a:noFill/>
          <a:ln w="1905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050" name="Rectangle 154"/>
          <p:cNvSpPr>
            <a:spLocks noChangeArrowheads="1"/>
          </p:cNvSpPr>
          <p:nvPr/>
        </p:nvSpPr>
        <p:spPr bwMode="auto">
          <a:xfrm>
            <a:off x="6227763" y="3822700"/>
            <a:ext cx="215900" cy="3302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alpha val="50000"/>
              </a:schemeClr>
            </a:outerShdw>
          </a:effectLst>
        </p:spPr>
        <p:txBody>
          <a:bodyPr wrap="none"/>
          <a:lstStyle/>
          <a:p>
            <a:pPr algn="ctr"/>
            <a:r>
              <a:rPr lang="en-GB" sz="1000" i="1">
                <a:latin typeface="Arial Narrow" pitchFamily="34" charset="0"/>
              </a:rPr>
              <a:t>Rfp</a:t>
            </a:r>
          </a:p>
        </p:txBody>
      </p:sp>
      <p:sp>
        <p:nvSpPr>
          <p:cNvPr id="81051" name="Rectangle 155"/>
          <p:cNvSpPr>
            <a:spLocks noChangeArrowheads="1"/>
          </p:cNvSpPr>
          <p:nvPr/>
        </p:nvSpPr>
        <p:spPr bwMode="auto">
          <a:xfrm>
            <a:off x="6515100" y="3822700"/>
            <a:ext cx="215900" cy="3302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alpha val="50000"/>
              </a:schemeClr>
            </a:outerShdw>
          </a:effectLst>
        </p:spPr>
        <p:txBody>
          <a:bodyPr wrap="none"/>
          <a:lstStyle/>
          <a:p>
            <a:pPr algn="ctr"/>
            <a:r>
              <a:rPr lang="en-GB" sz="1000" i="1">
                <a:latin typeface="Arial Narrow" pitchFamily="34" charset="0"/>
              </a:rPr>
              <a:t>Rfp</a:t>
            </a:r>
          </a:p>
        </p:txBody>
      </p:sp>
      <p:sp>
        <p:nvSpPr>
          <p:cNvPr id="81064" name="Rectangle 168"/>
          <p:cNvSpPr>
            <a:spLocks noChangeArrowheads="1"/>
          </p:cNvSpPr>
          <p:nvPr/>
        </p:nvSpPr>
        <p:spPr bwMode="auto">
          <a:xfrm>
            <a:off x="6802438" y="3822700"/>
            <a:ext cx="215900" cy="3302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alpha val="50000"/>
              </a:schemeClr>
            </a:outerShdw>
          </a:effectLst>
        </p:spPr>
        <p:txBody>
          <a:bodyPr wrap="none"/>
          <a:lstStyle/>
          <a:p>
            <a:pPr algn="ctr"/>
            <a:r>
              <a:rPr lang="en-GB" sz="1000" i="1">
                <a:latin typeface="Arial Narrow" pitchFamily="34" charset="0"/>
              </a:rPr>
              <a:t>Rfp</a:t>
            </a:r>
          </a:p>
        </p:txBody>
      </p:sp>
      <p:sp>
        <p:nvSpPr>
          <p:cNvPr id="81065" name="Rectangle 169"/>
          <p:cNvSpPr>
            <a:spLocks noChangeArrowheads="1"/>
          </p:cNvSpPr>
          <p:nvPr/>
        </p:nvSpPr>
        <p:spPr bwMode="auto">
          <a:xfrm>
            <a:off x="7091363" y="3822700"/>
            <a:ext cx="215900" cy="3302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alpha val="50000"/>
              </a:schemeClr>
            </a:outerShdw>
          </a:effectLst>
        </p:spPr>
        <p:txBody>
          <a:bodyPr wrap="none"/>
          <a:lstStyle/>
          <a:p>
            <a:pPr algn="ctr"/>
            <a:r>
              <a:rPr lang="en-GB" sz="1000" i="1">
                <a:latin typeface="Arial Narrow" pitchFamily="34" charset="0"/>
              </a:rPr>
              <a:t>Rfp</a:t>
            </a:r>
          </a:p>
        </p:txBody>
      </p:sp>
      <p:sp>
        <p:nvSpPr>
          <p:cNvPr id="81066" name="Rectangle 170"/>
          <p:cNvSpPr>
            <a:spLocks noChangeArrowheads="1"/>
          </p:cNvSpPr>
          <p:nvPr/>
        </p:nvSpPr>
        <p:spPr bwMode="auto">
          <a:xfrm>
            <a:off x="7667625" y="3822700"/>
            <a:ext cx="215900" cy="3302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alpha val="50000"/>
              </a:schemeClr>
            </a:outerShdw>
          </a:effectLst>
        </p:spPr>
        <p:txBody>
          <a:bodyPr wrap="none"/>
          <a:lstStyle/>
          <a:p>
            <a:pPr algn="ctr"/>
            <a:r>
              <a:rPr lang="en-GB" sz="1000" i="1">
                <a:latin typeface="Arial Narrow" pitchFamily="34" charset="0"/>
              </a:rPr>
              <a:t>Rfp</a:t>
            </a:r>
          </a:p>
        </p:txBody>
      </p:sp>
      <p:sp>
        <p:nvSpPr>
          <p:cNvPr id="81067" name="Rectangle 171"/>
          <p:cNvSpPr>
            <a:spLocks noChangeArrowheads="1"/>
          </p:cNvSpPr>
          <p:nvPr/>
        </p:nvSpPr>
        <p:spPr bwMode="auto">
          <a:xfrm>
            <a:off x="7954963" y="3822700"/>
            <a:ext cx="215900" cy="3302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alpha val="50000"/>
              </a:schemeClr>
            </a:outerShdw>
          </a:effectLst>
        </p:spPr>
        <p:txBody>
          <a:bodyPr wrap="none"/>
          <a:lstStyle/>
          <a:p>
            <a:pPr algn="ctr"/>
            <a:r>
              <a:rPr lang="en-GB" sz="1000" i="1">
                <a:latin typeface="Arial Narrow" pitchFamily="34" charset="0"/>
              </a:rPr>
              <a:t>Rfp</a:t>
            </a:r>
          </a:p>
        </p:txBody>
      </p:sp>
      <p:sp>
        <p:nvSpPr>
          <p:cNvPr id="81098" name="Rectangle 202"/>
          <p:cNvSpPr>
            <a:spLocks noChangeArrowheads="1"/>
          </p:cNvSpPr>
          <p:nvPr/>
        </p:nvSpPr>
        <p:spPr bwMode="auto">
          <a:xfrm>
            <a:off x="6227763" y="4221163"/>
            <a:ext cx="221932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Two proposals at LOW PRICE, </a:t>
            </a:r>
            <a:br>
              <a:rPr lang="en-GB" sz="1000"/>
            </a:br>
            <a:r>
              <a:rPr lang="en-GB" sz="1000"/>
              <a:t>one at EXTRA LOW PRICE.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4839" y="1762125"/>
            <a:ext cx="510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4000" dirty="0" smtClean="0">
                <a:solidFill>
                  <a:srgbClr val="00AEC6"/>
                </a:solidFill>
                <a:latin typeface="Akzidenz-Grotesk Pro Bold Ext" pitchFamily="50" charset="0"/>
                <a:ea typeface="Batang" pitchFamily="18" charset="-127"/>
              </a:rPr>
              <a:t>”</a:t>
            </a:r>
            <a:endParaRPr lang="en-US" sz="4000" dirty="0">
              <a:solidFill>
                <a:srgbClr val="00AEC6"/>
              </a:solidFill>
              <a:latin typeface="Akzidenz-Grotesk Pro Bold Ext" pitchFamily="50" charset="0"/>
              <a:ea typeface="Batang" pitchFamily="18" charset="-127"/>
            </a:endParaRPr>
          </a:p>
        </p:txBody>
      </p:sp>
      <p:pic>
        <p:nvPicPr>
          <p:cNvPr id="6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2257" y="639763"/>
            <a:ext cx="1377950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8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0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1000"/>
                                        <p:tgtEl>
                                          <p:spTgt spid="81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8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1000"/>
                                        <p:tgtEl>
                                          <p:spTgt spid="81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8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1000"/>
                                        <p:tgtEl>
                                          <p:spTgt spid="81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8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1000"/>
                                        <p:tgtEl>
                                          <p:spTgt spid="81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6"/>
                                            </p:cond>
                                          </p:stCondLst>
                                        </p:cTn>
                                        <p:tgtEl>
                                          <p:spTgt spid="8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1000"/>
                                        <p:tgtEl>
                                          <p:spTgt spid="81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8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1000"/>
                                        <p:tgtEl>
                                          <p:spTgt spid="810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0"/>
                                            </p:cond>
                                          </p:stCondLst>
                                        </p:cTn>
                                        <p:tgtEl>
                                          <p:spTgt spid="8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8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900"/>
                            </p:stCondLst>
                            <p:childTnLst>
                              <p:par>
                                <p:cTn id="71" presetID="11" presetClass="exit" presetSubtype="0" repeatCount="200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2" dur="1000"/>
                                        <p:tgtEl>
                                          <p:spTgt spid="8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38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8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400"/>
                            </p:stCondLst>
                            <p:childTnLst>
                              <p:par>
                                <p:cTn id="79" presetID="11" presetClass="exit" presetSubtype="0" repeatCount="200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0" dur="1000"/>
                                        <p:tgtEl>
                                          <p:spTgt spid="8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86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8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400"/>
                            </p:stCondLst>
                            <p:childTnLst>
                              <p:par>
                                <p:cTn id="87" presetID="11" presetClass="exit" presetSubtype="0" repeatCount="200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8" dur="1000"/>
                                        <p:tgtEl>
                                          <p:spTgt spid="8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200"/>
                                        <p:tgtEl>
                                          <p:spTgt spid="80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62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1000"/>
                                        <p:tgtEl>
                                          <p:spTgt spid="80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02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307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34" grpId="0" animBg="1"/>
      <p:bldP spid="80939" grpId="0"/>
      <p:bldP spid="80940" grpId="0"/>
      <p:bldP spid="80941" grpId="0"/>
      <p:bldP spid="80942" grpId="0"/>
      <p:bldP spid="80943" grpId="0"/>
      <p:bldP spid="80946" grpId="0"/>
      <p:bldP spid="80947" grpId="0" animBg="1"/>
      <p:bldP spid="80959" grpId="0"/>
      <p:bldP spid="81069" grpId="0" animBg="1"/>
      <p:bldP spid="81070" grpId="0" animBg="1"/>
      <p:bldP spid="81071" grpId="0" animBg="1"/>
      <p:bldP spid="81072" grpId="0" animBg="1"/>
      <p:bldP spid="81074" grpId="0" animBg="1"/>
      <p:bldP spid="81075" grpId="0" animBg="1"/>
      <p:bldP spid="81050" grpId="0" animBg="1"/>
      <p:bldP spid="81051" grpId="0" animBg="1"/>
      <p:bldP spid="81051" grpId="1" animBg="1"/>
      <p:bldP spid="81064" grpId="0" animBg="1"/>
      <p:bldP spid="81065" grpId="0" animBg="1"/>
      <p:bldP spid="81066" grpId="0" animBg="1"/>
      <p:bldP spid="81066" grpId="1" animBg="1"/>
      <p:bldP spid="81067" grpId="0" animBg="1"/>
      <p:bldP spid="81067" grpId="1" animBg="1"/>
      <p:bldP spid="8109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4457700" y="2349500"/>
            <a:ext cx="762000" cy="3385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1100" b="1" i="1" dirty="0">
                <a:solidFill>
                  <a:srgbClr val="00AEC6"/>
                </a:solidFill>
                <a:cs typeface="Arial" pitchFamily="34" charset="0"/>
              </a:rPr>
              <a:t>Current capacity</a:t>
            </a:r>
            <a:endParaRPr lang="en-GB" sz="1100" i="1" dirty="0">
              <a:solidFill>
                <a:srgbClr val="00AEC6"/>
              </a:solidFill>
              <a:cs typeface="Arial" pitchFamily="34" charset="0"/>
            </a:endParaRPr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>
            <a:off x="5334000" y="2432050"/>
            <a:ext cx="677863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5334000" y="2978150"/>
            <a:ext cx="677863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609600" y="981075"/>
            <a:ext cx="2971800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STEP 3</a:t>
            </a:r>
            <a:r>
              <a:rPr lang="en-GB" sz="1100" dirty="0">
                <a:solidFill>
                  <a:srgbClr val="00AEC6"/>
                </a:solidFill>
              </a:rPr>
              <a:t>: </a:t>
            </a:r>
            <a:r>
              <a:rPr lang="en-GB" sz="1100" dirty="0"/>
              <a:t>Decide on </a:t>
            </a:r>
            <a:r>
              <a:rPr lang="en-GB" sz="1100" b="1" dirty="0"/>
              <a:t>delivery capacity</a:t>
            </a:r>
            <a:r>
              <a:rPr lang="en-GB" sz="1100" dirty="0"/>
              <a:t> – is there a need for increase – or decrease?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Example of a discussion on the alternatives:</a:t>
            </a:r>
          </a:p>
        </p:txBody>
      </p:sp>
      <p:grpSp>
        <p:nvGrpSpPr>
          <p:cNvPr id="21511" name="Group 7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21548" name="Line 8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49" name="Line 9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1512" name="Rectangle 10"/>
          <p:cNvSpPr>
            <a:spLocks noChangeArrowheads="1"/>
          </p:cNvSpPr>
          <p:nvPr/>
        </p:nvSpPr>
        <p:spPr bwMode="auto">
          <a:xfrm>
            <a:off x="604838" y="304800"/>
            <a:ext cx="5191125" cy="381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4. Running the simulation: Capacity</a:t>
            </a:r>
          </a:p>
        </p:txBody>
      </p:sp>
      <p:grpSp>
        <p:nvGrpSpPr>
          <p:cNvPr id="21513" name="Group 11"/>
          <p:cNvGrpSpPr>
            <a:grpSpLocks/>
          </p:cNvGrpSpPr>
          <p:nvPr/>
        </p:nvGrpSpPr>
        <p:grpSpPr bwMode="auto">
          <a:xfrm>
            <a:off x="609600" y="1828800"/>
            <a:ext cx="1371600" cy="2879725"/>
            <a:chOff x="384" y="1152"/>
            <a:chExt cx="864" cy="1814"/>
          </a:xfrm>
        </p:grpSpPr>
        <p:sp>
          <p:nvSpPr>
            <p:cNvPr id="21546" name="Line 12"/>
            <p:cNvSpPr>
              <a:spLocks noChangeShapeType="1"/>
            </p:cNvSpPr>
            <p:nvPr/>
          </p:nvSpPr>
          <p:spPr bwMode="auto">
            <a:xfrm>
              <a:off x="384" y="1152"/>
              <a:ext cx="0" cy="1814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13"/>
            <p:cNvSpPr>
              <a:spLocks noChangeShapeType="1"/>
            </p:cNvSpPr>
            <p:nvPr/>
          </p:nvSpPr>
          <p:spPr bwMode="auto">
            <a:xfrm>
              <a:off x="384" y="2966"/>
              <a:ext cx="864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0606" name="AutoShape 14"/>
          <p:cNvSpPr>
            <a:spLocks noChangeArrowheads="1"/>
          </p:cNvSpPr>
          <p:nvPr/>
        </p:nvSpPr>
        <p:spPr bwMode="auto">
          <a:xfrm>
            <a:off x="1086016" y="1928927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110607" name="Rectangle 15"/>
          <p:cNvSpPr>
            <a:spLocks noChangeArrowheads="1"/>
          </p:cNvSpPr>
          <p:nvPr/>
        </p:nvSpPr>
        <p:spPr bwMode="auto">
          <a:xfrm>
            <a:off x="609600" y="2133600"/>
            <a:ext cx="29718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 </a:t>
            </a:r>
            <a:r>
              <a:rPr lang="en-US" sz="1100" dirty="0"/>
              <a:t>– </a:t>
            </a:r>
            <a:r>
              <a:rPr lang="en-GB" sz="1100" i="1" dirty="0"/>
              <a:t>If we get all orders we have pitched for we need to </a:t>
            </a:r>
            <a:r>
              <a:rPr lang="en-GB" sz="1100" b="1" i="1" dirty="0"/>
              <a:t>hire a lot more people</a:t>
            </a:r>
            <a:r>
              <a:rPr lang="en-GB" sz="1100" i="1" dirty="0"/>
              <a:t>… </a:t>
            </a:r>
          </a:p>
        </p:txBody>
      </p:sp>
      <p:sp>
        <p:nvSpPr>
          <p:cNvPr id="110608" name="Rectangle 16"/>
          <p:cNvSpPr>
            <a:spLocks noChangeArrowheads="1"/>
          </p:cNvSpPr>
          <p:nvPr/>
        </p:nvSpPr>
        <p:spPr bwMode="auto">
          <a:xfrm>
            <a:off x="609600" y="2663825"/>
            <a:ext cx="29718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/>
              <a:t>– </a:t>
            </a:r>
            <a:r>
              <a:rPr lang="en-GB" sz="1100" i="1" dirty="0"/>
              <a:t>True. But if we do not get </a:t>
            </a:r>
            <a:r>
              <a:rPr lang="en-GB" sz="1100" dirty="0"/>
              <a:t>any</a:t>
            </a:r>
            <a:r>
              <a:rPr lang="en-GB" sz="1100" i="1" dirty="0"/>
              <a:t> new customer, there is a lot capacity </a:t>
            </a:r>
            <a:r>
              <a:rPr lang="en-GB" sz="1100" b="1" i="1" dirty="0"/>
              <a:t>that we cannot utilize</a:t>
            </a:r>
            <a:r>
              <a:rPr lang="en-GB" sz="1100" i="1" dirty="0"/>
              <a:t>…</a:t>
            </a:r>
          </a:p>
        </p:txBody>
      </p:sp>
      <p:sp>
        <p:nvSpPr>
          <p:cNvPr id="110609" name="Rectangle 17"/>
          <p:cNvSpPr>
            <a:spLocks noChangeArrowheads="1"/>
          </p:cNvSpPr>
          <p:nvPr/>
        </p:nvSpPr>
        <p:spPr bwMode="auto">
          <a:xfrm>
            <a:off x="609600" y="3724275"/>
            <a:ext cx="29718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 we could always </a:t>
            </a:r>
            <a:r>
              <a:rPr lang="en-GB" sz="1100" b="1" i="1" dirty="0"/>
              <a:t>outsource</a:t>
            </a:r>
            <a:r>
              <a:rPr lang="en-GB" sz="1100" i="1" dirty="0"/>
              <a:t> some jobs, even if it costs a bit more...</a:t>
            </a:r>
          </a:p>
        </p:txBody>
      </p:sp>
      <p:sp>
        <p:nvSpPr>
          <p:cNvPr id="110610" name="Rectangle 18"/>
          <p:cNvSpPr>
            <a:spLocks noChangeArrowheads="1"/>
          </p:cNvSpPr>
          <p:nvPr/>
        </p:nvSpPr>
        <p:spPr bwMode="auto">
          <a:xfrm>
            <a:off x="609600" y="4254500"/>
            <a:ext cx="29718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/>
              <a:t>– </a:t>
            </a:r>
            <a:r>
              <a:rPr lang="en-GB" sz="1100" i="1" dirty="0"/>
              <a:t>Why not? Both recruiting and dismissing people is also quite costly.</a:t>
            </a:r>
          </a:p>
        </p:txBody>
      </p:sp>
      <p:sp>
        <p:nvSpPr>
          <p:cNvPr id="110611" name="Rectangle 19"/>
          <p:cNvSpPr>
            <a:spLocks noChangeArrowheads="1"/>
          </p:cNvSpPr>
          <p:nvPr/>
        </p:nvSpPr>
        <p:spPr bwMode="auto">
          <a:xfrm>
            <a:off x="609600" y="4860925"/>
            <a:ext cx="3098304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00AEC6"/>
                </a:solidFill>
              </a:rPr>
              <a:t>– </a:t>
            </a:r>
            <a:r>
              <a:rPr lang="en-GB" sz="1100" b="1" i="1" dirty="0">
                <a:solidFill>
                  <a:srgbClr val="00AEC6"/>
                </a:solidFill>
              </a:rPr>
              <a:t>OK… Let us be optimistic and yet cautious!</a:t>
            </a:r>
          </a:p>
        </p:txBody>
      </p:sp>
      <p:sp>
        <p:nvSpPr>
          <p:cNvPr id="110612" name="Rectangle 20"/>
          <p:cNvSpPr>
            <a:spLocks noChangeArrowheads="1"/>
          </p:cNvSpPr>
          <p:nvPr/>
        </p:nvSpPr>
        <p:spPr bwMode="auto">
          <a:xfrm>
            <a:off x="609600" y="3194050"/>
            <a:ext cx="30983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/>
              <a:t>– </a:t>
            </a:r>
            <a:r>
              <a:rPr lang="en-GB" sz="1100" i="1" dirty="0"/>
              <a:t>That’s quite pessimistic. I suggest that we stick to the </a:t>
            </a:r>
            <a:r>
              <a:rPr lang="en-GB" sz="1100" b="1" i="1" dirty="0"/>
              <a:t>capacity we have</a:t>
            </a:r>
            <a:r>
              <a:rPr lang="en-GB" sz="1100" i="1" dirty="0"/>
              <a:t>, and, if need be…</a:t>
            </a:r>
          </a:p>
        </p:txBody>
      </p:sp>
      <p:sp>
        <p:nvSpPr>
          <p:cNvPr id="110613" name="AutoShape 21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40650" y="6165304"/>
            <a:ext cx="1008062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21523" name="Line 23"/>
          <p:cNvSpPr>
            <a:spLocks noChangeShapeType="1"/>
          </p:cNvSpPr>
          <p:nvPr/>
        </p:nvSpPr>
        <p:spPr bwMode="auto">
          <a:xfrm flipV="1">
            <a:off x="5334000" y="1524000"/>
            <a:ext cx="0" cy="3336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Line 24"/>
          <p:cNvSpPr>
            <a:spLocks noChangeShapeType="1"/>
          </p:cNvSpPr>
          <p:nvPr/>
        </p:nvSpPr>
        <p:spPr bwMode="auto">
          <a:xfrm>
            <a:off x="5334000" y="4860925"/>
            <a:ext cx="130333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Rectangle 25"/>
          <p:cNvSpPr>
            <a:spLocks noChangeArrowheads="1"/>
          </p:cNvSpPr>
          <p:nvPr/>
        </p:nvSpPr>
        <p:spPr bwMode="auto">
          <a:xfrm>
            <a:off x="4602163" y="1273175"/>
            <a:ext cx="762000" cy="18466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1200" b="1" dirty="0">
                <a:solidFill>
                  <a:srgbClr val="00AEC6"/>
                </a:solidFill>
              </a:rPr>
              <a:t>Capacity</a:t>
            </a:r>
            <a:endParaRPr lang="en-GB" sz="1200" dirty="0">
              <a:solidFill>
                <a:srgbClr val="00AEC6"/>
              </a:solidFill>
            </a:endParaRPr>
          </a:p>
        </p:txBody>
      </p:sp>
      <p:sp>
        <p:nvSpPr>
          <p:cNvPr id="110618" name="Rectangle 26"/>
          <p:cNvSpPr>
            <a:spLocks noChangeArrowheads="1"/>
          </p:cNvSpPr>
          <p:nvPr/>
        </p:nvSpPr>
        <p:spPr bwMode="auto">
          <a:xfrm>
            <a:off x="5795963" y="1828800"/>
            <a:ext cx="381000" cy="812800"/>
          </a:xfrm>
          <a:prstGeom prst="rect">
            <a:avLst/>
          </a:prstGeom>
          <a:solidFill>
            <a:srgbClr val="004080"/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1527" name="Rectangle 27"/>
          <p:cNvSpPr>
            <a:spLocks noChangeArrowheads="1"/>
          </p:cNvSpPr>
          <p:nvPr/>
        </p:nvSpPr>
        <p:spPr bwMode="auto">
          <a:xfrm>
            <a:off x="5795963" y="2438400"/>
            <a:ext cx="381000" cy="2422525"/>
          </a:xfrm>
          <a:prstGeom prst="rect">
            <a:avLst/>
          </a:prstGeom>
          <a:solidFill>
            <a:srgbClr val="004080"/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1528" name="Rectangle 28"/>
          <p:cNvSpPr>
            <a:spLocks noChangeArrowheads="1"/>
          </p:cNvSpPr>
          <p:nvPr/>
        </p:nvSpPr>
        <p:spPr bwMode="auto">
          <a:xfrm>
            <a:off x="6588125" y="3429000"/>
            <a:ext cx="1550988" cy="3385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Capacity reserved for existing customers</a:t>
            </a:r>
          </a:p>
        </p:txBody>
      </p:sp>
      <p:sp>
        <p:nvSpPr>
          <p:cNvPr id="110621" name="Line 29"/>
          <p:cNvSpPr>
            <a:spLocks noChangeShapeType="1"/>
          </p:cNvSpPr>
          <p:nvPr/>
        </p:nvSpPr>
        <p:spPr bwMode="auto">
          <a:xfrm>
            <a:off x="3886200" y="2276475"/>
            <a:ext cx="1143000" cy="0"/>
          </a:xfrm>
          <a:prstGeom prst="line">
            <a:avLst/>
          </a:prstGeom>
          <a:noFill/>
          <a:ln w="381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22" name="Line 30"/>
          <p:cNvSpPr>
            <a:spLocks noChangeShapeType="1"/>
          </p:cNvSpPr>
          <p:nvPr/>
        </p:nvSpPr>
        <p:spPr bwMode="auto">
          <a:xfrm>
            <a:off x="3886200" y="2819400"/>
            <a:ext cx="1143000" cy="0"/>
          </a:xfrm>
          <a:prstGeom prst="line">
            <a:avLst/>
          </a:prstGeom>
          <a:noFill/>
          <a:ln w="381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0623" name="Group 31"/>
          <p:cNvGrpSpPr>
            <a:grpSpLocks/>
          </p:cNvGrpSpPr>
          <p:nvPr/>
        </p:nvGrpSpPr>
        <p:grpSpPr bwMode="auto">
          <a:xfrm>
            <a:off x="5740400" y="1743075"/>
            <a:ext cx="498475" cy="1236663"/>
            <a:chOff x="3616" y="1103"/>
            <a:chExt cx="314" cy="779"/>
          </a:xfrm>
        </p:grpSpPr>
        <p:sp>
          <p:nvSpPr>
            <p:cNvPr id="21544" name="Rectangle 32"/>
            <p:cNvSpPr>
              <a:spLocks noChangeArrowheads="1"/>
            </p:cNvSpPr>
            <p:nvPr/>
          </p:nvSpPr>
          <p:spPr bwMode="auto">
            <a:xfrm>
              <a:off x="3616" y="1103"/>
              <a:ext cx="314" cy="4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1545" name="Rectangle 33"/>
            <p:cNvSpPr>
              <a:spLocks noChangeArrowheads="1"/>
            </p:cNvSpPr>
            <p:nvPr/>
          </p:nvSpPr>
          <p:spPr bwMode="auto">
            <a:xfrm>
              <a:off x="3653" y="1536"/>
              <a:ext cx="240" cy="346"/>
            </a:xfrm>
            <a:prstGeom prst="rect">
              <a:avLst/>
            </a:prstGeom>
            <a:solidFill>
              <a:srgbClr val="CE2C17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10626" name="Group 34"/>
          <p:cNvGrpSpPr>
            <a:grpSpLocks/>
          </p:cNvGrpSpPr>
          <p:nvPr/>
        </p:nvGrpSpPr>
        <p:grpSpPr bwMode="auto">
          <a:xfrm>
            <a:off x="5799138" y="2109788"/>
            <a:ext cx="381000" cy="865187"/>
            <a:chOff x="4896" y="1337"/>
            <a:chExt cx="240" cy="545"/>
          </a:xfrm>
        </p:grpSpPr>
        <p:sp>
          <p:nvSpPr>
            <p:cNvPr id="21542" name="Rectangle 35"/>
            <p:cNvSpPr>
              <a:spLocks noChangeArrowheads="1"/>
            </p:cNvSpPr>
            <p:nvPr/>
          </p:nvSpPr>
          <p:spPr bwMode="auto">
            <a:xfrm>
              <a:off x="4896" y="1337"/>
              <a:ext cx="240" cy="545"/>
            </a:xfrm>
            <a:prstGeom prst="rect">
              <a:avLst/>
            </a:prstGeom>
            <a:solidFill>
              <a:srgbClr val="5688CA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1543" name="Rectangle 36"/>
            <p:cNvSpPr>
              <a:spLocks noChangeArrowheads="1"/>
            </p:cNvSpPr>
            <p:nvPr/>
          </p:nvSpPr>
          <p:spPr bwMode="auto">
            <a:xfrm>
              <a:off x="4896" y="1536"/>
              <a:ext cx="240" cy="346"/>
            </a:xfrm>
            <a:prstGeom prst="rect">
              <a:avLst/>
            </a:prstGeom>
            <a:solidFill>
              <a:srgbClr val="004080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21533" name="AutoShape 37"/>
          <p:cNvSpPr>
            <a:spLocks/>
          </p:cNvSpPr>
          <p:nvPr/>
        </p:nvSpPr>
        <p:spPr bwMode="auto">
          <a:xfrm>
            <a:off x="6324600" y="1828800"/>
            <a:ext cx="185738" cy="1158875"/>
          </a:xfrm>
          <a:prstGeom prst="rightBrace">
            <a:avLst>
              <a:gd name="adj1" fmla="val 51994"/>
              <a:gd name="adj2" fmla="val 50000"/>
            </a:avLst>
          </a:prstGeom>
          <a:noFill/>
          <a:ln w="19050">
            <a:solidFill>
              <a:srgbClr val="256E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1534" name="Rectangle 38"/>
          <p:cNvSpPr>
            <a:spLocks noChangeArrowheads="1"/>
          </p:cNvSpPr>
          <p:nvPr/>
        </p:nvSpPr>
        <p:spPr bwMode="auto">
          <a:xfrm>
            <a:off x="6637338" y="2185988"/>
            <a:ext cx="1135062" cy="3385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Need for more</a:t>
            </a:r>
            <a:br>
              <a:rPr lang="en-GB" sz="1100" dirty="0"/>
            </a:br>
            <a:r>
              <a:rPr lang="en-GB" sz="1100" dirty="0"/>
              <a:t>… or less?</a:t>
            </a:r>
          </a:p>
        </p:txBody>
      </p:sp>
      <p:sp>
        <p:nvSpPr>
          <p:cNvPr id="110631" name="Rectangle 39"/>
          <p:cNvSpPr>
            <a:spLocks noChangeArrowheads="1"/>
          </p:cNvSpPr>
          <p:nvPr/>
        </p:nvSpPr>
        <p:spPr bwMode="auto">
          <a:xfrm>
            <a:off x="4752975" y="5084763"/>
            <a:ext cx="32750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There are two types of capacity available: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b="1" dirty="0"/>
              <a:t>INTERNAL CAPACITY</a:t>
            </a:r>
            <a:r>
              <a:rPr lang="en-GB" sz="1100" dirty="0"/>
              <a:t> = people on your payroll 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b="1" dirty="0"/>
              <a:t>EXTERNAL CAPACITY</a:t>
            </a:r>
            <a:r>
              <a:rPr lang="en-GB" sz="1100" dirty="0"/>
              <a:t> = “outsourcing”</a:t>
            </a:r>
            <a:br>
              <a:rPr lang="en-GB" sz="1100" dirty="0"/>
            </a:br>
            <a:r>
              <a:rPr lang="en-GB" sz="1100" dirty="0"/>
              <a:t>(25% higher cost)</a:t>
            </a:r>
          </a:p>
        </p:txBody>
      </p:sp>
      <p:sp>
        <p:nvSpPr>
          <p:cNvPr id="21536" name="AutoShape 40"/>
          <p:cNvSpPr>
            <a:spLocks/>
          </p:cNvSpPr>
          <p:nvPr/>
        </p:nvSpPr>
        <p:spPr bwMode="auto">
          <a:xfrm>
            <a:off x="6324600" y="2987675"/>
            <a:ext cx="119063" cy="1873250"/>
          </a:xfrm>
          <a:prstGeom prst="rightBrace">
            <a:avLst>
              <a:gd name="adj1" fmla="val 131111"/>
              <a:gd name="adj2" fmla="val 28222"/>
            </a:avLst>
          </a:prstGeom>
          <a:noFill/>
          <a:ln w="19050">
            <a:solidFill>
              <a:srgbClr val="256EB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sv-SE"/>
          </a:p>
        </p:txBody>
      </p:sp>
      <p:sp>
        <p:nvSpPr>
          <p:cNvPr id="21537" name="Line 41"/>
          <p:cNvSpPr>
            <a:spLocks noChangeShapeType="1"/>
          </p:cNvSpPr>
          <p:nvPr/>
        </p:nvSpPr>
        <p:spPr bwMode="auto">
          <a:xfrm>
            <a:off x="5334000" y="1817688"/>
            <a:ext cx="9906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34" name="Freeform 42"/>
          <p:cNvSpPr>
            <a:spLocks/>
          </p:cNvSpPr>
          <p:nvPr/>
        </p:nvSpPr>
        <p:spPr bwMode="auto">
          <a:xfrm>
            <a:off x="3886200" y="2346325"/>
            <a:ext cx="1831975" cy="1539875"/>
          </a:xfrm>
          <a:custGeom>
            <a:avLst/>
            <a:gdLst>
              <a:gd name="T0" fmla="*/ 0 w 1154"/>
              <a:gd name="T1" fmla="*/ 2147483647 h 970"/>
              <a:gd name="T2" fmla="*/ 1771670638 w 1154"/>
              <a:gd name="T3" fmla="*/ 1628020938 h 970"/>
              <a:gd name="T4" fmla="*/ 2147483647 w 1154"/>
              <a:gd name="T5" fmla="*/ 0 h 9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4" h="970">
                <a:moveTo>
                  <a:pt x="0" y="970"/>
                </a:moveTo>
                <a:cubicBezTo>
                  <a:pt x="117" y="916"/>
                  <a:pt x="511" y="808"/>
                  <a:pt x="703" y="646"/>
                </a:cubicBezTo>
                <a:cubicBezTo>
                  <a:pt x="904" y="477"/>
                  <a:pt x="1060" y="135"/>
                  <a:pt x="1154" y="0"/>
                </a:cubicBezTo>
              </a:path>
            </a:pathLst>
          </a:custGeom>
          <a:noFill/>
          <a:ln w="38100">
            <a:solidFill>
              <a:srgbClr val="256EB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0635" name="Group 43"/>
          <p:cNvGrpSpPr>
            <a:grpSpLocks/>
          </p:cNvGrpSpPr>
          <p:nvPr/>
        </p:nvGrpSpPr>
        <p:grpSpPr bwMode="auto">
          <a:xfrm>
            <a:off x="5980113" y="1455738"/>
            <a:ext cx="1760537" cy="820737"/>
            <a:chOff x="3787" y="926"/>
            <a:chExt cx="830" cy="508"/>
          </a:xfrm>
        </p:grpSpPr>
        <p:sp>
          <p:nvSpPr>
            <p:cNvPr id="21540" name="Rectangle 44"/>
            <p:cNvSpPr>
              <a:spLocks noChangeArrowheads="1"/>
            </p:cNvSpPr>
            <p:nvPr/>
          </p:nvSpPr>
          <p:spPr bwMode="auto">
            <a:xfrm>
              <a:off x="3891" y="926"/>
              <a:ext cx="726" cy="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7FB2E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“Outsourcing” as needed</a:t>
              </a:r>
            </a:p>
          </p:txBody>
        </p:sp>
        <p:sp>
          <p:nvSpPr>
            <p:cNvPr id="21541" name="Line 45"/>
            <p:cNvSpPr>
              <a:spLocks noChangeShapeType="1"/>
            </p:cNvSpPr>
            <p:nvPr/>
          </p:nvSpPr>
          <p:spPr bwMode="auto">
            <a:xfrm flipH="1">
              <a:off x="3787" y="1032"/>
              <a:ext cx="241" cy="4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04839" y="1762125"/>
            <a:ext cx="510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4000" dirty="0" smtClean="0">
                <a:solidFill>
                  <a:srgbClr val="00AEC6"/>
                </a:solidFill>
                <a:latin typeface="Akzidenz-Grotesk Pro Bold Ext" pitchFamily="50" charset="0"/>
                <a:ea typeface="Batang" pitchFamily="18" charset="-127"/>
              </a:rPr>
              <a:t>”</a:t>
            </a:r>
            <a:endParaRPr lang="en-US" sz="4000" dirty="0">
              <a:solidFill>
                <a:srgbClr val="00AEC6"/>
              </a:solidFill>
              <a:latin typeface="Akzidenz-Grotesk Pro Bold Ext" pitchFamily="50" charset="0"/>
              <a:ea typeface="Batang" pitchFamily="18" charset="-127"/>
            </a:endParaRPr>
          </a:p>
        </p:txBody>
      </p:sp>
      <p:sp>
        <p:nvSpPr>
          <p:cNvPr id="4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2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0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810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06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86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3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8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34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3900"/>
                            </p:stCondLst>
                            <p:childTnLst>
                              <p:par>
                                <p:cTn id="6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0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66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2599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9699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6" grpId="0" animBg="1" autoUpdateAnimBg="0"/>
      <p:bldP spid="110607" grpId="0" autoUpdateAnimBg="0"/>
      <p:bldP spid="110608" grpId="0" autoUpdateAnimBg="0"/>
      <p:bldP spid="110609" grpId="0" autoUpdateAnimBg="0"/>
      <p:bldP spid="110610" grpId="0" autoUpdateAnimBg="0"/>
      <p:bldP spid="110611" grpId="0" autoUpdateAnimBg="0"/>
      <p:bldP spid="110612" grpId="0" autoUpdateAnimBg="0"/>
      <p:bldP spid="110613" grpId="0" animBg="1" autoUpdateAnimBg="0"/>
      <p:bldP spid="110618" grpId="0" animBg="1"/>
      <p:bldP spid="110621" grpId="0" animBg="1"/>
      <p:bldP spid="110621" grpId="1" animBg="1"/>
      <p:bldP spid="110622" grpId="0" animBg="1"/>
      <p:bldP spid="110622" grpId="1" animBg="1"/>
      <p:bldP spid="110631" grpId="0" autoUpdateAnimBg="0"/>
      <p:bldP spid="110634" grpId="0" animBg="1"/>
      <p:bldP spid="11063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61"/>
          <p:cNvSpPr>
            <a:spLocks noChangeArrowheads="1"/>
          </p:cNvSpPr>
          <p:nvPr/>
        </p:nvSpPr>
        <p:spPr bwMode="auto">
          <a:xfrm>
            <a:off x="4778375" y="2189188"/>
            <a:ext cx="3451225" cy="3435350"/>
          </a:xfrm>
          <a:prstGeom prst="rect">
            <a:avLst/>
          </a:prstGeom>
          <a:solidFill>
            <a:srgbClr val="006831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22531" name="Group 286"/>
          <p:cNvGrpSpPr>
            <a:grpSpLocks/>
          </p:cNvGrpSpPr>
          <p:nvPr/>
        </p:nvGrpSpPr>
        <p:grpSpPr bwMode="auto">
          <a:xfrm>
            <a:off x="5180013" y="2490813"/>
            <a:ext cx="2973387" cy="2813050"/>
            <a:chOff x="2703" y="981"/>
            <a:chExt cx="2445" cy="2313"/>
          </a:xfrm>
        </p:grpSpPr>
        <p:sp>
          <p:nvSpPr>
            <p:cNvPr id="22626" name="Oval 287"/>
            <p:cNvSpPr>
              <a:spLocks noChangeArrowheads="1"/>
            </p:cNvSpPr>
            <p:nvPr/>
          </p:nvSpPr>
          <p:spPr bwMode="auto">
            <a:xfrm>
              <a:off x="2703" y="981"/>
              <a:ext cx="1175" cy="1254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66">
                      <a:alpha val="27058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b="1" dirty="0">
                  <a:solidFill>
                    <a:schemeClr val="bg1"/>
                  </a:solidFill>
                  <a:cs typeface="Arial" pitchFamily="34" charset="0"/>
                </a:rPr>
                <a:t>S</a:t>
              </a:r>
              <a:endParaRPr 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627" name="Oval 288"/>
            <p:cNvSpPr>
              <a:spLocks noChangeArrowheads="1"/>
            </p:cNvSpPr>
            <p:nvPr/>
          </p:nvSpPr>
          <p:spPr bwMode="auto">
            <a:xfrm>
              <a:off x="2884" y="2040"/>
              <a:ext cx="1089" cy="1254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66">
                      <a:alpha val="27058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b="1" dirty="0">
                  <a:solidFill>
                    <a:schemeClr val="bg1"/>
                  </a:solidFill>
                  <a:cs typeface="Arial" pitchFamily="34" charset="0"/>
                </a:rPr>
                <a:t>T</a:t>
              </a:r>
              <a:endParaRPr 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628" name="Oval 289"/>
            <p:cNvSpPr>
              <a:spLocks noChangeArrowheads="1"/>
            </p:cNvSpPr>
            <p:nvPr/>
          </p:nvSpPr>
          <p:spPr bwMode="auto">
            <a:xfrm>
              <a:off x="3852" y="2341"/>
              <a:ext cx="1296" cy="878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66">
                      <a:alpha val="27058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b="1" dirty="0">
                  <a:solidFill>
                    <a:schemeClr val="bg1"/>
                  </a:solidFill>
                  <a:cs typeface="Arial" pitchFamily="34" charset="0"/>
                </a:rPr>
                <a:t>A</a:t>
              </a:r>
              <a:endParaRPr 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629" name="Oval 290"/>
            <p:cNvSpPr>
              <a:spLocks noChangeArrowheads="1"/>
            </p:cNvSpPr>
            <p:nvPr/>
          </p:nvSpPr>
          <p:spPr bwMode="auto">
            <a:xfrm>
              <a:off x="3728" y="1409"/>
              <a:ext cx="921" cy="1157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66">
                      <a:alpha val="27058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b="1" dirty="0">
                  <a:solidFill>
                    <a:schemeClr val="bg1"/>
                  </a:solidFill>
                  <a:cs typeface="Arial" pitchFamily="34" charset="0"/>
                </a:rPr>
                <a:t>M</a:t>
              </a:r>
              <a:endParaRPr 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630" name="Oval 291"/>
            <p:cNvSpPr>
              <a:spLocks noChangeArrowheads="1"/>
            </p:cNvSpPr>
            <p:nvPr/>
          </p:nvSpPr>
          <p:spPr bwMode="auto">
            <a:xfrm>
              <a:off x="3878" y="981"/>
              <a:ext cx="1160" cy="832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66">
                      <a:alpha val="27058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sv-SE" b="1" dirty="0">
                  <a:solidFill>
                    <a:schemeClr val="bg1"/>
                  </a:solidFill>
                  <a:cs typeface="Arial" pitchFamily="34" charset="0"/>
                </a:rPr>
                <a:t>P</a:t>
              </a:r>
              <a:endParaRPr 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609600" y="981075"/>
            <a:ext cx="2971800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STEP 4</a:t>
            </a:r>
            <a:r>
              <a:rPr lang="en-GB" sz="1100" dirty="0">
                <a:solidFill>
                  <a:srgbClr val="00AEC6"/>
                </a:solidFill>
              </a:rPr>
              <a:t>: </a:t>
            </a:r>
            <a:r>
              <a:rPr lang="en-GB" sz="1100" dirty="0"/>
              <a:t>Go to the </a:t>
            </a:r>
            <a:r>
              <a:rPr lang="en-GB" sz="1100" b="1" dirty="0"/>
              <a:t>MARKET PLACE</a:t>
            </a:r>
            <a:r>
              <a:rPr lang="en-GB" sz="1100" dirty="0"/>
              <a:t> and compete for the orders.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Examples of what could happen:</a:t>
            </a:r>
          </a:p>
        </p:txBody>
      </p:sp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22624" name="Line 5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2625" name="Line 6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604838" y="304800"/>
            <a:ext cx="5191125" cy="381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4. Running the simulation: At the market place</a:t>
            </a:r>
          </a:p>
        </p:txBody>
      </p:sp>
      <p:grpSp>
        <p:nvGrpSpPr>
          <p:cNvPr id="22535" name="Group 8"/>
          <p:cNvGrpSpPr>
            <a:grpSpLocks/>
          </p:cNvGrpSpPr>
          <p:nvPr/>
        </p:nvGrpSpPr>
        <p:grpSpPr bwMode="auto">
          <a:xfrm>
            <a:off x="609600" y="1828800"/>
            <a:ext cx="1371600" cy="2879725"/>
            <a:chOff x="384" y="1152"/>
            <a:chExt cx="864" cy="1814"/>
          </a:xfrm>
        </p:grpSpPr>
        <p:sp>
          <p:nvSpPr>
            <p:cNvPr id="22622" name="Line 9"/>
            <p:cNvSpPr>
              <a:spLocks noChangeShapeType="1"/>
            </p:cNvSpPr>
            <p:nvPr/>
          </p:nvSpPr>
          <p:spPr bwMode="auto">
            <a:xfrm>
              <a:off x="384" y="1152"/>
              <a:ext cx="0" cy="1814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3" name="Line 10"/>
            <p:cNvSpPr>
              <a:spLocks noChangeShapeType="1"/>
            </p:cNvSpPr>
            <p:nvPr/>
          </p:nvSpPr>
          <p:spPr bwMode="auto">
            <a:xfrm>
              <a:off x="384" y="2966"/>
              <a:ext cx="864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507" name="AutoShape 11"/>
          <p:cNvSpPr>
            <a:spLocks noChangeArrowheads="1"/>
          </p:cNvSpPr>
          <p:nvPr/>
        </p:nvSpPr>
        <p:spPr bwMode="auto">
          <a:xfrm>
            <a:off x="609600" y="1778647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106509" name="Rectangle 13"/>
          <p:cNvSpPr>
            <a:spLocks noChangeArrowheads="1"/>
          </p:cNvSpPr>
          <p:nvPr/>
        </p:nvSpPr>
        <p:spPr bwMode="auto">
          <a:xfrm>
            <a:off x="609600" y="182880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/>
              <a:t>Seven new customers on the market </a:t>
            </a:r>
            <a:br>
              <a:rPr lang="en-GB" sz="1100" b="1" dirty="0"/>
            </a:br>
            <a:r>
              <a:rPr lang="en-GB" sz="1100" b="1" dirty="0"/>
              <a:t>– from LIBRA to RIGEL</a:t>
            </a:r>
            <a:endParaRPr lang="en-GB" sz="1100" b="1" i="1" dirty="0"/>
          </a:p>
        </p:txBody>
      </p:sp>
      <p:sp>
        <p:nvSpPr>
          <p:cNvPr id="106510" name="Rectangle 14"/>
          <p:cNvSpPr>
            <a:spLocks noChangeArrowheads="1"/>
          </p:cNvSpPr>
          <p:nvPr/>
        </p:nvSpPr>
        <p:spPr bwMode="auto">
          <a:xfrm>
            <a:off x="609600" y="2341563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LIBRA went directly to GAMMA who was uncontested.</a:t>
            </a:r>
          </a:p>
        </p:txBody>
      </p:sp>
      <p:sp>
        <p:nvSpPr>
          <p:cNvPr id="106511" name="Rectangle 15"/>
          <p:cNvSpPr>
            <a:spLocks noChangeArrowheads="1"/>
          </p:cNvSpPr>
          <p:nvPr/>
        </p:nvSpPr>
        <p:spPr bwMode="auto">
          <a:xfrm>
            <a:off x="609600" y="3373438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PULSAR had to choose between ALPHA and BETA. ALPHA won the order on better price.</a:t>
            </a:r>
          </a:p>
        </p:txBody>
      </p:sp>
      <p:sp>
        <p:nvSpPr>
          <p:cNvPr id="106512" name="Rectangle 16"/>
          <p:cNvSpPr>
            <a:spLocks noChangeArrowheads="1"/>
          </p:cNvSpPr>
          <p:nvPr/>
        </p:nvSpPr>
        <p:spPr bwMode="auto">
          <a:xfrm>
            <a:off x="609600" y="3889375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DELTA won both LUNA and VEGA thanks to more developed business processes.</a:t>
            </a:r>
          </a:p>
        </p:txBody>
      </p:sp>
      <p:sp>
        <p:nvSpPr>
          <p:cNvPr id="22542" name="Rectangle 17"/>
          <p:cNvSpPr>
            <a:spLocks noChangeArrowheads="1"/>
          </p:cNvSpPr>
          <p:nvPr/>
        </p:nvSpPr>
        <p:spPr bwMode="auto">
          <a:xfrm>
            <a:off x="609600" y="4568825"/>
            <a:ext cx="28797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>
                <a:solidFill>
                  <a:srgbClr val="8DE2FD"/>
                </a:solidFill>
              </a:rPr>
              <a:t> </a:t>
            </a:r>
          </a:p>
        </p:txBody>
      </p:sp>
      <p:sp>
        <p:nvSpPr>
          <p:cNvPr id="106514" name="Rectangle 18"/>
          <p:cNvSpPr>
            <a:spLocks noChangeArrowheads="1"/>
          </p:cNvSpPr>
          <p:nvPr/>
        </p:nvSpPr>
        <p:spPr bwMode="auto">
          <a:xfrm>
            <a:off x="609600" y="285750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LEO had difficulties to choose – ended up with BETA who had a stronger market position.</a:t>
            </a:r>
          </a:p>
        </p:txBody>
      </p:sp>
      <p:sp>
        <p:nvSpPr>
          <p:cNvPr id="106515" name="AutoShape 19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94697" y="6309320"/>
            <a:ext cx="1008062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22545" name="Line 262"/>
          <p:cNvSpPr>
            <a:spLocks noChangeShapeType="1"/>
          </p:cNvSpPr>
          <p:nvPr/>
        </p:nvSpPr>
        <p:spPr bwMode="auto">
          <a:xfrm>
            <a:off x="4835525" y="3919563"/>
            <a:ext cx="3333750" cy="0"/>
          </a:xfrm>
          <a:prstGeom prst="line">
            <a:avLst/>
          </a:prstGeom>
          <a:noFill/>
          <a:ln w="57150">
            <a:solidFill>
              <a:schemeClr val="bg1">
                <a:alpha val="75000"/>
              </a:schemeClr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Line 263"/>
          <p:cNvSpPr>
            <a:spLocks noChangeShapeType="1"/>
          </p:cNvSpPr>
          <p:nvPr/>
        </p:nvSpPr>
        <p:spPr bwMode="auto">
          <a:xfrm rot="-5400000">
            <a:off x="4835525" y="3919563"/>
            <a:ext cx="3333750" cy="0"/>
          </a:xfrm>
          <a:prstGeom prst="line">
            <a:avLst/>
          </a:prstGeom>
          <a:noFill/>
          <a:ln w="57150">
            <a:solidFill>
              <a:schemeClr val="bg1">
                <a:alpha val="75000"/>
              </a:schemeClr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6773" name="Picture 277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538" y="4505350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780" name="Picture 284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2755925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789" name="Rectangle 293"/>
          <p:cNvSpPr>
            <a:spLocks noChangeArrowheads="1"/>
          </p:cNvSpPr>
          <p:nvPr/>
        </p:nvSpPr>
        <p:spPr bwMode="auto">
          <a:xfrm>
            <a:off x="609600" y="4481513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RIGEL is a returning customer who after a while decided to stay with ALPHA… based on loyalty.</a:t>
            </a:r>
          </a:p>
        </p:txBody>
      </p:sp>
      <p:sp>
        <p:nvSpPr>
          <p:cNvPr id="106790" name="Rectangle 294"/>
          <p:cNvSpPr>
            <a:spLocks noChangeArrowheads="1"/>
          </p:cNvSpPr>
          <p:nvPr/>
        </p:nvSpPr>
        <p:spPr bwMode="auto">
          <a:xfrm>
            <a:off x="609600" y="499745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i="1" dirty="0"/>
              <a:t>No bids for CAPRI who had to look for solutions somewhere else.</a:t>
            </a:r>
          </a:p>
        </p:txBody>
      </p:sp>
      <p:pic>
        <p:nvPicPr>
          <p:cNvPr id="106781" name="Picture 285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8" y="3340125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772" name="Picture 276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757638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770" name="Picture 274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686075"/>
            <a:ext cx="4175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776" name="Picture 280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88" y="2971825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764" name="Picture 268" descr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4438675"/>
            <a:ext cx="4175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823" name="Group 327"/>
          <p:cNvGrpSpPr>
            <a:grpSpLocks/>
          </p:cNvGrpSpPr>
          <p:nvPr/>
        </p:nvGrpSpPr>
        <p:grpSpPr bwMode="auto">
          <a:xfrm>
            <a:off x="4778375" y="2189188"/>
            <a:ext cx="3451225" cy="3435350"/>
            <a:chOff x="3106" y="1559"/>
            <a:chExt cx="2174" cy="2164"/>
          </a:xfrm>
        </p:grpSpPr>
        <p:sp>
          <p:nvSpPr>
            <p:cNvPr id="22613" name="Rectangle 318"/>
            <p:cNvSpPr>
              <a:spLocks noChangeArrowheads="1"/>
            </p:cNvSpPr>
            <p:nvPr/>
          </p:nvSpPr>
          <p:spPr bwMode="auto">
            <a:xfrm>
              <a:off x="3106" y="1559"/>
              <a:ext cx="2174" cy="2164"/>
            </a:xfrm>
            <a:prstGeom prst="rect">
              <a:avLst/>
            </a:prstGeom>
            <a:solidFill>
              <a:srgbClr val="00683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22614" name="Group 319"/>
            <p:cNvGrpSpPr>
              <a:grpSpLocks/>
            </p:cNvGrpSpPr>
            <p:nvPr/>
          </p:nvGrpSpPr>
          <p:grpSpPr bwMode="auto">
            <a:xfrm>
              <a:off x="3359" y="1749"/>
              <a:ext cx="1873" cy="1772"/>
              <a:chOff x="2703" y="981"/>
              <a:chExt cx="2445" cy="2313"/>
            </a:xfrm>
          </p:grpSpPr>
          <p:sp>
            <p:nvSpPr>
              <p:cNvPr id="22617" name="Oval 320"/>
              <p:cNvSpPr>
                <a:spLocks noChangeArrowheads="1"/>
              </p:cNvSpPr>
              <p:nvPr/>
            </p:nvSpPr>
            <p:spPr bwMode="auto">
              <a:xfrm>
                <a:off x="2703" y="981"/>
                <a:ext cx="1175" cy="1254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66">
                        <a:alpha val="27058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b="1" dirty="0">
                    <a:solidFill>
                      <a:schemeClr val="bg1"/>
                    </a:solidFill>
                    <a:cs typeface="Arial" pitchFamily="34" charset="0"/>
                  </a:rPr>
                  <a:t>S</a:t>
                </a:r>
                <a:endParaRPr 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2618" name="Oval 321"/>
              <p:cNvSpPr>
                <a:spLocks noChangeArrowheads="1"/>
              </p:cNvSpPr>
              <p:nvPr/>
            </p:nvSpPr>
            <p:spPr bwMode="auto">
              <a:xfrm>
                <a:off x="2884" y="2040"/>
                <a:ext cx="1089" cy="1254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66">
                        <a:alpha val="27058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b="1" dirty="0">
                    <a:solidFill>
                      <a:schemeClr val="bg1"/>
                    </a:solidFill>
                    <a:cs typeface="Arial" pitchFamily="34" charset="0"/>
                  </a:rPr>
                  <a:t>T</a:t>
                </a:r>
                <a:endParaRPr 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2619" name="Oval 322"/>
              <p:cNvSpPr>
                <a:spLocks noChangeArrowheads="1"/>
              </p:cNvSpPr>
              <p:nvPr/>
            </p:nvSpPr>
            <p:spPr bwMode="auto">
              <a:xfrm>
                <a:off x="3852" y="2341"/>
                <a:ext cx="1296" cy="878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66">
                        <a:alpha val="27058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b="1" dirty="0">
                    <a:solidFill>
                      <a:schemeClr val="bg1"/>
                    </a:solidFill>
                    <a:cs typeface="Arial" pitchFamily="34" charset="0"/>
                  </a:rPr>
                  <a:t>A</a:t>
                </a:r>
                <a:endParaRPr 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2620" name="Oval 323"/>
              <p:cNvSpPr>
                <a:spLocks noChangeArrowheads="1"/>
              </p:cNvSpPr>
              <p:nvPr/>
            </p:nvSpPr>
            <p:spPr bwMode="auto">
              <a:xfrm>
                <a:off x="3728" y="1409"/>
                <a:ext cx="921" cy="11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66">
                        <a:alpha val="27058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b="1" dirty="0">
                    <a:solidFill>
                      <a:schemeClr val="bg1"/>
                    </a:solidFill>
                    <a:cs typeface="Arial" pitchFamily="34" charset="0"/>
                  </a:rPr>
                  <a:t>M</a:t>
                </a:r>
                <a:endParaRPr 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2621" name="Oval 324"/>
              <p:cNvSpPr>
                <a:spLocks noChangeArrowheads="1"/>
              </p:cNvSpPr>
              <p:nvPr/>
            </p:nvSpPr>
            <p:spPr bwMode="auto">
              <a:xfrm>
                <a:off x="3878" y="981"/>
                <a:ext cx="1160" cy="832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9966">
                        <a:alpha val="27058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sv-SE" b="1" dirty="0">
                    <a:solidFill>
                      <a:schemeClr val="bg1"/>
                    </a:solidFill>
                    <a:cs typeface="Arial" pitchFamily="34" charset="0"/>
                  </a:rPr>
                  <a:t>P</a:t>
                </a:r>
                <a:endParaRPr 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2615" name="Line 325"/>
            <p:cNvSpPr>
              <a:spLocks noChangeShapeType="1"/>
            </p:cNvSpPr>
            <p:nvPr/>
          </p:nvSpPr>
          <p:spPr bwMode="auto">
            <a:xfrm>
              <a:off x="3142" y="2649"/>
              <a:ext cx="2100" cy="0"/>
            </a:xfrm>
            <a:prstGeom prst="line">
              <a:avLst/>
            </a:prstGeom>
            <a:noFill/>
            <a:ln w="57150">
              <a:solidFill>
                <a:schemeClr val="bg1">
                  <a:alpha val="75000"/>
                </a:schemeClr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6" name="Line 326"/>
            <p:cNvSpPr>
              <a:spLocks noChangeShapeType="1"/>
            </p:cNvSpPr>
            <p:nvPr/>
          </p:nvSpPr>
          <p:spPr bwMode="auto">
            <a:xfrm rot="-5400000">
              <a:off x="3142" y="2649"/>
              <a:ext cx="2100" cy="0"/>
            </a:xfrm>
            <a:prstGeom prst="line">
              <a:avLst/>
            </a:prstGeom>
            <a:noFill/>
            <a:ln w="57150">
              <a:solidFill>
                <a:schemeClr val="bg1">
                  <a:alpha val="75000"/>
                </a:schemeClr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557" name="Group 249"/>
          <p:cNvGrpSpPr>
            <a:grpSpLocks/>
          </p:cNvGrpSpPr>
          <p:nvPr/>
        </p:nvGrpSpPr>
        <p:grpSpPr bwMode="auto">
          <a:xfrm>
            <a:off x="4495800" y="1628800"/>
            <a:ext cx="762000" cy="785813"/>
            <a:chOff x="3092" y="949"/>
            <a:chExt cx="634" cy="654"/>
          </a:xfrm>
        </p:grpSpPr>
        <p:sp>
          <p:nvSpPr>
            <p:cNvPr id="22601" name="Rectangle 194"/>
            <p:cNvSpPr>
              <a:spLocks noChangeArrowheads="1"/>
            </p:cNvSpPr>
            <p:nvPr/>
          </p:nvSpPr>
          <p:spPr bwMode="auto">
            <a:xfrm>
              <a:off x="3092" y="1140"/>
              <a:ext cx="634" cy="463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sv-SE"/>
            </a:p>
          </p:txBody>
        </p:sp>
        <p:grpSp>
          <p:nvGrpSpPr>
            <p:cNvPr id="22602" name="Group 195"/>
            <p:cNvGrpSpPr>
              <a:grpSpLocks/>
            </p:cNvGrpSpPr>
            <p:nvPr/>
          </p:nvGrpSpPr>
          <p:grpSpPr bwMode="auto">
            <a:xfrm>
              <a:off x="3167" y="1201"/>
              <a:ext cx="507" cy="402"/>
              <a:chOff x="3731" y="414"/>
              <a:chExt cx="624" cy="495"/>
            </a:xfrm>
          </p:grpSpPr>
          <p:grpSp>
            <p:nvGrpSpPr>
              <p:cNvPr id="22604" name="Group 196"/>
              <p:cNvGrpSpPr>
                <a:grpSpLocks/>
              </p:cNvGrpSpPr>
              <p:nvPr/>
            </p:nvGrpSpPr>
            <p:grpSpPr bwMode="auto">
              <a:xfrm>
                <a:off x="3731" y="414"/>
                <a:ext cx="624" cy="192"/>
                <a:chOff x="672" y="720"/>
                <a:chExt cx="999" cy="288"/>
              </a:xfrm>
            </p:grpSpPr>
            <p:sp>
              <p:nvSpPr>
                <p:cNvPr id="22609" name="Rectangle 197"/>
                <p:cNvSpPr>
                  <a:spLocks noChangeArrowheads="1"/>
                </p:cNvSpPr>
                <p:nvPr/>
              </p:nvSpPr>
              <p:spPr bwMode="auto">
                <a:xfrm>
                  <a:off x="672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610" name="Rectangle 198"/>
                <p:cNvSpPr>
                  <a:spLocks noChangeArrowheads="1"/>
                </p:cNvSpPr>
                <p:nvPr/>
              </p:nvSpPr>
              <p:spPr bwMode="auto">
                <a:xfrm>
                  <a:off x="928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611" name="Rectangle 199"/>
                <p:cNvSpPr>
                  <a:spLocks noChangeArrowheads="1"/>
                </p:cNvSpPr>
                <p:nvPr/>
              </p:nvSpPr>
              <p:spPr bwMode="auto">
                <a:xfrm>
                  <a:off x="1184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612" name="Rectangle 200"/>
                <p:cNvSpPr>
                  <a:spLocks noChangeArrowheads="1"/>
                </p:cNvSpPr>
                <p:nvPr/>
              </p:nvSpPr>
              <p:spPr bwMode="auto">
                <a:xfrm>
                  <a:off x="1440" y="720"/>
                  <a:ext cx="231" cy="288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  <p:sp>
            <p:nvSpPr>
              <p:cNvPr id="22605" name="Rectangle 201"/>
              <p:cNvSpPr>
                <a:spLocks noChangeArrowheads="1"/>
              </p:cNvSpPr>
              <p:nvPr/>
            </p:nvSpPr>
            <p:spPr bwMode="auto">
              <a:xfrm>
                <a:off x="3731" y="654"/>
                <a:ext cx="144" cy="19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2606" name="Rectangle 202"/>
              <p:cNvSpPr>
                <a:spLocks noChangeArrowheads="1"/>
              </p:cNvSpPr>
              <p:nvPr/>
            </p:nvSpPr>
            <p:spPr bwMode="auto">
              <a:xfrm>
                <a:off x="3891" y="654"/>
                <a:ext cx="144" cy="255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2607" name="Rectangle 203"/>
              <p:cNvSpPr>
                <a:spLocks noChangeArrowheads="1"/>
              </p:cNvSpPr>
              <p:nvPr/>
            </p:nvSpPr>
            <p:spPr bwMode="auto">
              <a:xfrm>
                <a:off x="4051" y="654"/>
                <a:ext cx="144" cy="19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2608" name="Rectangle 204"/>
              <p:cNvSpPr>
                <a:spLocks noChangeArrowheads="1"/>
              </p:cNvSpPr>
              <p:nvPr/>
            </p:nvSpPr>
            <p:spPr bwMode="auto">
              <a:xfrm>
                <a:off x="4211" y="654"/>
                <a:ext cx="144" cy="192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rgbClr val="D2D2D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22603" name="Rectangle 205"/>
            <p:cNvSpPr>
              <a:spLocks noChangeArrowheads="1"/>
            </p:cNvSpPr>
            <p:nvPr/>
          </p:nvSpPr>
          <p:spPr bwMode="auto">
            <a:xfrm>
              <a:off x="3164" y="949"/>
              <a:ext cx="400" cy="159"/>
            </a:xfrm>
            <a:prstGeom prst="rect">
              <a:avLst/>
            </a:prstGeom>
            <a:pattFill prst="dkVert">
              <a:fgClr>
                <a:srgbClr val="FF7C80"/>
              </a:fgClr>
              <a:bgClr>
                <a:srgbClr val="FF9999"/>
              </a:bgClr>
            </a:patt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</a:rPr>
                <a:t>Alpha</a:t>
              </a:r>
            </a:p>
          </p:txBody>
        </p:sp>
      </p:grpSp>
      <p:grpSp>
        <p:nvGrpSpPr>
          <p:cNvPr id="22558" name="Group 207"/>
          <p:cNvGrpSpPr>
            <a:grpSpLocks/>
          </p:cNvGrpSpPr>
          <p:nvPr/>
        </p:nvGrpSpPr>
        <p:grpSpPr bwMode="auto">
          <a:xfrm>
            <a:off x="7829550" y="1654200"/>
            <a:ext cx="758825" cy="784225"/>
            <a:chOff x="5138" y="1138"/>
            <a:chExt cx="478" cy="494"/>
          </a:xfrm>
        </p:grpSpPr>
        <p:grpSp>
          <p:nvGrpSpPr>
            <p:cNvPr id="22588" name="Group 208"/>
            <p:cNvGrpSpPr>
              <a:grpSpLocks/>
            </p:cNvGrpSpPr>
            <p:nvPr/>
          </p:nvGrpSpPr>
          <p:grpSpPr bwMode="auto">
            <a:xfrm>
              <a:off x="5138" y="1282"/>
              <a:ext cx="478" cy="350"/>
              <a:chOff x="3645" y="339"/>
              <a:chExt cx="780" cy="570"/>
            </a:xfrm>
          </p:grpSpPr>
          <p:sp>
            <p:nvSpPr>
              <p:cNvPr id="22590" name="Rectangle 209"/>
              <p:cNvSpPr>
                <a:spLocks noChangeArrowheads="1"/>
              </p:cNvSpPr>
              <p:nvPr/>
            </p:nvSpPr>
            <p:spPr bwMode="auto">
              <a:xfrm>
                <a:off x="3645" y="339"/>
                <a:ext cx="780" cy="570"/>
              </a:xfrm>
              <a:prstGeom prst="rect">
                <a:avLst/>
              </a:prstGeom>
              <a:solidFill>
                <a:schemeClr val="bg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bg1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22591" name="Group 210"/>
              <p:cNvGrpSpPr>
                <a:grpSpLocks/>
              </p:cNvGrpSpPr>
              <p:nvPr/>
            </p:nvGrpSpPr>
            <p:grpSpPr bwMode="auto">
              <a:xfrm>
                <a:off x="3737" y="414"/>
                <a:ext cx="624" cy="495"/>
                <a:chOff x="3731" y="414"/>
                <a:chExt cx="624" cy="495"/>
              </a:xfrm>
            </p:grpSpPr>
            <p:grpSp>
              <p:nvGrpSpPr>
                <p:cNvPr id="22592" name="Group 211"/>
                <p:cNvGrpSpPr>
                  <a:grpSpLocks/>
                </p:cNvGrpSpPr>
                <p:nvPr/>
              </p:nvGrpSpPr>
              <p:grpSpPr bwMode="auto">
                <a:xfrm>
                  <a:off x="3731" y="414"/>
                  <a:ext cx="624" cy="192"/>
                  <a:chOff x="672" y="720"/>
                  <a:chExt cx="999" cy="288"/>
                </a:xfrm>
              </p:grpSpPr>
              <p:sp>
                <p:nvSpPr>
                  <p:cNvPr id="22597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98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99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1184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600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  <p:sp>
              <p:nvSpPr>
                <p:cNvPr id="22593" name="Rectangle 216"/>
                <p:cNvSpPr>
                  <a:spLocks noChangeArrowheads="1"/>
                </p:cNvSpPr>
                <p:nvPr/>
              </p:nvSpPr>
              <p:spPr bwMode="auto">
                <a:xfrm>
                  <a:off x="373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94" name="Rectangle 217"/>
                <p:cNvSpPr>
                  <a:spLocks noChangeArrowheads="1"/>
                </p:cNvSpPr>
                <p:nvPr/>
              </p:nvSpPr>
              <p:spPr bwMode="auto">
                <a:xfrm>
                  <a:off x="3891" y="654"/>
                  <a:ext cx="144" cy="255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95" name="Rectangle 218"/>
                <p:cNvSpPr>
                  <a:spLocks noChangeArrowheads="1"/>
                </p:cNvSpPr>
                <p:nvPr/>
              </p:nvSpPr>
              <p:spPr bwMode="auto">
                <a:xfrm>
                  <a:off x="405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96" name="Rectangle 219"/>
                <p:cNvSpPr>
                  <a:spLocks noChangeArrowheads="1"/>
                </p:cNvSpPr>
                <p:nvPr/>
              </p:nvSpPr>
              <p:spPr bwMode="auto">
                <a:xfrm>
                  <a:off x="421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sp>
          <p:nvSpPr>
            <p:cNvPr id="22589" name="Rectangle 220"/>
            <p:cNvSpPr>
              <a:spLocks noChangeArrowheads="1"/>
            </p:cNvSpPr>
            <p:nvPr/>
          </p:nvSpPr>
          <p:spPr bwMode="auto">
            <a:xfrm>
              <a:off x="5197" y="1138"/>
              <a:ext cx="336" cy="136"/>
            </a:xfrm>
            <a:prstGeom prst="rect">
              <a:avLst/>
            </a:prstGeom>
            <a:pattFill prst="dkVert">
              <a:fgClr>
                <a:srgbClr val="FF9900"/>
              </a:fgClr>
              <a:bgClr>
                <a:srgbClr val="FFC000"/>
              </a:bgClr>
            </a:patt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</a:rPr>
                <a:t>Beta</a:t>
              </a:r>
            </a:p>
          </p:txBody>
        </p:sp>
      </p:grpSp>
      <p:grpSp>
        <p:nvGrpSpPr>
          <p:cNvPr id="22559" name="Group 221"/>
          <p:cNvGrpSpPr>
            <a:grpSpLocks/>
          </p:cNvGrpSpPr>
          <p:nvPr/>
        </p:nvGrpSpPr>
        <p:grpSpPr bwMode="auto">
          <a:xfrm>
            <a:off x="7883525" y="5322913"/>
            <a:ext cx="758825" cy="782637"/>
            <a:chOff x="4388" y="2819"/>
            <a:chExt cx="478" cy="493"/>
          </a:xfrm>
        </p:grpSpPr>
        <p:grpSp>
          <p:nvGrpSpPr>
            <p:cNvPr id="22575" name="Group 222"/>
            <p:cNvGrpSpPr>
              <a:grpSpLocks/>
            </p:cNvGrpSpPr>
            <p:nvPr/>
          </p:nvGrpSpPr>
          <p:grpSpPr bwMode="auto">
            <a:xfrm>
              <a:off x="4388" y="2963"/>
              <a:ext cx="478" cy="349"/>
              <a:chOff x="3645" y="339"/>
              <a:chExt cx="780" cy="570"/>
            </a:xfrm>
          </p:grpSpPr>
          <p:sp>
            <p:nvSpPr>
              <p:cNvPr id="22577" name="Rectangle 223"/>
              <p:cNvSpPr>
                <a:spLocks noChangeArrowheads="1"/>
              </p:cNvSpPr>
              <p:nvPr/>
            </p:nvSpPr>
            <p:spPr bwMode="auto">
              <a:xfrm>
                <a:off x="3645" y="339"/>
                <a:ext cx="780" cy="570"/>
              </a:xfrm>
              <a:prstGeom prst="rect">
                <a:avLst/>
              </a:prstGeom>
              <a:solidFill>
                <a:schemeClr val="bg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bg1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22578" name="Group 224"/>
              <p:cNvGrpSpPr>
                <a:grpSpLocks/>
              </p:cNvGrpSpPr>
              <p:nvPr/>
            </p:nvGrpSpPr>
            <p:grpSpPr bwMode="auto">
              <a:xfrm>
                <a:off x="3737" y="414"/>
                <a:ext cx="624" cy="495"/>
                <a:chOff x="3731" y="414"/>
                <a:chExt cx="624" cy="495"/>
              </a:xfrm>
            </p:grpSpPr>
            <p:grpSp>
              <p:nvGrpSpPr>
                <p:cNvPr id="22579" name="Group 225"/>
                <p:cNvGrpSpPr>
                  <a:grpSpLocks/>
                </p:cNvGrpSpPr>
                <p:nvPr/>
              </p:nvGrpSpPr>
              <p:grpSpPr bwMode="auto">
                <a:xfrm>
                  <a:off x="3731" y="414"/>
                  <a:ext cx="624" cy="192"/>
                  <a:chOff x="672" y="720"/>
                  <a:chExt cx="999" cy="288"/>
                </a:xfrm>
              </p:grpSpPr>
              <p:sp>
                <p:nvSpPr>
                  <p:cNvPr id="22584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85" name="Rectangle 227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86" name="Rectangle 228"/>
                  <p:cNvSpPr>
                    <a:spLocks noChangeArrowheads="1"/>
                  </p:cNvSpPr>
                  <p:nvPr/>
                </p:nvSpPr>
                <p:spPr bwMode="auto">
                  <a:xfrm>
                    <a:off x="1184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87" name="Rectangle 229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  <p:sp>
              <p:nvSpPr>
                <p:cNvPr id="22580" name="Rectangle 230"/>
                <p:cNvSpPr>
                  <a:spLocks noChangeArrowheads="1"/>
                </p:cNvSpPr>
                <p:nvPr/>
              </p:nvSpPr>
              <p:spPr bwMode="auto">
                <a:xfrm>
                  <a:off x="373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81" name="Rectangle 231"/>
                <p:cNvSpPr>
                  <a:spLocks noChangeArrowheads="1"/>
                </p:cNvSpPr>
                <p:nvPr/>
              </p:nvSpPr>
              <p:spPr bwMode="auto">
                <a:xfrm>
                  <a:off x="3891" y="654"/>
                  <a:ext cx="144" cy="255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82" name="Rectangle 232"/>
                <p:cNvSpPr>
                  <a:spLocks noChangeArrowheads="1"/>
                </p:cNvSpPr>
                <p:nvPr/>
              </p:nvSpPr>
              <p:spPr bwMode="auto">
                <a:xfrm>
                  <a:off x="405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83" name="Rectangle 233"/>
                <p:cNvSpPr>
                  <a:spLocks noChangeArrowheads="1"/>
                </p:cNvSpPr>
                <p:nvPr/>
              </p:nvSpPr>
              <p:spPr bwMode="auto">
                <a:xfrm>
                  <a:off x="421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sp>
          <p:nvSpPr>
            <p:cNvPr id="22576" name="Rectangle 234"/>
            <p:cNvSpPr>
              <a:spLocks noChangeArrowheads="1"/>
            </p:cNvSpPr>
            <p:nvPr/>
          </p:nvSpPr>
          <p:spPr bwMode="auto">
            <a:xfrm>
              <a:off x="4447" y="2819"/>
              <a:ext cx="336" cy="136"/>
            </a:xfrm>
            <a:prstGeom prst="rect">
              <a:avLst/>
            </a:prstGeom>
            <a:pattFill prst="dkVert">
              <a:fgClr>
                <a:srgbClr val="FAEC30"/>
              </a:fgClr>
              <a:bgClr>
                <a:srgbClr val="FFFF99"/>
              </a:bgClr>
            </a:patt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</a:rPr>
                <a:t>Gamma</a:t>
              </a:r>
            </a:p>
          </p:txBody>
        </p:sp>
      </p:grpSp>
      <p:grpSp>
        <p:nvGrpSpPr>
          <p:cNvPr id="22560" name="Group 235"/>
          <p:cNvGrpSpPr>
            <a:grpSpLocks/>
          </p:cNvGrpSpPr>
          <p:nvPr/>
        </p:nvGrpSpPr>
        <p:grpSpPr bwMode="auto">
          <a:xfrm>
            <a:off x="4533900" y="5310213"/>
            <a:ext cx="758825" cy="795337"/>
            <a:chOff x="3131" y="2198"/>
            <a:chExt cx="478" cy="501"/>
          </a:xfrm>
        </p:grpSpPr>
        <p:grpSp>
          <p:nvGrpSpPr>
            <p:cNvPr id="22562" name="Group 236"/>
            <p:cNvGrpSpPr>
              <a:grpSpLocks/>
            </p:cNvGrpSpPr>
            <p:nvPr/>
          </p:nvGrpSpPr>
          <p:grpSpPr bwMode="auto">
            <a:xfrm>
              <a:off x="3131" y="2349"/>
              <a:ext cx="478" cy="350"/>
              <a:chOff x="3645" y="339"/>
              <a:chExt cx="780" cy="570"/>
            </a:xfrm>
          </p:grpSpPr>
          <p:sp>
            <p:nvSpPr>
              <p:cNvPr id="22564" name="Rectangle 237"/>
              <p:cNvSpPr>
                <a:spLocks noChangeArrowheads="1"/>
              </p:cNvSpPr>
              <p:nvPr/>
            </p:nvSpPr>
            <p:spPr bwMode="auto">
              <a:xfrm>
                <a:off x="3645" y="339"/>
                <a:ext cx="780" cy="570"/>
              </a:xfrm>
              <a:prstGeom prst="rect">
                <a:avLst/>
              </a:prstGeom>
              <a:solidFill>
                <a:schemeClr val="bg1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Lef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bg1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sv-SE"/>
              </a:p>
            </p:txBody>
          </p:sp>
          <p:grpSp>
            <p:nvGrpSpPr>
              <p:cNvPr id="22565" name="Group 238"/>
              <p:cNvGrpSpPr>
                <a:grpSpLocks/>
              </p:cNvGrpSpPr>
              <p:nvPr/>
            </p:nvGrpSpPr>
            <p:grpSpPr bwMode="auto">
              <a:xfrm>
                <a:off x="3737" y="414"/>
                <a:ext cx="624" cy="495"/>
                <a:chOff x="3731" y="414"/>
                <a:chExt cx="624" cy="495"/>
              </a:xfrm>
            </p:grpSpPr>
            <p:grpSp>
              <p:nvGrpSpPr>
                <p:cNvPr id="22566" name="Group 239"/>
                <p:cNvGrpSpPr>
                  <a:grpSpLocks/>
                </p:cNvGrpSpPr>
                <p:nvPr/>
              </p:nvGrpSpPr>
              <p:grpSpPr bwMode="auto">
                <a:xfrm>
                  <a:off x="3731" y="414"/>
                  <a:ext cx="624" cy="192"/>
                  <a:chOff x="672" y="720"/>
                  <a:chExt cx="999" cy="288"/>
                </a:xfrm>
              </p:grpSpPr>
              <p:sp>
                <p:nvSpPr>
                  <p:cNvPr id="22571" name="Rectangle 240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72" name="Rectangle 241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73" name="Rectangle 242"/>
                  <p:cNvSpPr>
                    <a:spLocks noChangeArrowheads="1"/>
                  </p:cNvSpPr>
                  <p:nvPr/>
                </p:nvSpPr>
                <p:spPr bwMode="auto">
                  <a:xfrm>
                    <a:off x="1184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  <p:sp>
                <p:nvSpPr>
                  <p:cNvPr id="22574" name="Rectangle 243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720"/>
                    <a:ext cx="231" cy="288"/>
                  </a:xfrm>
                  <a:prstGeom prst="rect">
                    <a:avLst/>
                  </a:prstGeom>
                  <a:solidFill>
                    <a:schemeClr val="bg2"/>
                  </a:solidFill>
                  <a:ln w="19050">
                    <a:solidFill>
                      <a:srgbClr val="D2D2D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sv-SE"/>
                  </a:p>
                </p:txBody>
              </p:sp>
            </p:grpSp>
            <p:sp>
              <p:nvSpPr>
                <p:cNvPr id="22567" name="Rectangle 244"/>
                <p:cNvSpPr>
                  <a:spLocks noChangeArrowheads="1"/>
                </p:cNvSpPr>
                <p:nvPr/>
              </p:nvSpPr>
              <p:spPr bwMode="auto">
                <a:xfrm>
                  <a:off x="373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68" name="Rectangle 245"/>
                <p:cNvSpPr>
                  <a:spLocks noChangeArrowheads="1"/>
                </p:cNvSpPr>
                <p:nvPr/>
              </p:nvSpPr>
              <p:spPr bwMode="auto">
                <a:xfrm>
                  <a:off x="3891" y="654"/>
                  <a:ext cx="144" cy="255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69" name="Rectangle 246"/>
                <p:cNvSpPr>
                  <a:spLocks noChangeArrowheads="1"/>
                </p:cNvSpPr>
                <p:nvPr/>
              </p:nvSpPr>
              <p:spPr bwMode="auto">
                <a:xfrm>
                  <a:off x="405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22570" name="Rectangle 247"/>
                <p:cNvSpPr>
                  <a:spLocks noChangeArrowheads="1"/>
                </p:cNvSpPr>
                <p:nvPr/>
              </p:nvSpPr>
              <p:spPr bwMode="auto">
                <a:xfrm>
                  <a:off x="4211" y="654"/>
                  <a:ext cx="144" cy="192"/>
                </a:xfrm>
                <a:prstGeom prst="rect">
                  <a:avLst/>
                </a:prstGeom>
                <a:solidFill>
                  <a:schemeClr val="bg2"/>
                </a:solidFill>
                <a:ln w="19050">
                  <a:solidFill>
                    <a:srgbClr val="D2D2D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</p:grpSp>
        </p:grpSp>
        <p:sp>
          <p:nvSpPr>
            <p:cNvPr id="22563" name="Rectangle 248"/>
            <p:cNvSpPr>
              <a:spLocks noChangeArrowheads="1"/>
            </p:cNvSpPr>
            <p:nvPr/>
          </p:nvSpPr>
          <p:spPr bwMode="auto">
            <a:xfrm>
              <a:off x="3190" y="2198"/>
              <a:ext cx="336" cy="136"/>
            </a:xfrm>
            <a:prstGeom prst="rect">
              <a:avLst/>
            </a:prstGeom>
            <a:pattFill prst="dkVert">
              <a:fgClr>
                <a:srgbClr val="CCFF99"/>
              </a:fgClr>
              <a:bgClr>
                <a:srgbClr val="9FEB43"/>
              </a:bgClr>
            </a:patt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</a:rPr>
                <a:t>Delta</a:t>
              </a:r>
            </a:p>
          </p:txBody>
        </p:sp>
      </p:grpSp>
      <p:pic>
        <p:nvPicPr>
          <p:cNvPr id="106825" name="Picture 329"/>
          <p:cNvPicPr>
            <a:picLocks noChangeAspect="1" noChangeArrowheads="1"/>
          </p:cNvPicPr>
          <p:nvPr/>
        </p:nvPicPr>
        <p:blipFill>
          <a:blip r:embed="rId4" cstate="print">
            <a:lum bright="-100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2792438"/>
            <a:ext cx="622300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xit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" dur="500"/>
                                        <p:tgtEl>
                                          <p:spTgt spid="106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0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2.77778E-7 -5.41291E-7 C -0.00451 0.04557 -0.03455 0.20287 -0.02708 0.27342 C -0.01962 0.34397 0.03021 0.39186 0.04531 0.42286 " pathEditMode="relative" rAng="0" ptsTypes="aaa">
                                      <p:cBhvr>
                                        <p:cTn id="25" dur="4000" fill="hold"/>
                                        <p:tgtEl>
                                          <p:spTgt spid="1067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8" y="211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93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13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3.33333E-6 0.00231 C -0.00591 -0.0273 -0.02952 -0.1462 -0.03542 -0.17581 " pathEditMode="relative" rAng="0" ptsTypes="aa">
                                      <p:cBhvr>
                                        <p:cTn id="32" dur="6400" fill="hold"/>
                                        <p:tgtEl>
                                          <p:spTgt spid="1067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89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84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4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5.55556E-7 1.34166E-6 L -0.0217 -0.05621 C -0.02465 -0.07865 -0.01875 -0.12168 -0.01805 -0.13486 " pathEditMode="relative" rAng="0" ptsTypes="AaA">
                                      <p:cBhvr>
                                        <p:cTn id="39" dur="6100" fill="hold"/>
                                        <p:tgtEl>
                                          <p:spTgt spid="106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3" y="-6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2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94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4.44444E-6 -4.7282E-6 C -0.0125 0.02337 -0.06841 0.09785 -0.07518 0.13972 C -0.08195 0.18159 -0.0507 0.22415 -0.04028 0.25168 C -0.02987 0.27921 -0.01823 0.29401 -0.0125 0.30512 " pathEditMode="relative" rAng="0" ptsTypes="aaaa">
                                      <p:cBhvr>
                                        <p:cTn id="46" dur="3800" fill="hold"/>
                                        <p:tgtEl>
                                          <p:spTgt spid="1067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97" y="1524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7 -2.10965E-6 C -0.01667 0.02684 -0.07813 0.11451 -0.10035 0.16077 C -0.12257 0.20703 -0.12604 0.25353 -0.13281 0.27782 " pathEditMode="relative" rAng="0" ptsTypes="aaa">
                                      <p:cBhvr>
                                        <p:cTn id="48" dur="5000" fill="hold"/>
                                        <p:tgtEl>
                                          <p:spTgt spid="106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49" y="138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49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200"/>
                                        <p:tgtEl>
                                          <p:spTgt spid="10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73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5.55556E-7 1.24913E-6 C -0.00069 -0.05853 -0.00312 -0.29262 -0.00365 -0.35115 " pathEditMode="relative" rAng="0" ptsTypes="aa">
                                      <p:cBhvr>
                                        <p:cTn id="55" dur="4900" fill="hold"/>
                                        <p:tgtEl>
                                          <p:spTgt spid="1067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" y="-175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28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200"/>
                                        <p:tgtEl>
                                          <p:spTgt spid="10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4700"/>
                            </p:stCondLst>
                            <p:childTnLst>
                              <p:par>
                                <p:cTn id="61" presetID="0" presetClass="path" presetSubtype="0" accel="50000" decel="5000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-4.22623E-6 C 0.02083 -0.01041 0.09583 -0.04025 0.12483 -0.06222 C 0.15382 -0.0842 0.16354 -0.11728 0.17361 -0.13162 " pathEditMode="relative" rAng="0" ptsTypes="aaa">
                                      <p:cBhvr>
                                        <p:cTn id="62" dur="4200" fill="hold"/>
                                        <p:tgtEl>
                                          <p:spTgt spid="106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81" y="-6593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106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4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7" grpId="0" animBg="1"/>
      <p:bldP spid="106509" grpId="0"/>
      <p:bldP spid="106510" grpId="0"/>
      <p:bldP spid="106511" grpId="0"/>
      <p:bldP spid="106512" grpId="0"/>
      <p:bldP spid="106514" grpId="0"/>
      <p:bldP spid="106515" grpId="0" animBg="1"/>
      <p:bldP spid="106789" grpId="0"/>
      <p:bldP spid="1067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9"/>
          <p:cNvSpPr>
            <a:spLocks noChangeArrowheads="1"/>
          </p:cNvSpPr>
          <p:nvPr/>
        </p:nvSpPr>
        <p:spPr bwMode="auto">
          <a:xfrm>
            <a:off x="609600" y="981075"/>
            <a:ext cx="2971800" cy="584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b="1" dirty="0">
                <a:solidFill>
                  <a:srgbClr val="00AEC6"/>
                </a:solidFill>
              </a:rPr>
              <a:t>STEP 5</a:t>
            </a:r>
            <a:r>
              <a:rPr lang="en-GB" sz="1100" dirty="0">
                <a:solidFill>
                  <a:srgbClr val="00AEC6"/>
                </a:solidFill>
              </a:rPr>
              <a:t>: </a:t>
            </a:r>
            <a:r>
              <a:rPr lang="en-GB" sz="1100" dirty="0"/>
              <a:t>Deliver, finalize the </a:t>
            </a:r>
            <a:r>
              <a:rPr lang="en-GB" sz="1100" i="1" dirty="0"/>
              <a:t>y</a:t>
            </a:r>
            <a:r>
              <a:rPr lang="en-GB" sz="1100" dirty="0"/>
              <a:t>ear and evaluate the outcome.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These are the steps in short:</a:t>
            </a:r>
          </a:p>
        </p:txBody>
      </p:sp>
      <p:grpSp>
        <p:nvGrpSpPr>
          <p:cNvPr id="23555" name="Group 10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23631" name="Line 11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632" name="Line 12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3556" name="Rectangle 13"/>
          <p:cNvSpPr>
            <a:spLocks noChangeArrowheads="1"/>
          </p:cNvSpPr>
          <p:nvPr/>
        </p:nvSpPr>
        <p:spPr bwMode="auto">
          <a:xfrm>
            <a:off x="604838" y="304800"/>
            <a:ext cx="4768850" cy="381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4. Running the simulation: Closing the year</a:t>
            </a:r>
          </a:p>
        </p:txBody>
      </p:sp>
      <p:grpSp>
        <p:nvGrpSpPr>
          <p:cNvPr id="23557" name="Group 109"/>
          <p:cNvGrpSpPr>
            <a:grpSpLocks/>
          </p:cNvGrpSpPr>
          <p:nvPr/>
        </p:nvGrpSpPr>
        <p:grpSpPr bwMode="auto">
          <a:xfrm>
            <a:off x="609600" y="1828800"/>
            <a:ext cx="1371600" cy="2879725"/>
            <a:chOff x="384" y="1152"/>
            <a:chExt cx="864" cy="1814"/>
          </a:xfrm>
        </p:grpSpPr>
        <p:sp>
          <p:nvSpPr>
            <p:cNvPr id="23629" name="Line 110"/>
            <p:cNvSpPr>
              <a:spLocks noChangeShapeType="1"/>
            </p:cNvSpPr>
            <p:nvPr/>
          </p:nvSpPr>
          <p:spPr bwMode="auto">
            <a:xfrm>
              <a:off x="384" y="1152"/>
              <a:ext cx="0" cy="1814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0" name="Line 111"/>
            <p:cNvSpPr>
              <a:spLocks noChangeShapeType="1"/>
            </p:cNvSpPr>
            <p:nvPr/>
          </p:nvSpPr>
          <p:spPr bwMode="auto">
            <a:xfrm>
              <a:off x="384" y="2966"/>
              <a:ext cx="864" cy="0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52" name="AutoShape 112"/>
          <p:cNvSpPr>
            <a:spLocks noChangeArrowheads="1"/>
          </p:cNvSpPr>
          <p:nvPr/>
        </p:nvSpPr>
        <p:spPr bwMode="auto">
          <a:xfrm>
            <a:off x="609600" y="1665775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112754" name="Rectangle 114"/>
          <p:cNvSpPr>
            <a:spLocks noChangeArrowheads="1"/>
          </p:cNvSpPr>
          <p:nvPr/>
        </p:nvSpPr>
        <p:spPr bwMode="auto">
          <a:xfrm>
            <a:off x="609600" y="182880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DELIVERY means that you allocate resources to </a:t>
            </a:r>
            <a:r>
              <a:rPr lang="en-GB" sz="1100" dirty="0" smtClean="0"/>
              <a:t>the </a:t>
            </a:r>
            <a:r>
              <a:rPr lang="en-GB" sz="1100" dirty="0"/>
              <a:t>customers you serve.</a:t>
            </a:r>
            <a:endParaRPr lang="en-GB" sz="1100" i="1" dirty="0"/>
          </a:p>
        </p:txBody>
      </p:sp>
      <p:sp>
        <p:nvSpPr>
          <p:cNvPr id="112755" name="Rectangle 115"/>
          <p:cNvSpPr>
            <a:spLocks noChangeArrowheads="1"/>
          </p:cNvSpPr>
          <p:nvPr/>
        </p:nvSpPr>
        <p:spPr bwMode="auto">
          <a:xfrm>
            <a:off x="609600" y="2341563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CLOSE THE BOOKS to see how your profit, cash-flow and brand value have developed.</a:t>
            </a:r>
          </a:p>
        </p:txBody>
      </p:sp>
      <p:sp>
        <p:nvSpPr>
          <p:cNvPr id="112756" name="Rectangle 116"/>
          <p:cNvSpPr>
            <a:spLocks noChangeArrowheads="1"/>
          </p:cNvSpPr>
          <p:nvPr/>
        </p:nvSpPr>
        <p:spPr bwMode="auto">
          <a:xfrm>
            <a:off x="609600" y="3684588"/>
            <a:ext cx="297180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Market data: Your standing in relation to the competition such as market share and brand position.</a:t>
            </a:r>
          </a:p>
        </p:txBody>
      </p:sp>
      <p:sp>
        <p:nvSpPr>
          <p:cNvPr id="112757" name="Rectangle 117"/>
          <p:cNvSpPr>
            <a:spLocks noChangeArrowheads="1"/>
          </p:cNvSpPr>
          <p:nvPr/>
        </p:nvSpPr>
        <p:spPr bwMode="auto">
          <a:xfrm>
            <a:off x="609600" y="4300538"/>
            <a:ext cx="29718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Score card: How your Key Performance Indicators (KPIs) have developed – including different aspects of profitability, customer satisfaction and efficiency,</a:t>
            </a:r>
          </a:p>
        </p:txBody>
      </p:sp>
      <p:sp>
        <p:nvSpPr>
          <p:cNvPr id="112759" name="Rectangle 119"/>
          <p:cNvSpPr>
            <a:spLocks noChangeArrowheads="1"/>
          </p:cNvSpPr>
          <p:nvPr/>
        </p:nvSpPr>
        <p:spPr bwMode="auto">
          <a:xfrm>
            <a:off x="609600" y="2857500"/>
            <a:ext cx="297180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/>
              <a:t>EVALUATE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At this point </a:t>
            </a:r>
            <a:r>
              <a:rPr lang="en-GB" sz="1100" dirty="0" smtClean="0"/>
              <a:t>you will </a:t>
            </a:r>
            <a:r>
              <a:rPr lang="en-GB" sz="1100" dirty="0"/>
              <a:t>now have a lot of data to analyse. This includes, on top of the above:</a:t>
            </a:r>
          </a:p>
        </p:txBody>
      </p:sp>
      <p:sp>
        <p:nvSpPr>
          <p:cNvPr id="112760" name="Rectangle 120"/>
          <p:cNvSpPr>
            <a:spLocks noChangeArrowheads="1"/>
          </p:cNvSpPr>
          <p:nvPr/>
        </p:nvSpPr>
        <p:spPr bwMode="auto">
          <a:xfrm>
            <a:off x="609600" y="5084763"/>
            <a:ext cx="2971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300" dirty="0"/>
              <a:t>This done, you are ready to study the forecast and plan for the next years…</a:t>
            </a:r>
          </a:p>
        </p:txBody>
      </p:sp>
      <p:grpSp>
        <p:nvGrpSpPr>
          <p:cNvPr id="112868" name="Group 228"/>
          <p:cNvGrpSpPr>
            <a:grpSpLocks/>
          </p:cNvGrpSpPr>
          <p:nvPr/>
        </p:nvGrpSpPr>
        <p:grpSpPr bwMode="auto">
          <a:xfrm>
            <a:off x="7772400" y="1682750"/>
            <a:ext cx="228600" cy="1087438"/>
            <a:chOff x="4896" y="796"/>
            <a:chExt cx="144" cy="685"/>
          </a:xfrm>
        </p:grpSpPr>
        <p:sp>
          <p:nvSpPr>
            <p:cNvPr id="23627" name="Rectangle 130"/>
            <p:cNvSpPr>
              <a:spLocks noChangeArrowheads="1"/>
            </p:cNvSpPr>
            <p:nvPr/>
          </p:nvSpPr>
          <p:spPr bwMode="auto">
            <a:xfrm>
              <a:off x="4896" y="1072"/>
              <a:ext cx="144" cy="409"/>
            </a:xfrm>
            <a:prstGeom prst="rect">
              <a:avLst/>
            </a:prstGeom>
            <a:solidFill>
              <a:srgbClr val="0053A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28" name="Rectangle 131"/>
            <p:cNvSpPr>
              <a:spLocks noChangeArrowheads="1"/>
            </p:cNvSpPr>
            <p:nvPr/>
          </p:nvSpPr>
          <p:spPr bwMode="auto">
            <a:xfrm>
              <a:off x="4896" y="796"/>
              <a:ext cx="144" cy="284"/>
            </a:xfrm>
            <a:prstGeom prst="rect">
              <a:avLst/>
            </a:prstGeom>
            <a:solidFill>
              <a:srgbClr val="EA5E1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12866" name="Group 226"/>
          <p:cNvGrpSpPr>
            <a:grpSpLocks/>
          </p:cNvGrpSpPr>
          <p:nvPr/>
        </p:nvGrpSpPr>
        <p:grpSpPr bwMode="auto">
          <a:xfrm>
            <a:off x="4414838" y="1038225"/>
            <a:ext cx="1862137" cy="1820863"/>
            <a:chOff x="2781" y="390"/>
            <a:chExt cx="1173" cy="1147"/>
          </a:xfrm>
        </p:grpSpPr>
        <p:sp>
          <p:nvSpPr>
            <p:cNvPr id="23615" name="Rectangle 100"/>
            <p:cNvSpPr>
              <a:spLocks noChangeArrowheads="1"/>
            </p:cNvSpPr>
            <p:nvPr/>
          </p:nvSpPr>
          <p:spPr bwMode="auto">
            <a:xfrm>
              <a:off x="2781" y="390"/>
              <a:ext cx="783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b="1" dirty="0">
                  <a:solidFill>
                    <a:srgbClr val="00AEC6"/>
                  </a:solidFill>
                </a:rPr>
                <a:t>DELIVER</a:t>
              </a:r>
            </a:p>
          </p:txBody>
        </p:sp>
        <p:sp>
          <p:nvSpPr>
            <p:cNvPr id="23616" name="Rectangle 142"/>
            <p:cNvSpPr>
              <a:spLocks noChangeArrowheads="1"/>
            </p:cNvSpPr>
            <p:nvPr/>
          </p:nvSpPr>
          <p:spPr bwMode="auto">
            <a:xfrm>
              <a:off x="2841" y="1001"/>
              <a:ext cx="181" cy="4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17" name="Rectangle 143"/>
            <p:cNvSpPr>
              <a:spLocks noChangeArrowheads="1"/>
            </p:cNvSpPr>
            <p:nvPr/>
          </p:nvSpPr>
          <p:spPr bwMode="auto">
            <a:xfrm>
              <a:off x="3023" y="930"/>
              <a:ext cx="181" cy="5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18" name="Rectangle 144"/>
            <p:cNvSpPr>
              <a:spLocks noChangeArrowheads="1"/>
            </p:cNvSpPr>
            <p:nvPr/>
          </p:nvSpPr>
          <p:spPr bwMode="auto">
            <a:xfrm>
              <a:off x="3204" y="857"/>
              <a:ext cx="181" cy="631"/>
            </a:xfrm>
            <a:prstGeom prst="rect">
              <a:avLst/>
            </a:prstGeom>
            <a:solidFill>
              <a:srgbClr val="0053A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19" name="Rectangle 145"/>
            <p:cNvSpPr>
              <a:spLocks noChangeArrowheads="1"/>
            </p:cNvSpPr>
            <p:nvPr/>
          </p:nvSpPr>
          <p:spPr bwMode="auto">
            <a:xfrm>
              <a:off x="3387" y="854"/>
              <a:ext cx="181" cy="63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20" name="Rectangle 147"/>
            <p:cNvSpPr>
              <a:spLocks noChangeArrowheads="1"/>
            </p:cNvSpPr>
            <p:nvPr/>
          </p:nvSpPr>
          <p:spPr bwMode="auto">
            <a:xfrm>
              <a:off x="2784" y="548"/>
              <a:ext cx="643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Capacity</a:t>
              </a:r>
            </a:p>
          </p:txBody>
        </p:sp>
        <p:sp>
          <p:nvSpPr>
            <p:cNvPr id="23621" name="Line 148"/>
            <p:cNvSpPr>
              <a:spLocks noChangeShapeType="1"/>
            </p:cNvSpPr>
            <p:nvPr/>
          </p:nvSpPr>
          <p:spPr bwMode="auto">
            <a:xfrm>
              <a:off x="2795" y="1488"/>
              <a:ext cx="9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Line 149"/>
            <p:cNvSpPr>
              <a:spLocks noChangeShapeType="1"/>
            </p:cNvSpPr>
            <p:nvPr/>
          </p:nvSpPr>
          <p:spPr bwMode="auto">
            <a:xfrm flipV="1">
              <a:off x="2795" y="690"/>
              <a:ext cx="0" cy="7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3" name="Rectangle 150"/>
            <p:cNvSpPr>
              <a:spLocks noChangeArrowheads="1"/>
            </p:cNvSpPr>
            <p:nvPr/>
          </p:nvSpPr>
          <p:spPr bwMode="auto">
            <a:xfrm>
              <a:off x="3743" y="1430"/>
              <a:ext cx="211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GB" sz="1100" dirty="0"/>
                <a:t>Year</a:t>
              </a:r>
            </a:p>
          </p:txBody>
        </p:sp>
        <p:sp>
          <p:nvSpPr>
            <p:cNvPr id="23624" name="Rectangle 151"/>
            <p:cNvSpPr>
              <a:spLocks noChangeArrowheads="1"/>
            </p:cNvSpPr>
            <p:nvPr/>
          </p:nvSpPr>
          <p:spPr bwMode="auto">
            <a:xfrm>
              <a:off x="2841" y="1043"/>
              <a:ext cx="181" cy="445"/>
            </a:xfrm>
            <a:prstGeom prst="rect">
              <a:avLst/>
            </a:prstGeom>
            <a:solidFill>
              <a:srgbClr val="0053A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25" name="Rectangle 152"/>
            <p:cNvSpPr>
              <a:spLocks noChangeArrowheads="1"/>
            </p:cNvSpPr>
            <p:nvPr/>
          </p:nvSpPr>
          <p:spPr bwMode="auto">
            <a:xfrm>
              <a:off x="3023" y="975"/>
              <a:ext cx="181" cy="513"/>
            </a:xfrm>
            <a:prstGeom prst="rect">
              <a:avLst/>
            </a:prstGeom>
            <a:solidFill>
              <a:srgbClr val="0053A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23626" name="Rectangle 155"/>
            <p:cNvSpPr>
              <a:spLocks noChangeArrowheads="1"/>
            </p:cNvSpPr>
            <p:nvPr/>
          </p:nvSpPr>
          <p:spPr bwMode="auto">
            <a:xfrm>
              <a:off x="3204" y="797"/>
              <a:ext cx="181" cy="58"/>
            </a:xfrm>
            <a:prstGeom prst="rect">
              <a:avLst/>
            </a:prstGeom>
            <a:solidFill>
              <a:srgbClr val="5688C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12871" name="Group 231"/>
          <p:cNvGrpSpPr>
            <a:grpSpLocks/>
          </p:cNvGrpSpPr>
          <p:nvPr/>
        </p:nvGrpSpPr>
        <p:grpSpPr bwMode="auto">
          <a:xfrm>
            <a:off x="6821488" y="3097213"/>
            <a:ext cx="1800225" cy="1893887"/>
            <a:chOff x="4297" y="1783"/>
            <a:chExt cx="1134" cy="1193"/>
          </a:xfrm>
        </p:grpSpPr>
        <p:grpSp>
          <p:nvGrpSpPr>
            <p:cNvPr id="23599" name="Group 230"/>
            <p:cNvGrpSpPr>
              <a:grpSpLocks/>
            </p:cNvGrpSpPr>
            <p:nvPr/>
          </p:nvGrpSpPr>
          <p:grpSpPr bwMode="auto">
            <a:xfrm>
              <a:off x="4297" y="1783"/>
              <a:ext cx="1134" cy="1193"/>
              <a:chOff x="4297" y="1783"/>
              <a:chExt cx="1134" cy="1193"/>
            </a:xfrm>
          </p:grpSpPr>
          <p:grpSp>
            <p:nvGrpSpPr>
              <p:cNvPr id="23604" name="Group 187"/>
              <p:cNvGrpSpPr>
                <a:grpSpLocks/>
              </p:cNvGrpSpPr>
              <p:nvPr/>
            </p:nvGrpSpPr>
            <p:grpSpPr bwMode="auto">
              <a:xfrm>
                <a:off x="4306" y="1911"/>
                <a:ext cx="1070" cy="1065"/>
                <a:chOff x="3106" y="1559"/>
                <a:chExt cx="2174" cy="2164"/>
              </a:xfrm>
            </p:grpSpPr>
            <p:sp>
              <p:nvSpPr>
                <p:cNvPr id="23606" name="Rectangle 188"/>
                <p:cNvSpPr>
                  <a:spLocks noChangeArrowheads="1"/>
                </p:cNvSpPr>
                <p:nvPr/>
              </p:nvSpPr>
              <p:spPr bwMode="auto">
                <a:xfrm>
                  <a:off x="3106" y="1559"/>
                  <a:ext cx="2174" cy="2164"/>
                </a:xfrm>
                <a:prstGeom prst="rect">
                  <a:avLst/>
                </a:prstGeom>
                <a:solidFill>
                  <a:srgbClr val="00683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>
                      <a:solidFill>
                        <a:schemeClr val="bg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grpSp>
              <p:nvGrpSpPr>
                <p:cNvPr id="23607" name="Group 189"/>
                <p:cNvGrpSpPr>
                  <a:grpSpLocks/>
                </p:cNvGrpSpPr>
                <p:nvPr/>
              </p:nvGrpSpPr>
              <p:grpSpPr bwMode="auto">
                <a:xfrm>
                  <a:off x="3359" y="1749"/>
                  <a:ext cx="1873" cy="1772"/>
                  <a:chOff x="2703" y="981"/>
                  <a:chExt cx="2445" cy="2313"/>
                </a:xfrm>
              </p:grpSpPr>
              <p:sp>
                <p:nvSpPr>
                  <p:cNvPr id="23610" name="Oval 190"/>
                  <p:cNvSpPr>
                    <a:spLocks noChangeArrowheads="1"/>
                  </p:cNvSpPr>
                  <p:nvPr/>
                </p:nvSpPr>
                <p:spPr bwMode="auto">
                  <a:xfrm>
                    <a:off x="2703" y="981"/>
                    <a:ext cx="1175" cy="125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339966">
                            <a:alpha val="27058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1200" b="1" dirty="0">
                        <a:solidFill>
                          <a:schemeClr val="bg1"/>
                        </a:solidFill>
                        <a:cs typeface="Arial" pitchFamily="34" charset="0"/>
                      </a:rPr>
                      <a:t>S</a:t>
                    </a:r>
                    <a:endParaRPr lang="en-US" sz="1200" b="1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23611" name="Oval 191"/>
                  <p:cNvSpPr>
                    <a:spLocks noChangeArrowheads="1"/>
                  </p:cNvSpPr>
                  <p:nvPr/>
                </p:nvSpPr>
                <p:spPr bwMode="auto">
                  <a:xfrm>
                    <a:off x="2884" y="2040"/>
                    <a:ext cx="1089" cy="125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339966">
                            <a:alpha val="27058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1200" b="1" dirty="0">
                        <a:solidFill>
                          <a:schemeClr val="bg1"/>
                        </a:solidFill>
                        <a:cs typeface="Arial" pitchFamily="34" charset="0"/>
                      </a:rPr>
                      <a:t>T</a:t>
                    </a:r>
                    <a:endParaRPr lang="en-US" sz="1200" b="1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23612" name="Oval 192"/>
                  <p:cNvSpPr>
                    <a:spLocks noChangeArrowheads="1"/>
                  </p:cNvSpPr>
                  <p:nvPr/>
                </p:nvSpPr>
                <p:spPr bwMode="auto">
                  <a:xfrm>
                    <a:off x="3852" y="2341"/>
                    <a:ext cx="1296" cy="87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339966">
                            <a:alpha val="27058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1200" b="1" dirty="0">
                        <a:solidFill>
                          <a:schemeClr val="bg1"/>
                        </a:solidFill>
                        <a:cs typeface="Arial" pitchFamily="34" charset="0"/>
                      </a:rPr>
                      <a:t>A</a:t>
                    </a:r>
                    <a:endParaRPr lang="en-US" sz="1200" b="1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23613" name="Oval 193"/>
                  <p:cNvSpPr>
                    <a:spLocks noChangeArrowheads="1"/>
                  </p:cNvSpPr>
                  <p:nvPr/>
                </p:nvSpPr>
                <p:spPr bwMode="auto">
                  <a:xfrm>
                    <a:off x="3728" y="1409"/>
                    <a:ext cx="921" cy="1157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339966">
                            <a:alpha val="27058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1200" b="1" dirty="0">
                        <a:solidFill>
                          <a:schemeClr val="bg1"/>
                        </a:solidFill>
                        <a:cs typeface="Arial" pitchFamily="34" charset="0"/>
                      </a:rPr>
                      <a:t>M</a:t>
                    </a:r>
                    <a:endParaRPr lang="en-US" sz="1200" b="1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23614" name="Oval 194"/>
                  <p:cNvSpPr>
                    <a:spLocks noChangeArrowheads="1"/>
                  </p:cNvSpPr>
                  <p:nvPr/>
                </p:nvSpPr>
                <p:spPr bwMode="auto">
                  <a:xfrm>
                    <a:off x="3878" y="981"/>
                    <a:ext cx="1160" cy="832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339966">
                            <a:alpha val="27058"/>
                          </a:srgbClr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lang="sv-SE" sz="1200" b="1" dirty="0">
                        <a:solidFill>
                          <a:schemeClr val="bg1"/>
                        </a:solidFill>
                        <a:cs typeface="Arial" pitchFamily="34" charset="0"/>
                      </a:rPr>
                      <a:t>P</a:t>
                    </a:r>
                    <a:endParaRPr lang="en-US" sz="1200" b="1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sp>
              <p:nvSpPr>
                <p:cNvPr id="23608" name="Line 195"/>
                <p:cNvSpPr>
                  <a:spLocks noChangeShapeType="1"/>
                </p:cNvSpPr>
                <p:nvPr/>
              </p:nvSpPr>
              <p:spPr bwMode="auto">
                <a:xfrm>
                  <a:off x="3142" y="2649"/>
                  <a:ext cx="2100" cy="0"/>
                </a:xfrm>
                <a:prstGeom prst="line">
                  <a:avLst/>
                </a:prstGeom>
                <a:noFill/>
                <a:ln w="57150">
                  <a:solidFill>
                    <a:schemeClr val="bg1">
                      <a:alpha val="75000"/>
                    </a:schemeClr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09" name="Line 196"/>
                <p:cNvSpPr>
                  <a:spLocks noChangeShapeType="1"/>
                </p:cNvSpPr>
                <p:nvPr/>
              </p:nvSpPr>
              <p:spPr bwMode="auto">
                <a:xfrm rot="-5400000">
                  <a:off x="3142" y="2649"/>
                  <a:ext cx="2100" cy="0"/>
                </a:xfrm>
                <a:prstGeom prst="line">
                  <a:avLst/>
                </a:prstGeom>
                <a:noFill/>
                <a:ln w="57150">
                  <a:solidFill>
                    <a:schemeClr val="bg1">
                      <a:alpha val="75000"/>
                    </a:schemeClr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605" name="Rectangle 204"/>
              <p:cNvSpPr>
                <a:spLocks noChangeArrowheads="1"/>
              </p:cNvSpPr>
              <p:nvPr/>
            </p:nvSpPr>
            <p:spPr bwMode="auto">
              <a:xfrm>
                <a:off x="4297" y="1783"/>
                <a:ext cx="1134" cy="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1100" b="1" dirty="0">
                    <a:solidFill>
                      <a:srgbClr val="00AEC6"/>
                    </a:solidFill>
                  </a:rPr>
                  <a:t>BRAND POSITION</a:t>
                </a:r>
              </a:p>
            </p:txBody>
          </p:sp>
        </p:grpSp>
        <p:sp>
          <p:nvSpPr>
            <p:cNvPr id="23600" name="Oval 197"/>
            <p:cNvSpPr>
              <a:spLocks noChangeArrowheads="1"/>
            </p:cNvSpPr>
            <p:nvPr/>
          </p:nvSpPr>
          <p:spPr bwMode="auto">
            <a:xfrm>
              <a:off x="4565" y="2192"/>
              <a:ext cx="264" cy="264"/>
            </a:xfrm>
            <a:prstGeom prst="ellipse">
              <a:avLst/>
            </a:prstGeom>
            <a:pattFill prst="dkVert">
              <a:fgClr>
                <a:srgbClr val="FF7C80"/>
              </a:fgClr>
              <a:bgClr>
                <a:srgbClr val="FF9999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160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3601" name="Oval 198"/>
            <p:cNvSpPr>
              <a:spLocks noChangeArrowheads="1"/>
            </p:cNvSpPr>
            <p:nvPr/>
          </p:nvSpPr>
          <p:spPr bwMode="auto">
            <a:xfrm>
              <a:off x="4922" y="2136"/>
              <a:ext cx="184" cy="184"/>
            </a:xfrm>
            <a:prstGeom prst="ellipse">
              <a:avLst/>
            </a:prstGeom>
            <a:pattFill prst="dkVert">
              <a:fgClr>
                <a:srgbClr val="FF9900"/>
              </a:fgClr>
              <a:bgClr>
                <a:srgbClr val="FFC000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1600" dirty="0"/>
                <a:t>B</a:t>
              </a:r>
            </a:p>
          </p:txBody>
        </p:sp>
        <p:sp>
          <p:nvSpPr>
            <p:cNvPr id="23602" name="Oval 199"/>
            <p:cNvSpPr>
              <a:spLocks noChangeArrowheads="1"/>
            </p:cNvSpPr>
            <p:nvPr/>
          </p:nvSpPr>
          <p:spPr bwMode="auto">
            <a:xfrm>
              <a:off x="4927" y="2549"/>
              <a:ext cx="228" cy="222"/>
            </a:xfrm>
            <a:prstGeom prst="ellipse">
              <a:avLst/>
            </a:prstGeom>
            <a:pattFill prst="dkVert">
              <a:fgClr>
                <a:srgbClr val="FCF305"/>
              </a:fgClr>
              <a:bgClr>
                <a:srgbClr val="FFFF99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1600"/>
                <a:t>G</a:t>
              </a:r>
            </a:p>
          </p:txBody>
        </p:sp>
        <p:sp>
          <p:nvSpPr>
            <p:cNvPr id="23603" name="Oval 200"/>
            <p:cNvSpPr>
              <a:spLocks noChangeArrowheads="1"/>
            </p:cNvSpPr>
            <p:nvPr/>
          </p:nvSpPr>
          <p:spPr bwMode="auto">
            <a:xfrm>
              <a:off x="4630" y="2617"/>
              <a:ext cx="194" cy="194"/>
            </a:xfrm>
            <a:prstGeom prst="ellipse">
              <a:avLst/>
            </a:prstGeom>
            <a:pattFill prst="dkVert">
              <a:fgClr>
                <a:srgbClr val="CCFF99"/>
              </a:fgClr>
              <a:bgClr>
                <a:srgbClr val="9FEB43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1600" dirty="0"/>
                <a:t>D</a:t>
              </a:r>
            </a:p>
          </p:txBody>
        </p:sp>
      </p:grpSp>
      <p:grpSp>
        <p:nvGrpSpPr>
          <p:cNvPr id="112867" name="Group 227"/>
          <p:cNvGrpSpPr>
            <a:grpSpLocks/>
          </p:cNvGrpSpPr>
          <p:nvPr/>
        </p:nvGrpSpPr>
        <p:grpSpPr bwMode="auto">
          <a:xfrm>
            <a:off x="6821488" y="1038225"/>
            <a:ext cx="2035175" cy="1820863"/>
            <a:chOff x="4297" y="390"/>
            <a:chExt cx="1282" cy="1147"/>
          </a:xfrm>
        </p:grpSpPr>
        <p:grpSp>
          <p:nvGrpSpPr>
            <p:cNvPr id="23585" name="Group 141"/>
            <p:cNvGrpSpPr>
              <a:grpSpLocks/>
            </p:cNvGrpSpPr>
            <p:nvPr/>
          </p:nvGrpSpPr>
          <p:grpSpPr bwMode="auto">
            <a:xfrm>
              <a:off x="4392" y="842"/>
              <a:ext cx="480" cy="639"/>
              <a:chOff x="4392" y="698"/>
              <a:chExt cx="480" cy="639"/>
            </a:xfrm>
          </p:grpSpPr>
          <p:sp>
            <p:nvSpPr>
              <p:cNvPr id="23593" name="Rectangle 123"/>
              <p:cNvSpPr>
                <a:spLocks noChangeArrowheads="1"/>
              </p:cNvSpPr>
              <p:nvPr/>
            </p:nvSpPr>
            <p:spPr bwMode="auto">
              <a:xfrm>
                <a:off x="4392" y="1039"/>
                <a:ext cx="144" cy="298"/>
              </a:xfrm>
              <a:prstGeom prst="rect">
                <a:avLst/>
              </a:prstGeom>
              <a:solidFill>
                <a:srgbClr val="0053A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3594" name="Rectangle 124"/>
              <p:cNvSpPr>
                <a:spLocks noChangeArrowheads="1"/>
              </p:cNvSpPr>
              <p:nvPr/>
            </p:nvSpPr>
            <p:spPr bwMode="auto">
              <a:xfrm>
                <a:off x="4392" y="845"/>
                <a:ext cx="144" cy="190"/>
              </a:xfrm>
              <a:prstGeom prst="rect">
                <a:avLst/>
              </a:prstGeom>
              <a:solidFill>
                <a:srgbClr val="EA5E1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3595" name="Rectangle 126"/>
              <p:cNvSpPr>
                <a:spLocks noChangeArrowheads="1"/>
              </p:cNvSpPr>
              <p:nvPr/>
            </p:nvSpPr>
            <p:spPr bwMode="auto">
              <a:xfrm>
                <a:off x="4560" y="928"/>
                <a:ext cx="144" cy="409"/>
              </a:xfrm>
              <a:prstGeom prst="rect">
                <a:avLst/>
              </a:prstGeom>
              <a:solidFill>
                <a:srgbClr val="0053A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3596" name="Rectangle 127"/>
              <p:cNvSpPr>
                <a:spLocks noChangeArrowheads="1"/>
              </p:cNvSpPr>
              <p:nvPr/>
            </p:nvSpPr>
            <p:spPr bwMode="auto">
              <a:xfrm>
                <a:off x="4560" y="698"/>
                <a:ext cx="144" cy="238"/>
              </a:xfrm>
              <a:prstGeom prst="rect">
                <a:avLst/>
              </a:prstGeom>
              <a:solidFill>
                <a:srgbClr val="EA5E1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3597" name="Rectangle 128"/>
              <p:cNvSpPr>
                <a:spLocks noChangeArrowheads="1"/>
              </p:cNvSpPr>
              <p:nvPr/>
            </p:nvSpPr>
            <p:spPr bwMode="auto">
              <a:xfrm>
                <a:off x="4728" y="968"/>
                <a:ext cx="144" cy="369"/>
              </a:xfrm>
              <a:prstGeom prst="rect">
                <a:avLst/>
              </a:prstGeom>
              <a:solidFill>
                <a:srgbClr val="0053A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23598" name="Rectangle 129"/>
              <p:cNvSpPr>
                <a:spLocks noChangeArrowheads="1"/>
              </p:cNvSpPr>
              <p:nvPr/>
            </p:nvSpPr>
            <p:spPr bwMode="auto">
              <a:xfrm>
                <a:off x="4728" y="782"/>
                <a:ext cx="144" cy="189"/>
              </a:xfrm>
              <a:prstGeom prst="rect">
                <a:avLst/>
              </a:prstGeom>
              <a:solidFill>
                <a:srgbClr val="EA5E1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23586" name="Line 132"/>
            <p:cNvSpPr>
              <a:spLocks noChangeShapeType="1"/>
            </p:cNvSpPr>
            <p:nvPr/>
          </p:nvSpPr>
          <p:spPr bwMode="auto">
            <a:xfrm>
              <a:off x="4332" y="1488"/>
              <a:ext cx="9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Rectangle 136"/>
            <p:cNvSpPr>
              <a:spLocks noChangeArrowheads="1"/>
            </p:cNvSpPr>
            <p:nvPr/>
          </p:nvSpPr>
          <p:spPr bwMode="auto">
            <a:xfrm>
              <a:off x="4307" y="548"/>
              <a:ext cx="643" cy="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/>
                <a:t>Market value</a:t>
              </a:r>
            </a:p>
          </p:txBody>
        </p:sp>
        <p:sp>
          <p:nvSpPr>
            <p:cNvPr id="23588" name="Rectangle 137"/>
            <p:cNvSpPr>
              <a:spLocks noChangeArrowheads="1"/>
            </p:cNvSpPr>
            <p:nvPr/>
          </p:nvSpPr>
          <p:spPr bwMode="auto">
            <a:xfrm>
              <a:off x="5280" y="1430"/>
              <a:ext cx="211" cy="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n-GB" sz="1100" dirty="0"/>
                <a:t>Year</a:t>
              </a:r>
            </a:p>
          </p:txBody>
        </p:sp>
        <p:sp>
          <p:nvSpPr>
            <p:cNvPr id="23589" name="Rectangle 138"/>
            <p:cNvSpPr>
              <a:spLocks noChangeArrowheads="1"/>
            </p:cNvSpPr>
            <p:nvPr/>
          </p:nvSpPr>
          <p:spPr bwMode="auto">
            <a:xfrm>
              <a:off x="5117" y="1232"/>
              <a:ext cx="462" cy="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dirty="0"/>
                <a:t>Profit</a:t>
              </a:r>
            </a:p>
          </p:txBody>
        </p:sp>
        <p:sp>
          <p:nvSpPr>
            <p:cNvPr id="23590" name="Rectangle 139"/>
            <p:cNvSpPr>
              <a:spLocks noChangeArrowheads="1"/>
            </p:cNvSpPr>
            <p:nvPr/>
          </p:nvSpPr>
          <p:spPr bwMode="auto">
            <a:xfrm>
              <a:off x="5117" y="828"/>
              <a:ext cx="374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80000"/>
                </a:lnSpc>
                <a:spcAft>
                  <a:spcPts val="600"/>
                </a:spcAft>
              </a:pPr>
              <a:r>
                <a:rPr lang="en-GB" sz="1100" dirty="0"/>
                <a:t>Brand value</a:t>
              </a:r>
            </a:p>
          </p:txBody>
        </p:sp>
        <p:sp>
          <p:nvSpPr>
            <p:cNvPr id="23591" name="Line 134"/>
            <p:cNvSpPr>
              <a:spLocks noChangeShapeType="1"/>
            </p:cNvSpPr>
            <p:nvPr/>
          </p:nvSpPr>
          <p:spPr bwMode="auto">
            <a:xfrm flipV="1">
              <a:off x="4332" y="690"/>
              <a:ext cx="0" cy="7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2" name="Rectangle 201"/>
            <p:cNvSpPr>
              <a:spLocks noChangeArrowheads="1"/>
            </p:cNvSpPr>
            <p:nvPr/>
          </p:nvSpPr>
          <p:spPr bwMode="auto">
            <a:xfrm>
              <a:off x="4297" y="390"/>
              <a:ext cx="1282" cy="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b="1" dirty="0">
                  <a:solidFill>
                    <a:srgbClr val="00AEC6"/>
                  </a:solidFill>
                </a:rPr>
                <a:t>CLOSE THE BOOKS</a:t>
              </a:r>
            </a:p>
          </p:txBody>
        </p:sp>
      </p:grpSp>
      <p:grpSp>
        <p:nvGrpSpPr>
          <p:cNvPr id="112869" name="Group 229"/>
          <p:cNvGrpSpPr>
            <a:grpSpLocks/>
          </p:cNvGrpSpPr>
          <p:nvPr/>
        </p:nvGrpSpPr>
        <p:grpSpPr bwMode="auto">
          <a:xfrm>
            <a:off x="4224751" y="3097215"/>
            <a:ext cx="2435480" cy="1930642"/>
            <a:chOff x="2685" y="1783"/>
            <a:chExt cx="1230" cy="998"/>
          </a:xfrm>
        </p:grpSpPr>
        <p:sp>
          <p:nvSpPr>
            <p:cNvPr id="23583" name="Rectangle 98"/>
            <p:cNvSpPr>
              <a:spLocks noChangeArrowheads="1"/>
            </p:cNvSpPr>
            <p:nvPr/>
          </p:nvSpPr>
          <p:spPr bwMode="auto">
            <a:xfrm>
              <a:off x="2781" y="1783"/>
              <a:ext cx="1134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b="1" dirty="0">
                  <a:solidFill>
                    <a:srgbClr val="00AEC6"/>
                  </a:solidFill>
                </a:rPr>
                <a:t>MARKET SHARES</a:t>
              </a:r>
            </a:p>
          </p:txBody>
        </p:sp>
        <p:pic>
          <p:nvPicPr>
            <p:cNvPr id="23584" name="Picture 20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16" r="20571"/>
            <a:stretch/>
          </p:blipFill>
          <p:spPr bwMode="auto">
            <a:xfrm>
              <a:off x="2685" y="1880"/>
              <a:ext cx="1012" cy="9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864" name="Group 224"/>
          <p:cNvGrpSpPr>
            <a:grpSpLocks/>
          </p:cNvGrpSpPr>
          <p:nvPr/>
        </p:nvGrpSpPr>
        <p:grpSpPr bwMode="auto">
          <a:xfrm>
            <a:off x="4387850" y="5164140"/>
            <a:ext cx="1889125" cy="1454150"/>
            <a:chOff x="2764" y="3108"/>
            <a:chExt cx="1190" cy="916"/>
          </a:xfrm>
        </p:grpSpPr>
        <p:sp>
          <p:nvSpPr>
            <p:cNvPr id="23574" name="Rectangle 205"/>
            <p:cNvSpPr>
              <a:spLocks noChangeArrowheads="1"/>
            </p:cNvSpPr>
            <p:nvPr/>
          </p:nvSpPr>
          <p:spPr bwMode="auto">
            <a:xfrm>
              <a:off x="2764" y="3108"/>
              <a:ext cx="783" cy="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100" b="1" dirty="0">
                  <a:solidFill>
                    <a:srgbClr val="00AEC6"/>
                  </a:solidFill>
                </a:rPr>
                <a:t>SCORE CARD</a:t>
              </a:r>
            </a:p>
          </p:txBody>
        </p:sp>
        <p:grpSp>
          <p:nvGrpSpPr>
            <p:cNvPr id="23575" name="Group 211"/>
            <p:cNvGrpSpPr>
              <a:grpSpLocks/>
            </p:cNvGrpSpPr>
            <p:nvPr/>
          </p:nvGrpSpPr>
          <p:grpSpPr bwMode="auto">
            <a:xfrm>
              <a:off x="2781" y="3244"/>
              <a:ext cx="1173" cy="780"/>
              <a:chOff x="2781" y="3346"/>
              <a:chExt cx="1173" cy="682"/>
            </a:xfrm>
          </p:grpSpPr>
          <p:sp>
            <p:nvSpPr>
              <p:cNvPr id="23580" name="Line 206"/>
              <p:cNvSpPr>
                <a:spLocks noChangeShapeType="1"/>
              </p:cNvSpPr>
              <p:nvPr/>
            </p:nvSpPr>
            <p:spPr bwMode="auto">
              <a:xfrm>
                <a:off x="2781" y="3910"/>
                <a:ext cx="9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1" name="Line 207"/>
              <p:cNvSpPr>
                <a:spLocks noChangeShapeType="1"/>
              </p:cNvSpPr>
              <p:nvPr/>
            </p:nvSpPr>
            <p:spPr bwMode="auto">
              <a:xfrm flipV="1">
                <a:off x="2784" y="3346"/>
                <a:ext cx="0" cy="5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2" name="Rectangle 209"/>
              <p:cNvSpPr>
                <a:spLocks noChangeArrowheads="1"/>
              </p:cNvSpPr>
              <p:nvPr/>
            </p:nvSpPr>
            <p:spPr bwMode="auto">
              <a:xfrm>
                <a:off x="3743" y="3893"/>
                <a:ext cx="21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r">
                  <a:spcAft>
                    <a:spcPts val="600"/>
                  </a:spcAft>
                </a:pPr>
                <a:r>
                  <a:rPr lang="en-GB" sz="1100">
                    <a:solidFill>
                      <a:schemeClr val="bg1"/>
                    </a:solidFill>
                  </a:rPr>
                  <a:t>Year</a:t>
                </a:r>
              </a:p>
            </p:txBody>
          </p:sp>
        </p:grpSp>
        <p:sp>
          <p:nvSpPr>
            <p:cNvPr id="23576" name="Freeform 218"/>
            <p:cNvSpPr>
              <a:spLocks/>
            </p:cNvSpPr>
            <p:nvPr/>
          </p:nvSpPr>
          <p:spPr bwMode="auto">
            <a:xfrm>
              <a:off x="2795" y="3525"/>
              <a:ext cx="795" cy="219"/>
            </a:xfrm>
            <a:custGeom>
              <a:avLst/>
              <a:gdLst>
                <a:gd name="T0" fmla="*/ 0 w 795"/>
                <a:gd name="T1" fmla="*/ 219 h 219"/>
                <a:gd name="T2" fmla="*/ 235 w 795"/>
                <a:gd name="T3" fmla="*/ 150 h 219"/>
                <a:gd name="T4" fmla="*/ 421 w 795"/>
                <a:gd name="T5" fmla="*/ 160 h 219"/>
                <a:gd name="T6" fmla="*/ 611 w 795"/>
                <a:gd name="T7" fmla="*/ 112 h 219"/>
                <a:gd name="T8" fmla="*/ 795 w 795"/>
                <a:gd name="T9" fmla="*/ 0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5" h="219">
                  <a:moveTo>
                    <a:pt x="0" y="219"/>
                  </a:moveTo>
                  <a:lnTo>
                    <a:pt x="235" y="150"/>
                  </a:lnTo>
                  <a:lnTo>
                    <a:pt x="421" y="160"/>
                  </a:lnTo>
                  <a:lnTo>
                    <a:pt x="611" y="112"/>
                  </a:lnTo>
                  <a:lnTo>
                    <a:pt x="795" y="0"/>
                  </a:lnTo>
                </a:path>
              </a:pathLst>
            </a:custGeom>
            <a:noFill/>
            <a:ln w="38100" cmpd="sng">
              <a:solidFill>
                <a:srgbClr val="9FEB4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Freeform 219"/>
            <p:cNvSpPr>
              <a:spLocks/>
            </p:cNvSpPr>
            <p:nvPr/>
          </p:nvSpPr>
          <p:spPr bwMode="auto">
            <a:xfrm>
              <a:off x="2795" y="3323"/>
              <a:ext cx="805" cy="408"/>
            </a:xfrm>
            <a:custGeom>
              <a:avLst/>
              <a:gdLst>
                <a:gd name="T0" fmla="*/ 0 w 805"/>
                <a:gd name="T1" fmla="*/ 304 h 408"/>
                <a:gd name="T2" fmla="*/ 240 w 805"/>
                <a:gd name="T3" fmla="*/ 408 h 408"/>
                <a:gd name="T4" fmla="*/ 427 w 805"/>
                <a:gd name="T5" fmla="*/ 306 h 408"/>
                <a:gd name="T6" fmla="*/ 600 w 805"/>
                <a:gd name="T7" fmla="*/ 261 h 408"/>
                <a:gd name="T8" fmla="*/ 805 w 805"/>
                <a:gd name="T9" fmla="*/ 0 h 4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5" h="408">
                  <a:moveTo>
                    <a:pt x="0" y="304"/>
                  </a:moveTo>
                  <a:lnTo>
                    <a:pt x="240" y="408"/>
                  </a:lnTo>
                  <a:lnTo>
                    <a:pt x="427" y="306"/>
                  </a:lnTo>
                  <a:lnTo>
                    <a:pt x="600" y="261"/>
                  </a:lnTo>
                  <a:lnTo>
                    <a:pt x="805" y="0"/>
                  </a:lnTo>
                </a:path>
              </a:pathLst>
            </a:custGeom>
            <a:noFill/>
            <a:ln w="38100" cmpd="sng">
              <a:solidFill>
                <a:srgbClr val="FF7C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Freeform 220"/>
            <p:cNvSpPr>
              <a:spLocks/>
            </p:cNvSpPr>
            <p:nvPr/>
          </p:nvSpPr>
          <p:spPr bwMode="auto">
            <a:xfrm>
              <a:off x="2794" y="3437"/>
              <a:ext cx="798" cy="131"/>
            </a:xfrm>
            <a:custGeom>
              <a:avLst/>
              <a:gdLst>
                <a:gd name="T0" fmla="*/ 0 w 798"/>
                <a:gd name="T1" fmla="*/ 35 h 131"/>
                <a:gd name="T2" fmla="*/ 244 w 798"/>
                <a:gd name="T3" fmla="*/ 46 h 131"/>
                <a:gd name="T4" fmla="*/ 433 w 798"/>
                <a:gd name="T5" fmla="*/ 131 h 131"/>
                <a:gd name="T6" fmla="*/ 606 w 798"/>
                <a:gd name="T7" fmla="*/ 48 h 131"/>
                <a:gd name="T8" fmla="*/ 798 w 798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8" h="131">
                  <a:moveTo>
                    <a:pt x="0" y="35"/>
                  </a:moveTo>
                  <a:lnTo>
                    <a:pt x="244" y="46"/>
                  </a:lnTo>
                  <a:lnTo>
                    <a:pt x="433" y="131"/>
                  </a:lnTo>
                  <a:lnTo>
                    <a:pt x="606" y="48"/>
                  </a:lnTo>
                  <a:lnTo>
                    <a:pt x="798" y="0"/>
                  </a:lnTo>
                </a:path>
              </a:pathLst>
            </a:custGeom>
            <a:noFill/>
            <a:ln w="38100" cmpd="sng">
              <a:solidFill>
                <a:srgbClr val="F7FB2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Rectangle 222"/>
            <p:cNvSpPr>
              <a:spLocks noChangeArrowheads="1"/>
            </p:cNvSpPr>
            <p:nvPr/>
          </p:nvSpPr>
          <p:spPr bwMode="auto">
            <a:xfrm>
              <a:off x="3579" y="3214"/>
              <a:ext cx="69" cy="5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12861" name="Rectangle 221"/>
          <p:cNvSpPr>
            <a:spLocks noChangeArrowheads="1"/>
          </p:cNvSpPr>
          <p:nvPr/>
        </p:nvSpPr>
        <p:spPr bwMode="auto">
          <a:xfrm>
            <a:off x="5491163" y="5405438"/>
            <a:ext cx="414337" cy="841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sv-SE"/>
          </a:p>
        </p:txBody>
      </p:sp>
      <p:sp>
        <p:nvSpPr>
          <p:cNvPr id="112794" name="Rectangle 154"/>
          <p:cNvSpPr>
            <a:spLocks noChangeArrowheads="1"/>
          </p:cNvSpPr>
          <p:nvPr/>
        </p:nvSpPr>
        <p:spPr bwMode="auto">
          <a:xfrm>
            <a:off x="5376863" y="1814513"/>
            <a:ext cx="287337" cy="960437"/>
          </a:xfrm>
          <a:prstGeom prst="rect">
            <a:avLst/>
          </a:prstGeom>
          <a:solidFill>
            <a:srgbClr val="0053A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sv-SE"/>
          </a:p>
        </p:txBody>
      </p:sp>
      <p:sp>
        <p:nvSpPr>
          <p:cNvPr id="112872" name="AutoShape 23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79531" y="6257928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619506" y="3572817"/>
            <a:ext cx="1199475" cy="1260465"/>
            <a:chOff x="4619506" y="3572817"/>
            <a:chExt cx="1199475" cy="1260465"/>
          </a:xfrm>
        </p:grpSpPr>
        <p:sp>
          <p:nvSpPr>
            <p:cNvPr id="9" name="TextBox 8"/>
            <p:cNvSpPr txBox="1"/>
            <p:nvPr/>
          </p:nvSpPr>
          <p:spPr>
            <a:xfrm>
              <a:off x="5544344" y="4119463"/>
              <a:ext cx="274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 smtClean="0"/>
                <a:t>D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716016" y="3572817"/>
              <a:ext cx="226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 smtClean="0">
                  <a:solidFill>
                    <a:schemeClr val="bg1"/>
                  </a:solidFill>
                </a:rPr>
                <a:t>A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19506" y="422697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dirty="0" smtClean="0"/>
                <a:t>B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76056" y="4371617"/>
              <a:ext cx="2508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 smtClean="0"/>
                <a:t>G</a:t>
              </a:r>
              <a:endParaRPr lang="en-US" dirty="0"/>
            </a:p>
          </p:txBody>
        </p:sp>
      </p:grpSp>
      <p:sp>
        <p:nvSpPr>
          <p:cNvPr id="8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11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6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11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76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1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21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6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1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8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300"/>
                            </p:stCondLst>
                            <p:childTnLst>
                              <p:par>
                                <p:cTn id="54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5" dur="3000"/>
                                        <p:tgtEl>
                                          <p:spTgt spid="1128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1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3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2" grpId="0" animBg="1" autoUpdateAnimBg="0"/>
      <p:bldP spid="112754" grpId="0" autoUpdateAnimBg="0"/>
      <p:bldP spid="112755" grpId="0" autoUpdateAnimBg="0"/>
      <p:bldP spid="112756" grpId="0" autoUpdateAnimBg="0"/>
      <p:bldP spid="112757" grpId="0" autoUpdateAnimBg="0"/>
      <p:bldP spid="112759" grpId="0" autoUpdateAnimBg="0"/>
      <p:bldP spid="112760" grpId="0" autoUpdateAnimBg="0"/>
      <p:bldP spid="112861" grpId="0" animBg="1"/>
      <p:bldP spid="112794" grpId="0" animBg="1"/>
      <p:bldP spid="112872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3"/>
          <p:cNvGrpSpPr>
            <a:grpSpLocks/>
          </p:cNvGrpSpPr>
          <p:nvPr/>
        </p:nvGrpSpPr>
        <p:grpSpPr bwMode="auto">
          <a:xfrm>
            <a:off x="604838" y="1628775"/>
            <a:ext cx="4814887" cy="4848225"/>
            <a:chOff x="381" y="1026"/>
            <a:chExt cx="4707" cy="2208"/>
          </a:xfrm>
        </p:grpSpPr>
        <p:sp>
          <p:nvSpPr>
            <p:cNvPr id="24604" name="Line 4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4605" name="Line 5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22886" name="AutoShape 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78738" y="6237312"/>
            <a:ext cx="1008062" cy="360363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24580" name="Rectangle 8"/>
          <p:cNvSpPr>
            <a:spLocks noChangeArrowheads="1"/>
          </p:cNvSpPr>
          <p:nvPr/>
        </p:nvSpPr>
        <p:spPr bwMode="auto">
          <a:xfrm>
            <a:off x="1884504" y="431800"/>
            <a:ext cx="5191125" cy="381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CHAPTER 5</a:t>
            </a:r>
          </a:p>
        </p:txBody>
      </p:sp>
      <p:sp>
        <p:nvSpPr>
          <p:cNvPr id="24581" name="Rectangle 10"/>
          <p:cNvSpPr>
            <a:spLocks noChangeArrowheads="1"/>
          </p:cNvSpPr>
          <p:nvPr/>
        </p:nvSpPr>
        <p:spPr bwMode="auto">
          <a:xfrm>
            <a:off x="568236" y="1609055"/>
            <a:ext cx="66103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rgbClr val="00AEC6"/>
                </a:solidFill>
              </a:rPr>
              <a:t>Prepare for the real thing</a:t>
            </a:r>
            <a:endParaRPr lang="en-GB" sz="2000" i="1" dirty="0">
              <a:solidFill>
                <a:srgbClr val="00AEC6"/>
              </a:solidFill>
            </a:endParaRPr>
          </a:p>
        </p:txBody>
      </p:sp>
      <p:sp>
        <p:nvSpPr>
          <p:cNvPr id="122892" name="Rectangle 12"/>
          <p:cNvSpPr>
            <a:spLocks noChangeArrowheads="1"/>
          </p:cNvSpPr>
          <p:nvPr/>
        </p:nvSpPr>
        <p:spPr bwMode="auto">
          <a:xfrm>
            <a:off x="652463" y="2132856"/>
            <a:ext cx="4348162" cy="657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1500" b="1" dirty="0">
                <a:solidFill>
                  <a:srgbClr val="00AEC6"/>
                </a:solidFill>
              </a:rPr>
              <a:t>In this last chapter</a:t>
            </a:r>
            <a:r>
              <a:rPr lang="en-GB" sz="1500" dirty="0">
                <a:solidFill>
                  <a:srgbClr val="00AEC6"/>
                </a:solidFill>
              </a:rPr>
              <a:t>…</a:t>
            </a:r>
            <a:endParaRPr lang="en-GB" sz="11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1100" dirty="0"/>
              <a:t>… we will wrap up this short presentation by letting you ponder the two questions at the right.</a:t>
            </a:r>
          </a:p>
        </p:txBody>
      </p:sp>
      <p:pic>
        <p:nvPicPr>
          <p:cNvPr id="24583" name="Picture 21" descr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9" t="464" r="1178" b="77229"/>
          <a:stretch>
            <a:fillRect/>
          </a:stretch>
        </p:blipFill>
        <p:spPr bwMode="auto">
          <a:xfrm>
            <a:off x="0" y="0"/>
            <a:ext cx="1806575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29" name="Group 49"/>
          <p:cNvGrpSpPr>
            <a:grpSpLocks/>
          </p:cNvGrpSpPr>
          <p:nvPr/>
        </p:nvGrpSpPr>
        <p:grpSpPr bwMode="auto">
          <a:xfrm>
            <a:off x="5816600" y="2254250"/>
            <a:ext cx="2870200" cy="3613150"/>
            <a:chOff x="3664" y="1248"/>
            <a:chExt cx="1808" cy="2276"/>
          </a:xfrm>
        </p:grpSpPr>
        <p:sp>
          <p:nvSpPr>
            <p:cNvPr id="24585" name="Rectangle 19"/>
            <p:cNvSpPr>
              <a:spLocks noChangeArrowheads="1"/>
            </p:cNvSpPr>
            <p:nvPr/>
          </p:nvSpPr>
          <p:spPr bwMode="auto">
            <a:xfrm>
              <a:off x="3664" y="1392"/>
              <a:ext cx="708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300" dirty="0"/>
                <a:t>What role do you want to have in your team?</a:t>
              </a:r>
            </a:p>
          </p:txBody>
        </p:sp>
        <p:sp>
          <p:nvSpPr>
            <p:cNvPr id="24586" name="Rectangle 20"/>
            <p:cNvSpPr>
              <a:spLocks noChangeArrowheads="1"/>
            </p:cNvSpPr>
            <p:nvPr/>
          </p:nvSpPr>
          <p:spPr bwMode="auto">
            <a:xfrm>
              <a:off x="3664" y="2513"/>
              <a:ext cx="752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300" dirty="0"/>
                <a:t>What strategy would you argue for?</a:t>
              </a:r>
            </a:p>
          </p:txBody>
        </p:sp>
        <p:grpSp>
          <p:nvGrpSpPr>
            <p:cNvPr id="24587" name="Group 23"/>
            <p:cNvGrpSpPr>
              <a:grpSpLocks/>
            </p:cNvGrpSpPr>
            <p:nvPr/>
          </p:nvGrpSpPr>
          <p:grpSpPr bwMode="auto">
            <a:xfrm>
              <a:off x="4448" y="1248"/>
              <a:ext cx="976" cy="964"/>
              <a:chOff x="2640" y="937"/>
              <a:chExt cx="2112" cy="2087"/>
            </a:xfrm>
          </p:grpSpPr>
          <p:sp>
            <p:nvSpPr>
              <p:cNvPr id="24598" name="Rectangle 24"/>
              <p:cNvSpPr>
                <a:spLocks noChangeArrowheads="1"/>
              </p:cNvSpPr>
              <p:nvPr/>
            </p:nvSpPr>
            <p:spPr bwMode="auto">
              <a:xfrm>
                <a:off x="2640" y="1318"/>
                <a:ext cx="2112" cy="1244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pic>
            <p:nvPicPr>
              <p:cNvPr id="24599" name="Picture 25" descr="ENT Board Populated LR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408" t="14064" r="12827" b="14233"/>
              <a:stretch>
                <a:fillRect/>
              </a:stretch>
            </p:blipFill>
            <p:spPr bwMode="auto">
              <a:xfrm>
                <a:off x="2832" y="1435"/>
                <a:ext cx="1723" cy="1031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600" name="Picture 26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593" b="79311"/>
              <a:stretch>
                <a:fillRect/>
              </a:stretch>
            </p:blipFill>
            <p:spPr bwMode="auto">
              <a:xfrm rot="10800000">
                <a:off x="2880" y="2172"/>
                <a:ext cx="724" cy="7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01" name="Picture 27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593" t="48303" b="34052"/>
              <a:stretch>
                <a:fillRect/>
              </a:stretch>
            </p:blipFill>
            <p:spPr bwMode="auto">
              <a:xfrm>
                <a:off x="3840" y="937"/>
                <a:ext cx="723" cy="6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02" name="Picture 28"/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045" t="19058" r="60425" b="7841"/>
              <a:stretch>
                <a:fillRect/>
              </a:stretch>
            </p:blipFill>
            <p:spPr bwMode="auto">
              <a:xfrm flipH="1">
                <a:off x="3984" y="2309"/>
                <a:ext cx="588" cy="7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03" name="Picture 29"/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950" t="18196" r="3319" b="16576"/>
              <a:stretch>
                <a:fillRect/>
              </a:stretch>
            </p:blipFill>
            <p:spPr bwMode="auto">
              <a:xfrm rot="10800000">
                <a:off x="2854" y="938"/>
                <a:ext cx="746" cy="6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4588" name="Group 35"/>
            <p:cNvGrpSpPr>
              <a:grpSpLocks/>
            </p:cNvGrpSpPr>
            <p:nvPr/>
          </p:nvGrpSpPr>
          <p:grpSpPr bwMode="auto">
            <a:xfrm>
              <a:off x="4440" y="2496"/>
              <a:ext cx="1032" cy="1028"/>
              <a:chOff x="3106" y="1559"/>
              <a:chExt cx="2174" cy="2164"/>
            </a:xfrm>
          </p:grpSpPr>
          <p:sp>
            <p:nvSpPr>
              <p:cNvPr id="24589" name="Rectangle 36"/>
              <p:cNvSpPr>
                <a:spLocks noChangeArrowheads="1"/>
              </p:cNvSpPr>
              <p:nvPr/>
            </p:nvSpPr>
            <p:spPr bwMode="auto">
              <a:xfrm>
                <a:off x="3106" y="1559"/>
                <a:ext cx="2174" cy="2164"/>
              </a:xfrm>
              <a:prstGeom prst="rect">
                <a:avLst/>
              </a:prstGeom>
              <a:solidFill>
                <a:srgbClr val="0068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grpSp>
            <p:nvGrpSpPr>
              <p:cNvPr id="24590" name="Group 37"/>
              <p:cNvGrpSpPr>
                <a:grpSpLocks/>
              </p:cNvGrpSpPr>
              <p:nvPr/>
            </p:nvGrpSpPr>
            <p:grpSpPr bwMode="auto">
              <a:xfrm>
                <a:off x="3359" y="1749"/>
                <a:ext cx="1873" cy="1772"/>
                <a:chOff x="2703" y="981"/>
                <a:chExt cx="2445" cy="2313"/>
              </a:xfrm>
            </p:grpSpPr>
            <p:sp>
              <p:nvSpPr>
                <p:cNvPr id="24593" name="Oval 38"/>
                <p:cNvSpPr>
                  <a:spLocks noChangeArrowheads="1"/>
                </p:cNvSpPr>
                <p:nvPr/>
              </p:nvSpPr>
              <p:spPr bwMode="auto">
                <a:xfrm>
                  <a:off x="2703" y="981"/>
                  <a:ext cx="1175" cy="1254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sz="1400" dirty="0">
                      <a:solidFill>
                        <a:schemeClr val="bg1"/>
                      </a:solidFill>
                      <a:cs typeface="Arial" pitchFamily="34" charset="0"/>
                    </a:rPr>
                    <a:t>S</a:t>
                  </a:r>
                  <a:endParaRPr lang="en-US" sz="1400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4594" name="Oval 39"/>
                <p:cNvSpPr>
                  <a:spLocks noChangeArrowheads="1"/>
                </p:cNvSpPr>
                <p:nvPr/>
              </p:nvSpPr>
              <p:spPr bwMode="auto">
                <a:xfrm>
                  <a:off x="2884" y="2040"/>
                  <a:ext cx="1089" cy="1254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sz="1400" dirty="0">
                      <a:solidFill>
                        <a:schemeClr val="bg1"/>
                      </a:solidFill>
                      <a:cs typeface="Arial" pitchFamily="34" charset="0"/>
                    </a:rPr>
                    <a:t>T</a:t>
                  </a:r>
                  <a:endParaRPr lang="en-US" sz="1400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4595" name="Oval 40"/>
                <p:cNvSpPr>
                  <a:spLocks noChangeArrowheads="1"/>
                </p:cNvSpPr>
                <p:nvPr/>
              </p:nvSpPr>
              <p:spPr bwMode="auto">
                <a:xfrm>
                  <a:off x="3852" y="2341"/>
                  <a:ext cx="1296" cy="87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sz="1400" dirty="0">
                      <a:solidFill>
                        <a:schemeClr val="bg1"/>
                      </a:solidFill>
                      <a:cs typeface="Arial" pitchFamily="34" charset="0"/>
                    </a:rPr>
                    <a:t>A</a:t>
                  </a:r>
                  <a:endParaRPr lang="en-US" sz="1400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4596" name="Oval 41"/>
                <p:cNvSpPr>
                  <a:spLocks noChangeArrowheads="1"/>
                </p:cNvSpPr>
                <p:nvPr/>
              </p:nvSpPr>
              <p:spPr bwMode="auto">
                <a:xfrm>
                  <a:off x="3728" y="1409"/>
                  <a:ext cx="921" cy="1157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sz="1400" dirty="0">
                      <a:solidFill>
                        <a:schemeClr val="bg1"/>
                      </a:solidFill>
                      <a:cs typeface="Arial" pitchFamily="34" charset="0"/>
                    </a:rPr>
                    <a:t>M</a:t>
                  </a:r>
                  <a:endParaRPr lang="en-US" sz="1400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4597" name="Oval 42"/>
                <p:cNvSpPr>
                  <a:spLocks noChangeArrowheads="1"/>
                </p:cNvSpPr>
                <p:nvPr/>
              </p:nvSpPr>
              <p:spPr bwMode="auto">
                <a:xfrm>
                  <a:off x="3878" y="981"/>
                  <a:ext cx="1160" cy="832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sz="1400" dirty="0">
                      <a:solidFill>
                        <a:schemeClr val="bg1"/>
                      </a:solidFill>
                      <a:cs typeface="Arial" pitchFamily="34" charset="0"/>
                    </a:rPr>
                    <a:t>P</a:t>
                  </a:r>
                  <a:endParaRPr lang="en-US" sz="1400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24591" name="Line 43"/>
              <p:cNvSpPr>
                <a:spLocks noChangeShapeType="1"/>
              </p:cNvSpPr>
              <p:nvPr/>
            </p:nvSpPr>
            <p:spPr bwMode="auto">
              <a:xfrm>
                <a:off x="3142" y="2649"/>
                <a:ext cx="2100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alpha val="75000"/>
                  </a:schemeClr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2" name="Line 44"/>
              <p:cNvSpPr>
                <a:spLocks noChangeShapeType="1"/>
              </p:cNvSpPr>
              <p:nvPr/>
            </p:nvSpPr>
            <p:spPr bwMode="auto">
              <a:xfrm rot="-5400000">
                <a:off x="3142" y="2649"/>
                <a:ext cx="2100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alpha val="75000"/>
                  </a:schemeClr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cxnSp>
        <p:nvCxnSpPr>
          <p:cNvPr id="3" name="Straight Connector 2"/>
          <p:cNvCxnSpPr/>
          <p:nvPr/>
        </p:nvCxnSpPr>
        <p:spPr bwMode="auto">
          <a:xfrm>
            <a:off x="0" y="1244600"/>
            <a:ext cx="910850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AEC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nimBg="1"/>
      <p:bldP spid="12289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08" name="Group 24"/>
          <p:cNvGrpSpPr>
            <a:grpSpLocks/>
          </p:cNvGrpSpPr>
          <p:nvPr/>
        </p:nvGrpSpPr>
        <p:grpSpPr bwMode="auto">
          <a:xfrm>
            <a:off x="3987800" y="1103313"/>
            <a:ext cx="2157413" cy="917575"/>
            <a:chOff x="454" y="722"/>
            <a:chExt cx="1753" cy="578"/>
          </a:xfrm>
        </p:grpSpPr>
        <p:sp>
          <p:nvSpPr>
            <p:cNvPr id="25634" name="Rectangle 3"/>
            <p:cNvSpPr>
              <a:spLocks noChangeArrowheads="1"/>
            </p:cNvSpPr>
            <p:nvPr/>
          </p:nvSpPr>
          <p:spPr bwMode="auto">
            <a:xfrm>
              <a:off x="454" y="722"/>
              <a:ext cx="1753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200" b="1" dirty="0">
                  <a:solidFill>
                    <a:srgbClr val="00B0F0"/>
                  </a:solidFill>
                </a:rPr>
                <a:t>Planning &amp; Delivery</a:t>
              </a:r>
            </a:p>
          </p:txBody>
        </p:sp>
        <p:sp>
          <p:nvSpPr>
            <p:cNvPr id="25635" name="Rectangle 4"/>
            <p:cNvSpPr>
              <a:spLocks noChangeArrowheads="1"/>
            </p:cNvSpPr>
            <p:nvPr/>
          </p:nvSpPr>
          <p:spPr bwMode="auto">
            <a:xfrm>
              <a:off x="454" y="876"/>
              <a:ext cx="1753" cy="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174625" indent="-174625">
                <a:buFontTx/>
                <a:buChar char="•"/>
              </a:pPr>
              <a:r>
                <a:rPr lang="en-GB" sz="1100" dirty="0"/>
                <a:t>Manage all customer deliveries</a:t>
              </a:r>
            </a:p>
            <a:p>
              <a:pPr marL="174625" indent="-174625">
                <a:buFontTx/>
                <a:buChar char="•"/>
              </a:pPr>
              <a:r>
                <a:rPr lang="en-GB" sz="1100" dirty="0"/>
                <a:t>Hire staff and contractors</a:t>
              </a:r>
            </a:p>
            <a:p>
              <a:pPr marL="174625" indent="-174625">
                <a:buFontTx/>
                <a:buChar char="•"/>
              </a:pPr>
              <a:r>
                <a:rPr lang="en-GB" sz="1100" dirty="0"/>
                <a:t>Coordinate Business plan</a:t>
              </a:r>
            </a:p>
            <a:p>
              <a:pPr marL="174625" indent="-174625"/>
              <a:endParaRPr lang="en-GB" sz="1100" dirty="0"/>
            </a:p>
          </p:txBody>
        </p:sp>
      </p:grpSp>
      <p:grpSp>
        <p:nvGrpSpPr>
          <p:cNvPr id="118807" name="Group 23"/>
          <p:cNvGrpSpPr>
            <a:grpSpLocks/>
          </p:cNvGrpSpPr>
          <p:nvPr/>
        </p:nvGrpSpPr>
        <p:grpSpPr bwMode="auto">
          <a:xfrm>
            <a:off x="3987800" y="5445224"/>
            <a:ext cx="2174875" cy="749300"/>
            <a:chOff x="454" y="3158"/>
            <a:chExt cx="1753" cy="472"/>
          </a:xfrm>
        </p:grpSpPr>
        <p:sp>
          <p:nvSpPr>
            <p:cNvPr id="25632" name="Rectangle 6"/>
            <p:cNvSpPr>
              <a:spLocks noChangeArrowheads="1"/>
            </p:cNvSpPr>
            <p:nvPr/>
          </p:nvSpPr>
          <p:spPr bwMode="auto">
            <a:xfrm>
              <a:off x="454" y="3158"/>
              <a:ext cx="1753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200" b="1" dirty="0">
                  <a:solidFill>
                    <a:srgbClr val="FFC000"/>
                  </a:solidFill>
                </a:rPr>
                <a:t>Development &amp; Offers</a:t>
              </a:r>
            </a:p>
          </p:txBody>
        </p:sp>
        <p:sp>
          <p:nvSpPr>
            <p:cNvPr id="25633" name="Rectangle 7"/>
            <p:cNvSpPr>
              <a:spLocks noChangeArrowheads="1"/>
            </p:cNvSpPr>
            <p:nvPr/>
          </p:nvSpPr>
          <p:spPr bwMode="auto">
            <a:xfrm>
              <a:off x="454" y="3312"/>
              <a:ext cx="1753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192088" indent="-192088">
                <a:buFontTx/>
                <a:buChar char="•"/>
              </a:pPr>
              <a:r>
                <a:rPr lang="en-GB" sz="1100" dirty="0"/>
                <a:t>Manage solutions portfolio</a:t>
              </a:r>
            </a:p>
            <a:p>
              <a:pPr marL="192088" indent="-192088">
                <a:buFontTx/>
                <a:buChar char="•"/>
              </a:pPr>
              <a:r>
                <a:rPr lang="en-GB" sz="1100" dirty="0"/>
                <a:t>Develop people and processes</a:t>
              </a:r>
            </a:p>
            <a:p>
              <a:pPr marL="192088" indent="-192088">
                <a:buFontTx/>
                <a:buChar char="•"/>
              </a:pPr>
              <a:r>
                <a:rPr lang="en-GB" sz="1100" dirty="0"/>
                <a:t>Corporate intelligence</a:t>
              </a:r>
            </a:p>
          </p:txBody>
        </p:sp>
      </p:grpSp>
      <p:grpSp>
        <p:nvGrpSpPr>
          <p:cNvPr id="118806" name="Group 22"/>
          <p:cNvGrpSpPr>
            <a:grpSpLocks/>
          </p:cNvGrpSpPr>
          <p:nvPr/>
        </p:nvGrpSpPr>
        <p:grpSpPr bwMode="auto">
          <a:xfrm>
            <a:off x="6502400" y="1103313"/>
            <a:ext cx="2606675" cy="930274"/>
            <a:chOff x="3648" y="722"/>
            <a:chExt cx="1889" cy="586"/>
          </a:xfrm>
        </p:grpSpPr>
        <p:sp>
          <p:nvSpPr>
            <p:cNvPr id="25630" name="Rectangle 9"/>
            <p:cNvSpPr>
              <a:spLocks noChangeArrowheads="1"/>
            </p:cNvSpPr>
            <p:nvPr/>
          </p:nvSpPr>
          <p:spPr bwMode="auto">
            <a:xfrm>
              <a:off x="3648" y="722"/>
              <a:ext cx="174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200" b="1" dirty="0">
                  <a:solidFill>
                    <a:srgbClr val="00B050"/>
                  </a:solidFill>
                </a:rPr>
                <a:t>Marketing &amp; Sales</a:t>
              </a:r>
            </a:p>
          </p:txBody>
        </p:sp>
        <p:sp>
          <p:nvSpPr>
            <p:cNvPr id="25631" name="Rectangle 10"/>
            <p:cNvSpPr>
              <a:spLocks noChangeArrowheads="1"/>
            </p:cNvSpPr>
            <p:nvPr/>
          </p:nvSpPr>
          <p:spPr bwMode="auto">
            <a:xfrm>
              <a:off x="3648" y="881"/>
              <a:ext cx="1889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174625" indent="-174625">
                <a:buFontTx/>
                <a:buChar char="•"/>
              </a:pPr>
              <a:r>
                <a:rPr lang="en-GB" sz="1100" dirty="0"/>
                <a:t>Represent </a:t>
              </a:r>
              <a:r>
                <a:rPr lang="en-GB" sz="1100" dirty="0" smtClean="0"/>
                <a:t>the company </a:t>
              </a:r>
              <a:r>
                <a:rPr lang="en-GB" sz="1100" dirty="0"/>
                <a:t>at </a:t>
              </a:r>
              <a:r>
                <a:rPr lang="en-GB" sz="1100" dirty="0" smtClean="0"/>
                <a:t>the marketplace</a:t>
              </a:r>
              <a:endParaRPr lang="en-GB" sz="1100" dirty="0"/>
            </a:p>
            <a:p>
              <a:pPr marL="174625" indent="-174625">
                <a:buFontTx/>
                <a:buChar char="•"/>
              </a:pPr>
              <a:r>
                <a:rPr lang="en-GB" sz="1100" dirty="0"/>
                <a:t>Track Brand value</a:t>
              </a:r>
            </a:p>
            <a:p>
              <a:pPr marL="174625" indent="-174625">
                <a:buFontTx/>
                <a:buChar char="•"/>
              </a:pPr>
              <a:r>
                <a:rPr lang="en-GB" sz="1100" dirty="0"/>
                <a:t>Promotion and proposals</a:t>
              </a:r>
            </a:p>
          </p:txBody>
        </p:sp>
      </p:grpSp>
      <p:grpSp>
        <p:nvGrpSpPr>
          <p:cNvPr id="118805" name="Group 21"/>
          <p:cNvGrpSpPr>
            <a:grpSpLocks/>
          </p:cNvGrpSpPr>
          <p:nvPr/>
        </p:nvGrpSpPr>
        <p:grpSpPr bwMode="auto">
          <a:xfrm>
            <a:off x="6502400" y="5445224"/>
            <a:ext cx="2590800" cy="757237"/>
            <a:chOff x="3648" y="3158"/>
            <a:chExt cx="2024" cy="477"/>
          </a:xfrm>
        </p:grpSpPr>
        <p:sp>
          <p:nvSpPr>
            <p:cNvPr id="25628" name="Rectangle 12"/>
            <p:cNvSpPr>
              <a:spLocks noChangeArrowheads="1"/>
            </p:cNvSpPr>
            <p:nvPr/>
          </p:nvSpPr>
          <p:spPr bwMode="auto">
            <a:xfrm>
              <a:off x="3648" y="3158"/>
              <a:ext cx="1865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GB" sz="1200" b="1" dirty="0">
                  <a:solidFill>
                    <a:srgbClr val="D60093"/>
                  </a:solidFill>
                </a:rPr>
                <a:t>Finance &amp; Control</a:t>
              </a:r>
            </a:p>
          </p:txBody>
        </p:sp>
        <p:sp>
          <p:nvSpPr>
            <p:cNvPr id="25629" name="Rectangle 13"/>
            <p:cNvSpPr>
              <a:spLocks noChangeArrowheads="1"/>
            </p:cNvSpPr>
            <p:nvPr/>
          </p:nvSpPr>
          <p:spPr bwMode="auto">
            <a:xfrm>
              <a:off x="3648" y="3317"/>
              <a:ext cx="2024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174625" indent="-174625">
                <a:buFontTx/>
                <a:buChar char="•"/>
              </a:pPr>
              <a:r>
                <a:rPr lang="en-GB" sz="1100" dirty="0"/>
                <a:t>Control operations </a:t>
              </a:r>
            </a:p>
            <a:p>
              <a:pPr marL="174625" indent="-174625">
                <a:buFontTx/>
                <a:buChar char="•"/>
              </a:pPr>
              <a:r>
                <a:rPr lang="en-GB" sz="1100" dirty="0"/>
                <a:t>Manage cash, audits, P&amp;L</a:t>
              </a:r>
            </a:p>
            <a:p>
              <a:pPr marL="174625" indent="-174625">
                <a:buFontTx/>
                <a:buChar char="•"/>
              </a:pPr>
              <a:r>
                <a:rPr lang="en-GB" sz="1100" dirty="0"/>
                <a:t>Handle deals with parent company</a:t>
              </a:r>
            </a:p>
          </p:txBody>
        </p:sp>
      </p:grpSp>
      <p:sp>
        <p:nvSpPr>
          <p:cNvPr id="25606" name="Rectangle 26"/>
          <p:cNvSpPr>
            <a:spLocks noChangeArrowheads="1"/>
          </p:cNvSpPr>
          <p:nvPr/>
        </p:nvSpPr>
        <p:spPr bwMode="auto">
          <a:xfrm>
            <a:off x="609600" y="1109679"/>
            <a:ext cx="2971800" cy="369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rgbClr val="00AEC6"/>
                </a:solidFill>
              </a:rPr>
              <a:t>1. Which role do you want to have in your management team?</a:t>
            </a:r>
            <a:endParaRPr lang="en-GB" sz="1200" dirty="0">
              <a:solidFill>
                <a:srgbClr val="00AEC6"/>
              </a:solidFill>
            </a:endParaRPr>
          </a:p>
        </p:txBody>
      </p:sp>
      <p:grpSp>
        <p:nvGrpSpPr>
          <p:cNvPr id="25607" name="Group 27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25626" name="Line 28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7" name="Line 29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5608" name="Rectangle 30"/>
          <p:cNvSpPr>
            <a:spLocks noChangeArrowheads="1"/>
          </p:cNvSpPr>
          <p:nvPr/>
        </p:nvSpPr>
        <p:spPr bwMode="auto">
          <a:xfrm>
            <a:off x="604838" y="304800"/>
            <a:ext cx="2976562" cy="381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5. Prepare for the real thing</a:t>
            </a:r>
          </a:p>
        </p:txBody>
      </p:sp>
      <p:sp>
        <p:nvSpPr>
          <p:cNvPr id="118815" name="AutoShape 31"/>
          <p:cNvSpPr>
            <a:spLocks noChangeArrowheads="1"/>
          </p:cNvSpPr>
          <p:nvPr/>
        </p:nvSpPr>
        <p:spPr bwMode="auto">
          <a:xfrm>
            <a:off x="609600" y="2333560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118816" name="Rectangle 32"/>
          <p:cNvSpPr>
            <a:spLocks noChangeArrowheads="1"/>
          </p:cNvSpPr>
          <p:nvPr/>
        </p:nvSpPr>
        <p:spPr bwMode="auto">
          <a:xfrm>
            <a:off x="609600" y="182880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This is the simulation board, with the </a:t>
            </a:r>
            <a:r>
              <a:rPr lang="en-GB" sz="1100" b="1" dirty="0"/>
              <a:t>main areas</a:t>
            </a:r>
            <a:r>
              <a:rPr lang="en-GB" sz="1100" dirty="0"/>
              <a:t> in different colours.</a:t>
            </a:r>
            <a:endParaRPr lang="en-GB" sz="1100" i="1" dirty="0"/>
          </a:p>
        </p:txBody>
      </p:sp>
      <p:sp>
        <p:nvSpPr>
          <p:cNvPr id="118817" name="AutoShape 3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83206" y="6296819"/>
            <a:ext cx="1008063" cy="360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grpSp>
        <p:nvGrpSpPr>
          <p:cNvPr id="25615" name="Group 25"/>
          <p:cNvGrpSpPr>
            <a:grpSpLocks/>
          </p:cNvGrpSpPr>
          <p:nvPr/>
        </p:nvGrpSpPr>
        <p:grpSpPr bwMode="auto">
          <a:xfrm>
            <a:off x="4445000" y="2060848"/>
            <a:ext cx="3352800" cy="3313112"/>
            <a:chOff x="2640" y="937"/>
            <a:chExt cx="2112" cy="2087"/>
          </a:xfrm>
        </p:grpSpPr>
        <p:sp>
          <p:nvSpPr>
            <p:cNvPr id="25620" name="Rectangle 20"/>
            <p:cNvSpPr>
              <a:spLocks noChangeArrowheads="1"/>
            </p:cNvSpPr>
            <p:nvPr/>
          </p:nvSpPr>
          <p:spPr bwMode="auto">
            <a:xfrm>
              <a:off x="2640" y="1318"/>
              <a:ext cx="2112" cy="124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sv-SE"/>
            </a:p>
          </p:txBody>
        </p:sp>
        <p:pic>
          <p:nvPicPr>
            <p:cNvPr id="25621" name="Picture 14" descr="ENT Board Populated L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08" t="14064" r="12827" b="14233"/>
            <a:stretch>
              <a:fillRect/>
            </a:stretch>
          </p:blipFill>
          <p:spPr bwMode="auto">
            <a:xfrm>
              <a:off x="2832" y="1435"/>
              <a:ext cx="1723" cy="1031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622" name="Picture 1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93" b="79311"/>
            <a:stretch>
              <a:fillRect/>
            </a:stretch>
          </p:blipFill>
          <p:spPr bwMode="auto">
            <a:xfrm rot="10800000">
              <a:off x="2880" y="2172"/>
              <a:ext cx="724" cy="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3" name="Picture 16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93" t="48303" b="34052"/>
            <a:stretch>
              <a:fillRect/>
            </a:stretch>
          </p:blipFill>
          <p:spPr bwMode="auto">
            <a:xfrm>
              <a:off x="3840" y="937"/>
              <a:ext cx="723" cy="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4" name="Picture 17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45" t="19058" r="60425" b="7841"/>
            <a:stretch>
              <a:fillRect/>
            </a:stretch>
          </p:blipFill>
          <p:spPr bwMode="auto">
            <a:xfrm flipH="1">
              <a:off x="3984" y="2309"/>
              <a:ext cx="588" cy="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5" name="Picture 18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950" t="18196" r="3319" b="16576"/>
            <a:stretch>
              <a:fillRect/>
            </a:stretch>
          </p:blipFill>
          <p:spPr bwMode="auto">
            <a:xfrm rot="10800000">
              <a:off x="2854" y="938"/>
              <a:ext cx="746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8824" name="Rectangle 40"/>
          <p:cNvSpPr>
            <a:spLocks noChangeArrowheads="1"/>
          </p:cNvSpPr>
          <p:nvPr/>
        </p:nvSpPr>
        <p:spPr bwMode="auto">
          <a:xfrm>
            <a:off x="604838" y="234888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These are the team members’ </a:t>
            </a:r>
            <a:r>
              <a:rPr lang="en-GB" sz="1100" b="1" dirty="0"/>
              <a:t>roles and responsibilities.</a:t>
            </a:r>
            <a:endParaRPr lang="en-GB" sz="1100" b="1" i="1" dirty="0"/>
          </a:p>
        </p:txBody>
      </p:sp>
      <p:sp>
        <p:nvSpPr>
          <p:cNvPr id="118825" name="Rectangle 41"/>
          <p:cNvSpPr>
            <a:spLocks noChangeArrowheads="1"/>
          </p:cNvSpPr>
          <p:nvPr/>
        </p:nvSpPr>
        <p:spPr bwMode="auto">
          <a:xfrm>
            <a:off x="609600" y="2832100"/>
            <a:ext cx="2971800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Which role do you want to have?</a:t>
            </a:r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One in which you are most comfortable?</a:t>
            </a:r>
          </a:p>
          <a:p>
            <a:pPr marL="163513" lvl="1" indent="-161925">
              <a:spcAft>
                <a:spcPts val="600"/>
              </a:spcAft>
            </a:pPr>
            <a:r>
              <a:rPr lang="en-GB" sz="1100" i="1" dirty="0"/>
              <a:t>	or</a:t>
            </a:r>
            <a:endParaRPr lang="en-GB" sz="1100" dirty="0"/>
          </a:p>
          <a:p>
            <a:pPr marL="163513" lvl="1" indent="-161925">
              <a:spcAft>
                <a:spcPts val="600"/>
              </a:spcAft>
              <a:buFontTx/>
              <a:buChar char="•"/>
            </a:pPr>
            <a:r>
              <a:rPr lang="en-GB" sz="1100" dirty="0"/>
              <a:t>One in which you have the </a:t>
            </a:r>
            <a:r>
              <a:rPr lang="en-GB" sz="1100" b="1" dirty="0"/>
              <a:t>most to learn</a:t>
            </a:r>
            <a:r>
              <a:rPr lang="en-GB" sz="1100" dirty="0"/>
              <a:t>?</a:t>
            </a:r>
          </a:p>
        </p:txBody>
      </p:sp>
      <p:sp>
        <p:nvSpPr>
          <p:cNvPr id="31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1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1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5" grpId="0" animBg="1"/>
      <p:bldP spid="118816" grpId="0"/>
      <p:bldP spid="118817" grpId="0" animBg="1"/>
      <p:bldP spid="118824" grpId="0"/>
      <p:bldP spid="1188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4"/>
          <p:cNvSpPr>
            <a:spLocks noChangeArrowheads="1"/>
          </p:cNvSpPr>
          <p:nvPr/>
        </p:nvSpPr>
        <p:spPr bwMode="auto">
          <a:xfrm>
            <a:off x="609600" y="1160463"/>
            <a:ext cx="2971800" cy="369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b="1" dirty="0">
                <a:solidFill>
                  <a:srgbClr val="00AEC6"/>
                </a:solidFill>
              </a:rPr>
              <a:t>2. Which strategy would you primarily argue for?</a:t>
            </a:r>
            <a:endParaRPr lang="en-GB" sz="1200" dirty="0">
              <a:solidFill>
                <a:srgbClr val="00AEC6"/>
              </a:solidFill>
            </a:endParaRPr>
          </a:p>
        </p:txBody>
      </p:sp>
      <p:grpSp>
        <p:nvGrpSpPr>
          <p:cNvPr id="26627" name="Group 15"/>
          <p:cNvGrpSpPr>
            <a:grpSpLocks/>
          </p:cNvGrpSpPr>
          <p:nvPr/>
        </p:nvGrpSpPr>
        <p:grpSpPr bwMode="auto">
          <a:xfrm>
            <a:off x="604838" y="1628775"/>
            <a:ext cx="2900362" cy="4848225"/>
            <a:chOff x="381" y="1026"/>
            <a:chExt cx="4707" cy="2208"/>
          </a:xfrm>
        </p:grpSpPr>
        <p:sp>
          <p:nvSpPr>
            <p:cNvPr id="26656" name="Line 16"/>
            <p:cNvSpPr>
              <a:spLocks noChangeShapeType="1"/>
            </p:cNvSpPr>
            <p:nvPr/>
          </p:nvSpPr>
          <p:spPr bwMode="auto">
            <a:xfrm>
              <a:off x="381" y="1026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57" name="Line 17"/>
            <p:cNvSpPr>
              <a:spLocks noChangeShapeType="1"/>
            </p:cNvSpPr>
            <p:nvPr/>
          </p:nvSpPr>
          <p:spPr bwMode="auto">
            <a:xfrm>
              <a:off x="381" y="3234"/>
              <a:ext cx="470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6628" name="Rectangle 18"/>
          <p:cNvSpPr>
            <a:spLocks noChangeArrowheads="1"/>
          </p:cNvSpPr>
          <p:nvPr/>
        </p:nvSpPr>
        <p:spPr bwMode="auto">
          <a:xfrm>
            <a:off x="604838" y="304800"/>
            <a:ext cx="2976562" cy="381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/>
          <a:p>
            <a:pPr>
              <a:spcAft>
                <a:spcPts val="600"/>
              </a:spcAft>
            </a:pPr>
            <a:r>
              <a:rPr lang="en-GB" sz="1900" dirty="0">
                <a:solidFill>
                  <a:srgbClr val="00AEC6"/>
                </a:solidFill>
              </a:rPr>
              <a:t>5. Prepare for the real thing</a:t>
            </a:r>
          </a:p>
        </p:txBody>
      </p:sp>
      <p:sp>
        <p:nvSpPr>
          <p:cNvPr id="124947" name="AutoShape 19"/>
          <p:cNvSpPr>
            <a:spLocks noChangeArrowheads="1"/>
          </p:cNvSpPr>
          <p:nvPr/>
        </p:nvSpPr>
        <p:spPr bwMode="auto">
          <a:xfrm>
            <a:off x="609600" y="2494226"/>
            <a:ext cx="720000" cy="180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000" b="1" i="1" dirty="0" smtClean="0">
                <a:solidFill>
                  <a:srgbClr val="00AEC6"/>
                </a:solidFill>
              </a:rPr>
              <a:t>Continue</a:t>
            </a:r>
            <a:endParaRPr lang="en-US" sz="1000" b="1" i="1" dirty="0">
              <a:solidFill>
                <a:srgbClr val="00AEC6"/>
              </a:solidFill>
            </a:endParaRPr>
          </a:p>
        </p:txBody>
      </p:sp>
      <p:sp>
        <p:nvSpPr>
          <p:cNvPr id="124948" name="Rectangle 20"/>
          <p:cNvSpPr>
            <a:spLocks noChangeArrowheads="1"/>
          </p:cNvSpPr>
          <p:nvPr/>
        </p:nvSpPr>
        <p:spPr bwMode="auto">
          <a:xfrm>
            <a:off x="609600" y="1828800"/>
            <a:ext cx="2971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This is the five </a:t>
            </a:r>
            <a:r>
              <a:rPr lang="en-GB" sz="1100" b="1" dirty="0" smtClean="0"/>
              <a:t>customer </a:t>
            </a:r>
            <a:r>
              <a:rPr lang="en-GB" sz="1100" b="1" dirty="0"/>
              <a:t>segments</a:t>
            </a:r>
            <a:r>
              <a:rPr lang="en-GB" sz="1100" dirty="0"/>
              <a:t>.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Choosing a strategy is mainly about </a:t>
            </a:r>
            <a:r>
              <a:rPr lang="en-GB" sz="1100" b="1" dirty="0"/>
              <a:t>which</a:t>
            </a:r>
            <a:r>
              <a:rPr lang="en-GB" sz="1100" dirty="0"/>
              <a:t> one or more customer segment </a:t>
            </a:r>
            <a:r>
              <a:rPr lang="en-GB" sz="1100" b="1" dirty="0"/>
              <a:t>you should go for</a:t>
            </a:r>
            <a:r>
              <a:rPr lang="en-GB" sz="1100" dirty="0"/>
              <a:t>.</a:t>
            </a:r>
            <a:endParaRPr lang="en-GB" sz="1100" i="1" dirty="0"/>
          </a:p>
        </p:txBody>
      </p:sp>
      <p:sp>
        <p:nvSpPr>
          <p:cNvPr id="124949" name="AutoShape 21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812087" y="6246104"/>
            <a:ext cx="1008063" cy="3603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Next</a:t>
            </a:r>
          </a:p>
        </p:txBody>
      </p:sp>
      <p:sp>
        <p:nvSpPr>
          <p:cNvPr id="124962" name="Rectangle 34"/>
          <p:cNvSpPr>
            <a:spLocks noChangeArrowheads="1"/>
          </p:cNvSpPr>
          <p:nvPr/>
        </p:nvSpPr>
        <p:spPr bwMode="auto">
          <a:xfrm>
            <a:off x="604838" y="2565400"/>
            <a:ext cx="2971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The relative </a:t>
            </a:r>
            <a:r>
              <a:rPr lang="en-GB" sz="1100" b="1" dirty="0"/>
              <a:t>size</a:t>
            </a:r>
            <a:r>
              <a:rPr lang="en-GB" sz="1100" dirty="0"/>
              <a:t> of the business potential in each segment is shown at the right.</a:t>
            </a:r>
            <a:endParaRPr lang="en-GB" sz="1100" i="1" dirty="0"/>
          </a:p>
        </p:txBody>
      </p:sp>
      <p:sp>
        <p:nvSpPr>
          <p:cNvPr id="124963" name="Rectangle 35"/>
          <p:cNvSpPr>
            <a:spLocks noChangeArrowheads="1"/>
          </p:cNvSpPr>
          <p:nvPr/>
        </p:nvSpPr>
        <p:spPr bwMode="auto">
          <a:xfrm>
            <a:off x="609600" y="3068638"/>
            <a:ext cx="29718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7FB2E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100" dirty="0"/>
              <a:t>Based on this: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Which customer types would you primarily </a:t>
            </a:r>
            <a:r>
              <a:rPr lang="en-GB" sz="1100" b="1" dirty="0"/>
              <a:t>target</a:t>
            </a:r>
            <a:r>
              <a:rPr lang="en-GB" sz="1100" dirty="0"/>
              <a:t>?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What do you think your </a:t>
            </a:r>
            <a:r>
              <a:rPr lang="en-GB" sz="1100" b="1" dirty="0"/>
              <a:t>competitors</a:t>
            </a:r>
            <a:r>
              <a:rPr lang="en-GB" sz="1100" dirty="0"/>
              <a:t> will do? </a:t>
            </a:r>
          </a:p>
          <a:p>
            <a:pPr>
              <a:spcAft>
                <a:spcPts val="600"/>
              </a:spcAft>
            </a:pPr>
            <a:r>
              <a:rPr lang="en-GB" sz="1100" dirty="0"/>
              <a:t>What would be your “</a:t>
            </a:r>
            <a:r>
              <a:rPr lang="en-GB" sz="1100" b="1" dirty="0"/>
              <a:t>Plan B</a:t>
            </a:r>
            <a:r>
              <a:rPr lang="en-GB" sz="1100" dirty="0"/>
              <a:t>”?</a:t>
            </a:r>
            <a:endParaRPr lang="en-GB" dirty="0"/>
          </a:p>
        </p:txBody>
      </p:sp>
      <p:grpSp>
        <p:nvGrpSpPr>
          <p:cNvPr id="124984" name="Group 56"/>
          <p:cNvGrpSpPr>
            <a:grpSpLocks/>
          </p:cNvGrpSpPr>
          <p:nvPr/>
        </p:nvGrpSpPr>
        <p:grpSpPr bwMode="auto">
          <a:xfrm>
            <a:off x="4427538" y="2139950"/>
            <a:ext cx="4392612" cy="3810000"/>
            <a:chOff x="2789" y="1348"/>
            <a:chExt cx="2767" cy="2400"/>
          </a:xfrm>
        </p:grpSpPr>
        <p:grpSp>
          <p:nvGrpSpPr>
            <p:cNvPr id="26642" name="Group 36"/>
            <p:cNvGrpSpPr>
              <a:grpSpLocks/>
            </p:cNvGrpSpPr>
            <p:nvPr/>
          </p:nvGrpSpPr>
          <p:grpSpPr bwMode="auto">
            <a:xfrm>
              <a:off x="3140" y="1505"/>
              <a:ext cx="2053" cy="2045"/>
              <a:chOff x="3106" y="1559"/>
              <a:chExt cx="2174" cy="2164"/>
            </a:xfrm>
          </p:grpSpPr>
          <p:sp>
            <p:nvSpPr>
              <p:cNvPr id="26647" name="Rectangle 37"/>
              <p:cNvSpPr>
                <a:spLocks noChangeArrowheads="1"/>
              </p:cNvSpPr>
              <p:nvPr/>
            </p:nvSpPr>
            <p:spPr bwMode="auto">
              <a:xfrm>
                <a:off x="3106" y="1559"/>
                <a:ext cx="2174" cy="2164"/>
              </a:xfrm>
              <a:prstGeom prst="rect">
                <a:avLst/>
              </a:prstGeom>
              <a:solidFill>
                <a:srgbClr val="0068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sv-SE"/>
              </a:p>
            </p:txBody>
          </p:sp>
          <p:grpSp>
            <p:nvGrpSpPr>
              <p:cNvPr id="26648" name="Group 38"/>
              <p:cNvGrpSpPr>
                <a:grpSpLocks/>
              </p:cNvGrpSpPr>
              <p:nvPr/>
            </p:nvGrpSpPr>
            <p:grpSpPr bwMode="auto">
              <a:xfrm>
                <a:off x="3359" y="1749"/>
                <a:ext cx="1873" cy="1772"/>
                <a:chOff x="2703" y="981"/>
                <a:chExt cx="2445" cy="2313"/>
              </a:xfrm>
            </p:grpSpPr>
            <p:sp>
              <p:nvSpPr>
                <p:cNvPr id="26651" name="Oval 39"/>
                <p:cNvSpPr>
                  <a:spLocks noChangeArrowheads="1"/>
                </p:cNvSpPr>
                <p:nvPr/>
              </p:nvSpPr>
              <p:spPr bwMode="auto">
                <a:xfrm>
                  <a:off x="2703" y="981"/>
                  <a:ext cx="1175" cy="1254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b="1" dirty="0">
                      <a:solidFill>
                        <a:schemeClr val="bg1"/>
                      </a:solidFill>
                      <a:cs typeface="Arial" pitchFamily="34" charset="0"/>
                    </a:rPr>
                    <a:t>S</a:t>
                  </a:r>
                  <a:endParaRPr lang="en-US" b="1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6652" name="Oval 40"/>
                <p:cNvSpPr>
                  <a:spLocks noChangeArrowheads="1"/>
                </p:cNvSpPr>
                <p:nvPr/>
              </p:nvSpPr>
              <p:spPr bwMode="auto">
                <a:xfrm>
                  <a:off x="2884" y="2040"/>
                  <a:ext cx="1089" cy="1254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b="1" dirty="0">
                      <a:solidFill>
                        <a:schemeClr val="bg1"/>
                      </a:solidFill>
                      <a:cs typeface="Arial" pitchFamily="34" charset="0"/>
                    </a:rPr>
                    <a:t>T</a:t>
                  </a:r>
                  <a:endParaRPr lang="en-US" b="1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6653" name="Oval 41"/>
                <p:cNvSpPr>
                  <a:spLocks noChangeArrowheads="1"/>
                </p:cNvSpPr>
                <p:nvPr/>
              </p:nvSpPr>
              <p:spPr bwMode="auto">
                <a:xfrm>
                  <a:off x="3852" y="2341"/>
                  <a:ext cx="1296" cy="878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b="1" dirty="0">
                      <a:solidFill>
                        <a:schemeClr val="bg1"/>
                      </a:solidFill>
                      <a:cs typeface="Arial" pitchFamily="34" charset="0"/>
                    </a:rPr>
                    <a:t>A</a:t>
                  </a:r>
                  <a:endParaRPr lang="en-US" b="1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6654" name="Oval 42"/>
                <p:cNvSpPr>
                  <a:spLocks noChangeArrowheads="1"/>
                </p:cNvSpPr>
                <p:nvPr/>
              </p:nvSpPr>
              <p:spPr bwMode="auto">
                <a:xfrm>
                  <a:off x="3728" y="1409"/>
                  <a:ext cx="921" cy="1157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b="1" dirty="0">
                      <a:solidFill>
                        <a:schemeClr val="bg1"/>
                      </a:solidFill>
                      <a:cs typeface="Arial" pitchFamily="34" charset="0"/>
                    </a:rPr>
                    <a:t>M</a:t>
                  </a:r>
                  <a:endParaRPr lang="en-US" b="1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26655" name="Oval 43"/>
                <p:cNvSpPr>
                  <a:spLocks noChangeArrowheads="1"/>
                </p:cNvSpPr>
                <p:nvPr/>
              </p:nvSpPr>
              <p:spPr bwMode="auto">
                <a:xfrm>
                  <a:off x="3878" y="981"/>
                  <a:ext cx="1160" cy="832"/>
                </a:xfrm>
                <a:prstGeom prst="ellips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9966">
                          <a:alpha val="27058"/>
                        </a:srgb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sv-SE" b="1" dirty="0">
                      <a:solidFill>
                        <a:schemeClr val="bg1"/>
                      </a:solidFill>
                      <a:cs typeface="Arial" pitchFamily="34" charset="0"/>
                    </a:rPr>
                    <a:t>P</a:t>
                  </a:r>
                  <a:endParaRPr lang="en-US" b="1" dirty="0">
                    <a:solidFill>
                      <a:schemeClr val="bg1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26649" name="Line 44"/>
              <p:cNvSpPr>
                <a:spLocks noChangeShapeType="1"/>
              </p:cNvSpPr>
              <p:nvPr/>
            </p:nvSpPr>
            <p:spPr bwMode="auto">
              <a:xfrm>
                <a:off x="3142" y="2649"/>
                <a:ext cx="2100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alpha val="75000"/>
                  </a:schemeClr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0" name="Line 45"/>
              <p:cNvSpPr>
                <a:spLocks noChangeShapeType="1"/>
              </p:cNvSpPr>
              <p:nvPr/>
            </p:nvSpPr>
            <p:spPr bwMode="auto">
              <a:xfrm rot="-5400000">
                <a:off x="3142" y="2649"/>
                <a:ext cx="2100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alpha val="75000"/>
                  </a:schemeClr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43" name="Rectangle 47"/>
            <p:cNvSpPr>
              <a:spLocks noChangeArrowheads="1"/>
            </p:cNvSpPr>
            <p:nvPr/>
          </p:nvSpPr>
          <p:spPr bwMode="auto">
            <a:xfrm>
              <a:off x="2789" y="2460"/>
              <a:ext cx="1162" cy="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Aft>
                  <a:spcPts val="6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Price</a:t>
              </a:r>
            </a:p>
          </p:txBody>
        </p:sp>
        <p:sp>
          <p:nvSpPr>
            <p:cNvPr id="26644" name="Rectangle 48"/>
            <p:cNvSpPr>
              <a:spLocks noChangeArrowheads="1"/>
            </p:cNvSpPr>
            <p:nvPr/>
          </p:nvSpPr>
          <p:spPr bwMode="auto">
            <a:xfrm>
              <a:off x="4796" y="2469"/>
              <a:ext cx="760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r">
                <a:spcAft>
                  <a:spcPts val="6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Value</a:t>
              </a:r>
            </a:p>
          </p:txBody>
        </p:sp>
        <p:sp>
          <p:nvSpPr>
            <p:cNvPr id="26645" name="Rectangle 49"/>
            <p:cNvSpPr>
              <a:spLocks noChangeArrowheads="1"/>
            </p:cNvSpPr>
            <p:nvPr/>
          </p:nvSpPr>
          <p:spPr bwMode="auto">
            <a:xfrm>
              <a:off x="3563" y="1348"/>
              <a:ext cx="1162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Many needs</a:t>
              </a:r>
            </a:p>
          </p:txBody>
        </p:sp>
        <p:sp>
          <p:nvSpPr>
            <p:cNvPr id="26646" name="Rectangle 50"/>
            <p:cNvSpPr>
              <a:spLocks noChangeArrowheads="1"/>
            </p:cNvSpPr>
            <p:nvPr/>
          </p:nvSpPr>
          <p:spPr bwMode="auto">
            <a:xfrm>
              <a:off x="3562" y="3583"/>
              <a:ext cx="1162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en-GB" sz="1400" b="1" dirty="0">
                  <a:solidFill>
                    <a:srgbClr val="00AEC6"/>
                  </a:solidFill>
                </a:rPr>
                <a:t>Basic needs</a:t>
              </a:r>
            </a:p>
          </p:txBody>
        </p:sp>
      </p:grpSp>
      <p:grpSp>
        <p:nvGrpSpPr>
          <p:cNvPr id="124985" name="Group 57"/>
          <p:cNvGrpSpPr>
            <a:grpSpLocks/>
          </p:cNvGrpSpPr>
          <p:nvPr/>
        </p:nvGrpSpPr>
        <p:grpSpPr bwMode="auto">
          <a:xfrm>
            <a:off x="5292725" y="1485900"/>
            <a:ext cx="2590800" cy="3640138"/>
            <a:chOff x="3334" y="936"/>
            <a:chExt cx="1632" cy="2293"/>
          </a:xfrm>
        </p:grpSpPr>
        <p:sp>
          <p:nvSpPr>
            <p:cNvPr id="26636" name="Rectangle 9"/>
            <p:cNvSpPr>
              <a:spLocks noChangeArrowheads="1"/>
            </p:cNvSpPr>
            <p:nvPr/>
          </p:nvSpPr>
          <p:spPr bwMode="auto">
            <a:xfrm>
              <a:off x="4467" y="1752"/>
              <a:ext cx="485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SMALL</a:t>
              </a:r>
            </a:p>
          </p:txBody>
        </p:sp>
        <p:sp>
          <p:nvSpPr>
            <p:cNvPr id="26637" name="Rectangle 51"/>
            <p:cNvSpPr>
              <a:spLocks noChangeArrowheads="1"/>
            </p:cNvSpPr>
            <p:nvPr/>
          </p:nvSpPr>
          <p:spPr bwMode="auto">
            <a:xfrm>
              <a:off x="4209" y="2205"/>
              <a:ext cx="485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MEDIUM</a:t>
              </a:r>
            </a:p>
          </p:txBody>
        </p:sp>
        <p:sp>
          <p:nvSpPr>
            <p:cNvPr id="26638" name="Rectangle 52"/>
            <p:cNvSpPr>
              <a:spLocks noChangeArrowheads="1"/>
            </p:cNvSpPr>
            <p:nvPr/>
          </p:nvSpPr>
          <p:spPr bwMode="auto">
            <a:xfrm>
              <a:off x="4437" y="3113"/>
              <a:ext cx="485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MEDIUM</a:t>
              </a:r>
            </a:p>
          </p:txBody>
        </p:sp>
        <p:sp>
          <p:nvSpPr>
            <p:cNvPr id="26639" name="Rectangle 53"/>
            <p:cNvSpPr>
              <a:spLocks noChangeArrowheads="1"/>
            </p:cNvSpPr>
            <p:nvPr/>
          </p:nvSpPr>
          <p:spPr bwMode="auto">
            <a:xfrm>
              <a:off x="3574" y="1888"/>
              <a:ext cx="485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LARGE</a:t>
              </a:r>
            </a:p>
          </p:txBody>
        </p:sp>
        <p:sp>
          <p:nvSpPr>
            <p:cNvPr id="26640" name="Rectangle 54"/>
            <p:cNvSpPr>
              <a:spLocks noChangeArrowheads="1"/>
            </p:cNvSpPr>
            <p:nvPr/>
          </p:nvSpPr>
          <p:spPr bwMode="auto">
            <a:xfrm>
              <a:off x="3620" y="3088"/>
              <a:ext cx="485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</a:rPr>
                <a:t>LARGE</a:t>
              </a:r>
            </a:p>
          </p:txBody>
        </p:sp>
        <p:sp>
          <p:nvSpPr>
            <p:cNvPr id="26641" name="Rectangle 55"/>
            <p:cNvSpPr>
              <a:spLocks noChangeArrowheads="1"/>
            </p:cNvSpPr>
            <p:nvPr/>
          </p:nvSpPr>
          <p:spPr bwMode="auto">
            <a:xfrm>
              <a:off x="3334" y="936"/>
              <a:ext cx="16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GB" sz="1200" b="1" i="1" dirty="0"/>
                <a:t>Market potential in the different customer segments</a:t>
              </a:r>
            </a:p>
          </p:txBody>
        </p:sp>
      </p:grpSp>
      <p:sp>
        <p:nvSpPr>
          <p:cNvPr id="3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7" grpId="0" animBg="1"/>
      <p:bldP spid="124948" grpId="0"/>
      <p:bldP spid="124949" grpId="0" animBg="1"/>
      <p:bldP spid="124962" grpId="0"/>
      <p:bldP spid="1249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8" descr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" r="17899"/>
          <a:stretch>
            <a:fillRect/>
          </a:stretch>
        </p:blipFill>
        <p:spPr bwMode="auto">
          <a:xfrm>
            <a:off x="2627784" y="1586859"/>
            <a:ext cx="4646880" cy="497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59" name="AutoShape 35"/>
          <p:cNvSpPr>
            <a:spLocks noChangeArrowheads="1"/>
          </p:cNvSpPr>
          <p:nvPr/>
        </p:nvSpPr>
        <p:spPr bwMode="auto">
          <a:xfrm>
            <a:off x="7524328" y="6205297"/>
            <a:ext cx="936104" cy="360362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00AEC6"/>
            </a:solidFill>
            <a:round/>
            <a:headEnd/>
            <a:tailEnd/>
          </a:ln>
          <a:effectLst/>
          <a:extLst/>
        </p:spPr>
        <p:txBody>
          <a:bodyPr lIns="0" tIns="0" rIns="0" bIns="0" anchor="ctr"/>
          <a:lstStyle/>
          <a:p>
            <a:pPr algn="ctr"/>
            <a:r>
              <a:rPr lang="en-US" sz="1600" b="1" i="1" dirty="0">
                <a:solidFill>
                  <a:srgbClr val="00AEC6"/>
                </a:solidFill>
              </a:rPr>
              <a:t>End</a:t>
            </a:r>
          </a:p>
        </p:txBody>
      </p:sp>
      <p:pic>
        <p:nvPicPr>
          <p:cNvPr id="27652" name="Picture 36" descr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464" r="1178" b="392"/>
          <a:stretch>
            <a:fillRect/>
          </a:stretch>
        </p:blipFill>
        <p:spPr bwMode="auto">
          <a:xfrm>
            <a:off x="0" y="-1"/>
            <a:ext cx="2627784" cy="656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32656"/>
            <a:ext cx="4514006" cy="599600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512" y="6561112"/>
            <a:ext cx="3096344" cy="180256"/>
          </a:xfrm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Copyright © 2012 by </a:t>
            </a:r>
            <a:r>
              <a:rPr lang="en-US" dirty="0" err="1" smtClean="0">
                <a:solidFill>
                  <a:schemeClr val="bg2"/>
                </a:solidFill>
                <a:latin typeface="Arial" pitchFamily="34" charset="0"/>
              </a:rPr>
              <a:t>Celemiab</a:t>
            </a:r>
            <a:r>
              <a:rPr lang="en-US" dirty="0" smtClean="0">
                <a:solidFill>
                  <a:schemeClr val="bg2"/>
                </a:solidFill>
                <a:latin typeface="Arial" pitchFamily="34" charset="0"/>
              </a:rPr>
              <a:t> Systems AB. All rights reserved.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5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bg1"/>
          </a:solidFill>
          <a:round/>
          <a:headEnd/>
          <a:tailEnd/>
        </a:ln>
        <a:effectLst/>
      </a:spPr>
      <a:bodyPr lIns="0" tIns="0" rIns="0" bIns="0" anchor="ctr"/>
      <a:lstStyle>
        <a:defPPr algn="ctr">
          <a:defRPr sz="1600" b="1" i="1" dirty="0">
            <a:solidFill>
              <a:srgbClr val="0053A6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3029</Words>
  <Application>Microsoft Office PowerPoint</Application>
  <PresentationFormat>Bildschirmpräsentation (4:3)</PresentationFormat>
  <Paragraphs>588</Paragraphs>
  <Slides>26</Slides>
  <Notes>26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27" baseType="lpstr">
      <vt:lpstr>Blank Presentation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Klas Mellander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Klas Mellander</dc:creator>
  <cp:lastModifiedBy>GE User</cp:lastModifiedBy>
  <cp:revision>805</cp:revision>
  <dcterms:created xsi:type="dcterms:W3CDTF">2010-12-20T10:42:16Z</dcterms:created>
  <dcterms:modified xsi:type="dcterms:W3CDTF">2016-07-29T13:18:06Z</dcterms:modified>
</cp:coreProperties>
</file>