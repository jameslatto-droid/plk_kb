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5897" showSpecialPlsOnTitleSld="0" strictFirstAndLastChars="0">
  <p:sldMasterIdLst>
    <p:sldMasterId id="2147483664" r:id="rId1"/>
    <p:sldMasterId id="2147483681" r:id="rId2"/>
  </p:sldMasterIdLst>
  <p:notesMasterIdLst>
    <p:notesMasterId r:id="rId10"/>
  </p:notesMasterIdLst>
  <p:handoutMasterIdLst>
    <p:handoutMasterId r:id="rId11"/>
  </p:handoutMasterIdLst>
  <p:sldIdLst>
    <p:sldId id="286" r:id="rId3"/>
    <p:sldId id="313" r:id="rId4"/>
    <p:sldId id="316" r:id="rId5"/>
    <p:sldId id="314" r:id="rId6"/>
    <p:sldId id="310" r:id="rId7"/>
    <p:sldId id="315" r:id="rId8"/>
    <p:sldId id="309" r:id="rId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1">
          <p15:clr>
            <a:srgbClr val="A4A3A4"/>
          </p15:clr>
        </p15:guide>
        <p15:guide id="2" orient="horz" pos="3758">
          <p15:clr>
            <a:srgbClr val="A4A3A4"/>
          </p15:clr>
        </p15:guide>
        <p15:guide id="3" orient="horz" pos="1062">
          <p15:clr>
            <a:srgbClr val="A4A3A4"/>
          </p15:clr>
        </p15:guide>
        <p15:guide id="4" orient="horz" pos="449">
          <p15:clr>
            <a:srgbClr val="A4A3A4"/>
          </p15:clr>
        </p15:guide>
        <p15:guide id="5" orient="horz" pos="2849">
          <p15:clr>
            <a:srgbClr val="A4A3A4"/>
          </p15:clr>
        </p15:guide>
        <p15:guide id="6" orient="horz" pos="2153">
          <p15:clr>
            <a:srgbClr val="A4A3A4"/>
          </p15:clr>
        </p15:guide>
        <p15:guide id="7" orient="horz" pos="5442">
          <p15:clr>
            <a:srgbClr val="A4A3A4"/>
          </p15:clr>
        </p15:guide>
        <p15:guide id="8" orient="horz" pos="1954">
          <p15:clr>
            <a:srgbClr val="A4A3A4"/>
          </p15:clr>
        </p15:guide>
        <p15:guide id="9" pos="219">
          <p15:clr>
            <a:srgbClr val="A4A3A4"/>
          </p15:clr>
        </p15:guide>
        <p15:guide id="10" pos="5551">
          <p15:clr>
            <a:srgbClr val="A4A3A4"/>
          </p15:clr>
        </p15:guide>
        <p15:guide id="11" pos="2879">
          <p15:clr>
            <a:srgbClr val="A4A3A4"/>
          </p15:clr>
        </p15:guide>
        <p15:guide id="12" pos="1521">
          <p15:clr>
            <a:srgbClr val="A4A3A4"/>
          </p15:clr>
        </p15:guide>
        <p15:guide id="13" pos="42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orient="horz" pos="5906">
          <p15:clr>
            <a:srgbClr val="A4A3A4"/>
          </p15:clr>
        </p15:guide>
        <p15:guide id="3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50"/>
    <a:srgbClr val="7A7A7A"/>
    <a:srgbClr val="6B6B6B"/>
    <a:srgbClr val="767676"/>
    <a:srgbClr val="4C4C4C"/>
    <a:srgbClr val="656565"/>
    <a:srgbClr val="CD0078"/>
    <a:srgbClr val="3C73B9"/>
    <a:srgbClr val="EBD7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84567" autoAdjust="0"/>
  </p:normalViewPr>
  <p:slideViewPr>
    <p:cSldViewPr snapToGrid="0">
      <p:cViewPr varScale="1">
        <p:scale>
          <a:sx n="91" d="100"/>
          <a:sy n="91" d="100"/>
        </p:scale>
        <p:origin x="1578" y="90"/>
      </p:cViewPr>
      <p:guideLst>
        <p:guide orient="horz" pos="1311"/>
        <p:guide orient="horz" pos="3758"/>
        <p:guide orient="horz" pos="1062"/>
        <p:guide orient="horz" pos="449"/>
        <p:guide orient="horz" pos="2849"/>
        <p:guide orient="horz" pos="2153"/>
        <p:guide orient="horz" pos="5442"/>
        <p:guide orient="horz" pos="1954"/>
        <p:guide pos="219"/>
        <p:guide pos="5551"/>
        <p:guide pos="2879"/>
        <p:guide pos="1521"/>
        <p:guide pos="42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-2264" y="-96"/>
      </p:cViewPr>
      <p:guideLst>
        <p:guide orient="horz" pos="3024"/>
        <p:guide orient="horz" pos="5906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13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14" name="Text Box 22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ts val="1100"/>
              </a:lnSpc>
            </a:pPr>
            <a:fld id="{248A7D45-D04D-4B80-90EF-34F48D18C37A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</a:pPr>
              <a:t>‹#›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/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875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6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228600"/>
            <a:ext cx="5730875" cy="4298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730875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ts val="1100"/>
              </a:lnSpc>
            </a:pPr>
            <a:fld id="{AB69BBA2-4AEB-4B61-8393-54D11319A087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</a:pPr>
              <a:t>‹#›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/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7040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2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5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50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pic>
        <p:nvPicPr>
          <p:cNvPr id="580619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 smtClean="0"/>
              <a:t>GE Title or job number</a:t>
            </a:r>
            <a:endParaRPr lang="en-US" sz="900" dirty="0"/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90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60824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15736"/>
            <a:ext cx="8459788" cy="4848503"/>
          </a:xfrm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/>
              <a:t>GE Title or job number </a:t>
            </a: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92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4152900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7200"/>
            <a:ext cx="4154488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/>
              <a:t>GE Title or job number </a:t>
            </a: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91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320687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>
          <a:xfrm>
            <a:off x="6063201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3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/>
              <a:t>GE Title or job number </a:t>
            </a: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65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142" y="1736449"/>
            <a:ext cx="4152405" cy="394355"/>
          </a:xfrm>
        </p:spPr>
        <p:txBody>
          <a:bodyPr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42" y="2189527"/>
            <a:ext cx="4152405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3414" y="1736449"/>
            <a:ext cx="4154036" cy="394355"/>
          </a:xfrm>
        </p:spPr>
        <p:txBody>
          <a:bodyPr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3414" y="2189527"/>
            <a:ext cx="4154036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3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/>
              <a:t>GE Title or job number </a:t>
            </a: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080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/>
              <a:pPr algn="r">
                <a:lnSpc>
                  <a:spcPct val="90000"/>
                </a:lnSpc>
              </a:pPr>
              <a:t>‹#›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/>
              <a:t>GE Title or job number </a:t>
            </a: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/>
              <a:pPr algn="r">
                <a:lnSpc>
                  <a:spcPct val="90000"/>
                </a:lnSpc>
              </a:pPr>
              <a:t>5/9/2016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0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410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774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275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938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079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6416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18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D:\Documents and Settings\200015691\Desktop\Ivan Files\Downloads\IAW Tagline\IAW Tagline PPT use\One Line-Horizontal\GE_lockup_PMS7455_IaW_p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733675"/>
            <a:ext cx="3687763" cy="135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507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5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50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pic>
        <p:nvPicPr>
          <p:cNvPr id="580619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83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>
                <a:lnSpc>
                  <a:spcPct val="90000"/>
                </a:lnSpc>
              </a:pPr>
              <a:t>‹#›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>
              <a:lnSpc>
                <a:spcPct val="90000"/>
              </a:lnSpc>
            </a:pPr>
            <a:r>
              <a:rPr lang="en-US" sz="900" dirty="0" smtClean="0">
                <a:solidFill>
                  <a:srgbClr val="1E4191"/>
                </a:solidFill>
              </a:rPr>
              <a:t>Live </a:t>
            </a:r>
            <a:r>
              <a:rPr lang="en-US" sz="900" dirty="0" err="1" smtClean="0">
                <a:solidFill>
                  <a:srgbClr val="1E4191"/>
                </a:solidFill>
              </a:rPr>
              <a:t>Capex</a:t>
            </a:r>
            <a:r>
              <a:rPr lang="en-US" sz="900" dirty="0" smtClean="0">
                <a:solidFill>
                  <a:srgbClr val="1E4191"/>
                </a:solidFill>
              </a:rPr>
              <a:t> Projects Review</a:t>
            </a:r>
            <a:endParaRPr lang="en-US" sz="900" dirty="0">
              <a:solidFill>
                <a:srgbClr val="1E4191"/>
              </a:solidFill>
            </a:endParaRPr>
          </a:p>
          <a:p>
            <a:pPr algn="r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>
                <a:lnSpc>
                  <a:spcPct val="90000"/>
                </a:lnSpc>
              </a:pPr>
              <a:t>5/9/2016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673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80" r:id="rId15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1" fontAlgn="base" hangingPunct="1">
        <a:lnSpc>
          <a:spcPct val="90000"/>
        </a:lnSpc>
        <a:spcBef>
          <a:spcPts val="24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137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1" fontAlgn="base" hangingPunct="1">
        <a:lnSpc>
          <a:spcPct val="90000"/>
        </a:lnSpc>
        <a:spcBef>
          <a:spcPts val="24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40" name="Rectangle 4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sz="3200" dirty="0" smtClean="0"/>
              <a:t>Composites Program – Module 1</a:t>
            </a:r>
            <a:endParaRPr lang="en-US" sz="3200" dirty="0"/>
          </a:p>
        </p:txBody>
      </p:sp>
      <p:sp>
        <p:nvSpPr>
          <p:cNvPr id="731141" name="Rectangle 5"/>
          <p:cNvSpPr>
            <a:spLocks noGrp="1" noChangeArrowheads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9270"/>
            <a:ext cx="8459788" cy="5844968"/>
          </a:xfrm>
        </p:spPr>
        <p:txBody>
          <a:bodyPr/>
          <a:lstStyle/>
          <a:p>
            <a:endParaRPr lang="en-GB" sz="2000" dirty="0" smtClean="0"/>
          </a:p>
          <a:p>
            <a:r>
              <a:rPr lang="en-GB" sz="2000" dirty="0"/>
              <a:t>	</a:t>
            </a:r>
            <a:r>
              <a:rPr lang="en-GB" sz="2000" dirty="0" smtClean="0"/>
              <a:t>4 Blocker</a:t>
            </a:r>
          </a:p>
          <a:p>
            <a:r>
              <a:rPr lang="en-GB" sz="2000" dirty="0"/>
              <a:t>	</a:t>
            </a:r>
            <a:r>
              <a:rPr lang="en-GB" sz="2000" dirty="0" smtClean="0"/>
              <a:t>Program</a:t>
            </a:r>
          </a:p>
          <a:p>
            <a:r>
              <a:rPr lang="en-GB" sz="2000" dirty="0"/>
              <a:t>	</a:t>
            </a:r>
            <a:r>
              <a:rPr lang="en-GB" sz="2000" dirty="0" smtClean="0"/>
              <a:t>Issues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1046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Factory Preparation / Readiness Requirements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780256"/>
            <a:ext cx="8459788" cy="5703614"/>
          </a:xfrm>
        </p:spPr>
        <p:txBody>
          <a:bodyPr/>
          <a:lstStyle/>
          <a:p>
            <a:r>
              <a:rPr lang="en-GB" sz="1100" dirty="0" smtClean="0"/>
              <a:t>Requirement / Scope:</a:t>
            </a:r>
          </a:p>
          <a:p>
            <a:r>
              <a:rPr lang="en-GB" sz="1100" dirty="0" smtClean="0"/>
              <a:t>Factory to be prepared to receive module 1 buy the end of year with commissioning due to be complete before end of Q1 ’17</a:t>
            </a:r>
          </a:p>
          <a:p>
            <a:r>
              <a:rPr lang="en-GB" sz="1100" dirty="0" smtClean="0"/>
              <a:t>The work to complete the factory preparation for the full composite line (up to 4 more modules) will </a:t>
            </a:r>
            <a:r>
              <a:rPr lang="en-GB" sz="1100" dirty="0"/>
              <a:t>follow on </a:t>
            </a:r>
            <a:r>
              <a:rPr lang="en-GB" sz="1100" dirty="0" smtClean="0"/>
              <a:t>from this but the timescale has not yet been confirmed by the business (this is likely to be mid to late 2018)</a:t>
            </a:r>
          </a:p>
          <a:p>
            <a:r>
              <a:rPr lang="en-GB" sz="1100" dirty="0" smtClean="0"/>
              <a:t>Driving Factors: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100" dirty="0" smtClean="0"/>
              <a:t>Produce samples for NPI &amp; Qualification Program Early </a:t>
            </a:r>
            <a:r>
              <a:rPr lang="en-GB" sz="1100" dirty="0" err="1" smtClean="0"/>
              <a:t>Q2</a:t>
            </a:r>
            <a:r>
              <a:rPr lang="en-GB" sz="1100" dirty="0" smtClean="0"/>
              <a:t> ‘17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100" dirty="0" smtClean="0"/>
              <a:t>Alberto wants the ability to produce shorter lengths of CPA from </a:t>
            </a:r>
            <a:r>
              <a:rPr lang="en-GB" sz="1100" dirty="0" err="1" smtClean="0"/>
              <a:t>Q2</a:t>
            </a:r>
            <a:r>
              <a:rPr lang="en-GB" sz="1100" dirty="0" smtClean="0"/>
              <a:t> ’17 to enable WSI to offer an unqualified commercial product for trial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100" dirty="0" smtClean="0"/>
              <a:t>Full production capability for Libra project by end of 2018 (NPI project linked opportunity)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100" dirty="0" smtClean="0"/>
              <a:t>Market forecast for CPA take up from 2019</a:t>
            </a:r>
          </a:p>
          <a:p>
            <a:r>
              <a:rPr lang="en-GB" sz="1100" dirty="0" smtClean="0"/>
              <a:t>NPI Project Constraints: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 smtClean="0"/>
              <a:t>Module 1 to be installed where the pipe can be spooled directly from reel and delivered to a take-up reel due to requirement to reverse line (re-spool) for additional layers.  The pipe will (if at all possible) not significantly change direction between the reel and the module 1 machine.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 smtClean="0"/>
              <a:t>Module 1 will have a high utilisation between commissioning date (Q1 ’17) and Q1 ’18, therefore re-location needs to be outside of this timeframe to avoid project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 smtClean="0"/>
              <a:t>Existing prototype line will be utilised until end of </a:t>
            </a:r>
            <a:r>
              <a:rPr lang="en-GB" sz="1100" dirty="0" err="1" smtClean="0"/>
              <a:t>Q3</a:t>
            </a:r>
            <a:r>
              <a:rPr lang="en-GB" sz="1100" dirty="0" smtClean="0"/>
              <a:t> ‘16, any relocation (NIC) will need to be </a:t>
            </a:r>
            <a:r>
              <a:rPr lang="en-GB" sz="1100" dirty="0" err="1" smtClean="0"/>
              <a:t>Q4</a:t>
            </a:r>
            <a:r>
              <a:rPr lang="en-GB" sz="1100" dirty="0" smtClean="0"/>
              <a:t> 16 at the earliest.</a:t>
            </a:r>
          </a:p>
          <a:p>
            <a:endParaRPr lang="en-GB" sz="1100" dirty="0" smtClean="0"/>
          </a:p>
          <a:p>
            <a:r>
              <a:rPr lang="en-GB" sz="1100" dirty="0" smtClean="0"/>
              <a:t>Module 1 PM (Kevin) will provide a breakdown of these key milestones / dates.</a:t>
            </a:r>
          </a:p>
          <a:p>
            <a:r>
              <a:rPr lang="en-GB" sz="1100" dirty="0" smtClean="0"/>
              <a:t>CAPEX PM will be responsible for the following:</a:t>
            </a:r>
          </a:p>
          <a:p>
            <a:pPr marL="228600" indent="-228600">
              <a:buAutoNum type="arabicPeriod"/>
            </a:pPr>
            <a:r>
              <a:rPr lang="en-GB" sz="1100" dirty="0" smtClean="0"/>
              <a:t>Options for line placement</a:t>
            </a:r>
          </a:p>
          <a:p>
            <a:pPr marL="228600" indent="-228600">
              <a:buAutoNum type="arabicPeriod"/>
            </a:pPr>
            <a:r>
              <a:rPr lang="en-GB" sz="1100" dirty="0" smtClean="0"/>
              <a:t>Down select of options &amp; CAPEX application for full line cost</a:t>
            </a:r>
          </a:p>
          <a:p>
            <a:pPr marL="228600" indent="-228600">
              <a:buAutoNum type="arabicPeriod"/>
            </a:pPr>
            <a:r>
              <a:rPr lang="en-GB" sz="1100" dirty="0" smtClean="0"/>
              <a:t>Full schedule &amp; cost for Module 1 installation work</a:t>
            </a:r>
          </a:p>
          <a:p>
            <a:pPr marL="569913" lvl="1" indent="-228600"/>
            <a:r>
              <a:rPr lang="en-GB" sz="1100" dirty="0" smtClean="0"/>
              <a:t>Including milestones for information / equipment provided by NPI – Module 1 sub-contractor / </a:t>
            </a:r>
            <a:r>
              <a:rPr lang="en-GB" sz="1100" dirty="0" err="1" smtClean="0"/>
              <a:t>Mgmt</a:t>
            </a:r>
            <a:r>
              <a:rPr lang="en-GB" sz="1100" dirty="0" smtClean="0"/>
              <a:t> team</a:t>
            </a:r>
          </a:p>
          <a:p>
            <a:pPr marL="228600" indent="-228600">
              <a:buAutoNum type="arabicPeriod"/>
            </a:pPr>
            <a:r>
              <a:rPr lang="en-GB" sz="1100" dirty="0" smtClean="0"/>
              <a:t>Outline schedule &amp; cost for Full line installation work</a:t>
            </a:r>
          </a:p>
          <a:p>
            <a:pPr marL="228600" indent="-228600">
              <a:buAutoNum type="arabicPeriod"/>
            </a:pPr>
            <a:r>
              <a:rPr lang="en-GB" sz="1100" dirty="0" smtClean="0"/>
              <a:t>Execution plan for new line installation</a:t>
            </a: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23937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562475" y="1036638"/>
            <a:ext cx="7270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GB" sz="800" kern="0">
              <a:solidFill>
                <a:srgbClr val="004880"/>
              </a:solidFill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-2" y="-15389"/>
            <a:ext cx="83058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1800" b="1" kern="0" dirty="0">
                <a:solidFill>
                  <a:srgbClr val="004880"/>
                </a:solidFill>
              </a:rPr>
              <a:t>Project Name: </a:t>
            </a:r>
            <a:r>
              <a:rPr lang="it-IT" sz="1800" kern="0" dirty="0">
                <a:solidFill>
                  <a:srgbClr val="004880"/>
                </a:solidFill>
              </a:rPr>
              <a:t>  </a:t>
            </a:r>
            <a:r>
              <a:rPr lang="it-IT" sz="1800" kern="0" dirty="0" smtClean="0">
                <a:solidFill>
                  <a:srgbClr val="004880"/>
                </a:solidFill>
              </a:rPr>
              <a:t>		Composite Taping Line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1800" b="1" kern="0" dirty="0" smtClean="0">
                <a:solidFill>
                  <a:srgbClr val="004880"/>
                </a:solidFill>
              </a:rPr>
              <a:t>AFE and IFS asset ref : 	</a:t>
            </a:r>
            <a:endParaRPr lang="en-US" sz="1800" kern="0" dirty="0">
              <a:solidFill>
                <a:srgbClr val="004880"/>
              </a:solidFill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76200" y="3715941"/>
            <a:ext cx="8763000" cy="0"/>
          </a:xfrm>
          <a:prstGeom prst="line">
            <a:avLst/>
          </a:prstGeom>
          <a:noFill/>
          <a:ln w="12700">
            <a:solidFill>
              <a:srgbClr val="0048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ysClr val="windowText" lastClr="000000"/>
              </a:solidFill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4343400" y="685800"/>
            <a:ext cx="1588" cy="5865813"/>
          </a:xfrm>
          <a:prstGeom prst="line">
            <a:avLst/>
          </a:prstGeom>
          <a:noFill/>
          <a:ln w="12700">
            <a:solidFill>
              <a:srgbClr val="0048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ysClr val="windowText" lastClr="000000"/>
              </a:solidFill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0" y="567005"/>
            <a:ext cx="32585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 smtClean="0">
                <a:solidFill>
                  <a:srgbClr val="0048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Project status &amp; roadblocks</a:t>
            </a:r>
            <a:endParaRPr lang="en-US" sz="2000" b="1" kern="0" dirty="0">
              <a:solidFill>
                <a:srgbClr val="00488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111844" y="1823277"/>
            <a:ext cx="1458733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 smtClean="0">
                <a:solidFill>
                  <a:srgbClr val="0048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Action plan</a:t>
            </a:r>
            <a:endParaRPr lang="en-US" sz="2000" b="1" kern="0" dirty="0">
              <a:solidFill>
                <a:srgbClr val="00488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4343400" y="600221"/>
            <a:ext cx="1320874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 smtClean="0">
                <a:solidFill>
                  <a:srgbClr val="0048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Financials</a:t>
            </a:r>
            <a:endParaRPr lang="en-US" sz="2000" b="1" kern="0" dirty="0">
              <a:solidFill>
                <a:srgbClr val="00488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0" y="3683020"/>
            <a:ext cx="140904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 smtClean="0">
                <a:solidFill>
                  <a:srgbClr val="0048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Timeframe</a:t>
            </a:r>
            <a:endParaRPr lang="en-US" sz="2000" b="1" kern="0" dirty="0">
              <a:solidFill>
                <a:srgbClr val="00488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0" y="584200"/>
            <a:ext cx="9144000" cy="0"/>
          </a:xfrm>
          <a:prstGeom prst="line">
            <a:avLst/>
          </a:prstGeom>
          <a:noFill/>
          <a:ln w="12700">
            <a:solidFill>
              <a:srgbClr val="0048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ysClr val="windowText" lastClr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00913" y="0"/>
            <a:ext cx="184308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1400" dirty="0" smtClean="0">
                <a:solidFill>
                  <a:srgbClr val="FFFFFF"/>
                </a:solidFill>
              </a:rPr>
              <a:t>Kevin Wright</a:t>
            </a:r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69486" y="3618706"/>
            <a:ext cx="4432300" cy="73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400" kern="0" dirty="0" smtClean="0">
              <a:solidFill>
                <a:srgbClr val="004880"/>
              </a:solidFill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400" kern="0" dirty="0" smtClean="0">
              <a:solidFill>
                <a:srgbClr val="004880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   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25400" y="1089509"/>
            <a:ext cx="4432300" cy="73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Composite Taping program is advancing with a need to qualify pipe on Production Machine.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FEED PO placed with AFPT</a:t>
            </a: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4559050" y="702357"/>
            <a:ext cx="4432300" cy="2031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400" kern="0" dirty="0" smtClean="0">
              <a:solidFill>
                <a:srgbClr val="004880"/>
              </a:solidFill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AFPT quotation for  </a:t>
            </a:r>
            <a:r>
              <a:rPr lang="en-US" sz="1400" kern="0" dirty="0" err="1" smtClean="0">
                <a:solidFill>
                  <a:srgbClr val="004880"/>
                </a:solidFill>
              </a:rPr>
              <a:t>for</a:t>
            </a:r>
            <a:r>
              <a:rPr lang="en-US" sz="1400" kern="0" dirty="0" smtClean="0">
                <a:solidFill>
                  <a:srgbClr val="004880"/>
                </a:solidFill>
              </a:rPr>
              <a:t> $2.7mm USD to cover the entire project.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includes $335k USD to cover initial Engineering and Design Costs PO Raised.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Expenditure in current year 2016 expected to be $3.9mm USD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Expenditure in 2017 (1</a:t>
            </a:r>
            <a:r>
              <a:rPr lang="en-US" sz="1400" kern="0" baseline="30000" dirty="0" smtClean="0">
                <a:solidFill>
                  <a:srgbClr val="004880"/>
                </a:solidFill>
              </a:rPr>
              <a:t>st</a:t>
            </a:r>
            <a:r>
              <a:rPr lang="en-US" sz="1400" kern="0" dirty="0" smtClean="0">
                <a:solidFill>
                  <a:srgbClr val="004880"/>
                </a:solidFill>
              </a:rPr>
              <a:t> </a:t>
            </a:r>
            <a:r>
              <a:rPr lang="en-US" sz="1400" kern="0" dirty="0" err="1" smtClean="0">
                <a:solidFill>
                  <a:srgbClr val="004880"/>
                </a:solidFill>
              </a:rPr>
              <a:t>Qtr</a:t>
            </a:r>
            <a:r>
              <a:rPr lang="en-US" sz="1400" kern="0" dirty="0" smtClean="0">
                <a:solidFill>
                  <a:srgbClr val="004880"/>
                </a:solidFill>
              </a:rPr>
              <a:t>) $800K USD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400" kern="0" dirty="0" smtClean="0">
              <a:solidFill>
                <a:srgbClr val="004880"/>
              </a:solidFill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-10244" y="4034118"/>
            <a:ext cx="4432300" cy="117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Feed PO  placed April 2016 to suit requirements of Composite Program.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Target design completion by end of June 16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Complete Installation in Newcastle by end of March 17</a:t>
            </a:r>
            <a:endParaRPr lang="en-US" sz="1400" kern="0" dirty="0">
              <a:solidFill>
                <a:srgbClr val="004880"/>
              </a:solidFill>
            </a:endParaRP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111844" y="2126035"/>
            <a:ext cx="4231556" cy="117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Second stage PO for Manufacturing to be progressed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kern="0" dirty="0" smtClean="0">
                <a:solidFill>
                  <a:srgbClr val="004880"/>
                </a:solidFill>
              </a:rPr>
              <a:t>Seek quotations from GE Inspect Tech and Surface Generation for NDT and Post </a:t>
            </a:r>
            <a:r>
              <a:rPr lang="en-US" sz="1400" kern="0" dirty="0">
                <a:solidFill>
                  <a:srgbClr val="004880"/>
                </a:solidFill>
              </a:rPr>
              <a:t>Process heating </a:t>
            </a:r>
            <a:r>
              <a:rPr lang="en-US" sz="1400" kern="0" dirty="0" smtClean="0">
                <a:solidFill>
                  <a:srgbClr val="004880"/>
                </a:solidFill>
              </a:rPr>
              <a:t>Module.</a:t>
            </a:r>
            <a:endParaRPr lang="en-US" sz="1400" kern="0" dirty="0">
              <a:solidFill>
                <a:srgbClr val="00488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14287" y="5205206"/>
            <a:ext cx="4264025" cy="116955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/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1E4191"/>
                </a:solidFill>
              </a:rPr>
              <a:t>Expected completion date:	March 2017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EE3324"/>
                </a:solidFill>
              </a:rPr>
              <a:t>Original Completion Date	March 2017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 dirty="0" smtClean="0">
              <a:solidFill>
                <a:srgbClr val="1E4191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1E4191"/>
                </a:solidFill>
              </a:rPr>
              <a:t>Timeframe status:				</a:t>
            </a:r>
            <a:endParaRPr lang="en-US" sz="1400" kern="0" dirty="0">
              <a:solidFill>
                <a:srgbClr val="1E4191"/>
              </a:solidFill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457700" y="2880042"/>
            <a:ext cx="4264025" cy="73866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/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GE Inspira Pitch" pitchFamily="34" charset="0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1E4191"/>
                </a:solidFill>
              </a:rPr>
              <a:t>Requested project value:	$4,700,000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1E4191"/>
                </a:solidFill>
              </a:rPr>
              <a:t>Expected cost at completion:	$4.700,000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1E4191"/>
                </a:solidFill>
              </a:rPr>
              <a:t>Financial </a:t>
            </a:r>
            <a:r>
              <a:rPr lang="en-US" sz="1400" kern="0" dirty="0">
                <a:solidFill>
                  <a:srgbClr val="1E4191"/>
                </a:solidFill>
              </a:rPr>
              <a:t>status</a:t>
            </a:r>
            <a:r>
              <a:rPr lang="en-US" sz="1400" kern="0" dirty="0" smtClean="0">
                <a:solidFill>
                  <a:srgbClr val="1E4191"/>
                </a:solidFill>
              </a:rPr>
              <a:t>: 		</a:t>
            </a:r>
            <a:endParaRPr lang="en-US" sz="1400" kern="0" dirty="0">
              <a:solidFill>
                <a:srgbClr val="1E419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43356" y="3367787"/>
            <a:ext cx="807110" cy="2509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838341" y="5894340"/>
            <a:ext cx="807110" cy="2509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pic>
        <p:nvPicPr>
          <p:cNvPr id="36" name="Picture 2" descr="C:\Users\105059367\Pictures\Technicon new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59958" y="3874279"/>
            <a:ext cx="3738879" cy="2496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1000" sy="101000" algn="ctr" rotWithShape="0">
              <a:prstClr val="black">
                <a:alpha val="55000"/>
              </a:prst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59880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Program</a:t>
            </a:r>
            <a:endParaRPr lang="en-GB" sz="3200" dirty="0"/>
          </a:p>
        </p:txBody>
      </p:sp>
      <p:pic>
        <p:nvPicPr>
          <p:cNvPr id="78643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65" y="629484"/>
            <a:ext cx="7448792" cy="513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86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9"/>
            <a:ext cx="8459788" cy="63341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356152" y="1210365"/>
            <a:ext cx="84597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Regular contact ongoing with AFPT</a:t>
            </a:r>
          </a:p>
          <a:p>
            <a:r>
              <a:rPr lang="en-GB" sz="2000" dirty="0" smtClean="0"/>
              <a:t>Focus over next period to be Factory preparation and </a:t>
            </a:r>
            <a:r>
              <a:rPr lang="en-GB" sz="2000" b="1" dirty="0" smtClean="0"/>
              <a:t>assist </a:t>
            </a:r>
            <a:r>
              <a:rPr lang="en-GB" sz="2000" dirty="0" smtClean="0"/>
              <a:t>production in identifications of restrictions / requirements. Resources and continuity are factors for consideration.</a:t>
            </a:r>
          </a:p>
          <a:p>
            <a:r>
              <a:rPr lang="en-GB" sz="2000" dirty="0" smtClean="0"/>
              <a:t>P6 Program will highlight that installation is likely to be part of critical path for overall qualification</a:t>
            </a:r>
            <a:endParaRPr lang="en-GB" sz="2000" dirty="0"/>
          </a:p>
          <a:p>
            <a:r>
              <a:rPr lang="en-GB" sz="2000" dirty="0" smtClean="0"/>
              <a:t>Specification issued to GE Inspection Technologies to prepare quotation for NDT equipment.  Need to progress due to manufacturing timescales.</a:t>
            </a:r>
          </a:p>
          <a:p>
            <a:r>
              <a:rPr lang="en-GB" sz="2000" dirty="0" smtClean="0"/>
              <a:t>Contact with Surface Generation to prepare quotation for Post Process Heating Module. Previous discussion with Composite Team have taken place.</a:t>
            </a:r>
          </a:p>
          <a:p>
            <a:r>
              <a:rPr lang="en-GB" sz="2000" dirty="0" smtClean="0"/>
              <a:t>GE Bentley Nevada – awaiting quotation prior to decision on Condition Monitoring</a:t>
            </a:r>
          </a:p>
          <a:p>
            <a:r>
              <a:rPr lang="en-GB" sz="2000" dirty="0" smtClean="0"/>
              <a:t>GE Quality – Review requirements for </a:t>
            </a:r>
            <a:r>
              <a:rPr lang="en-GB" sz="2000" smtClean="0"/>
              <a:t>data capture </a:t>
            </a:r>
            <a:r>
              <a:rPr lang="en-GB" sz="2000" dirty="0" smtClean="0"/>
              <a:t>and storage.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3936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blank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1517</TotalTime>
  <Words>605</Words>
  <Application>Microsoft Office PowerPoint</Application>
  <PresentationFormat>On-screen Show (4:3)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 Inspira Pitch</vt:lpstr>
      <vt:lpstr>blank</vt:lpstr>
      <vt:lpstr>2_blank</vt:lpstr>
      <vt:lpstr>Composites Program – Module 1</vt:lpstr>
      <vt:lpstr>PowerPoint Presentation</vt:lpstr>
      <vt:lpstr>Factory Preparation / Readiness Requirements</vt:lpstr>
      <vt:lpstr>PowerPoint Presentation</vt:lpstr>
      <vt:lpstr>Program</vt:lpstr>
      <vt:lpstr>PowerPoint Presentation</vt:lpstr>
      <vt:lpstr>PowerPoint Presentation</vt:lpstr>
    </vt:vector>
  </TitlesOfParts>
  <Company>GE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Office 2010 PowerPoint template</dc:title>
  <dc:creator>GE User</dc:creator>
  <cp:keywords>September 22, 2004 – Version 1.1</cp:keywords>
  <dc:description>General Electric Company 2004</dc:description>
  <cp:lastModifiedBy>Latto, James (GE Oil &amp; Gas)</cp:lastModifiedBy>
  <cp:revision>17</cp:revision>
  <cp:lastPrinted>2003-08-29T14:38:12Z</cp:lastPrinted>
  <dcterms:created xsi:type="dcterms:W3CDTF">2016-05-09T07:27:36Z</dcterms:created>
  <dcterms:modified xsi:type="dcterms:W3CDTF">2016-05-10T10:00:28Z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alette">
    <vt:lpwstr>GE Template</vt:lpwstr>
  </property>
  <property fmtid="{D5CDD505-2E9C-101B-9397-08002B2CF9AE}" pid="3" name="WizKit Template Type">
    <vt:lpwstr>Onscreen</vt:lpwstr>
  </property>
  <property fmtid="{D5CDD505-2E9C-101B-9397-08002B2CF9AE}" pid="4" name="WizKit Template Version">
    <vt:i4>4</vt:i4>
  </property>
  <property fmtid="{D5CDD505-2E9C-101B-9397-08002B2CF9AE}" pid="5" name="TB4 template version">
    <vt:r8>4</vt:r8>
  </property>
  <property fmtid="{D5CDD505-2E9C-101B-9397-08002B2CF9AE}" pid="6" name="TB4 template type">
    <vt:lpwstr>onscreen</vt:lpwstr>
  </property>
</Properties>
</file>